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63385a-d485-ac02-327a-b23d4fcbf959}">
          <p14:sldIdLst>
            <p14:sldId id="256"/>
            <p14:sldId id="257"/>
            <p14:sldId id="258"/>
          </p14:sldIdLst>
        </p14:section>
        <p14:section name="Approach" id="{e1ed32ac-7e00-09ac-d4e2-9cdb1662e092}">
          <p14:sldIdLst>
            <p14:sldId id="259"/>
            <p14:sldId id="260"/>
            <p14:sldId id="261"/>
          </p14:sldIdLst>
        </p14:section>
        <p14:section name="Implementation" id="{cd508ac6-891c-0b48-89fa-0d4ef1a6a4ae}">
          <p14:sldIdLst>
            <p14:sldId id="262"/>
            <p14:sldId id="263"/>
            <p14:sldId id="264"/>
            <p14:sldId id="265"/>
          </p14:sldIdLst>
        </p14:section>
        <p14:section name="Results" id="{7b6c9ab9-21f9-7031-af8d-6966b2ec77fd}">
          <p14:sldIdLst>
            <p14:sldId id="266"/>
            <p14:sldId id="267"/>
            <p14:sldId id="268"/>
          </p14:sldIdLst>
        </p14:section>
        <p14:section name="Wrap-up" id="{34e4734c-cb5b-5ece-476b-1136da90a3f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1B2B24"/>
                </a:solidFill>
                <a:latin typeface="+mn-lt"/>
              </a:defRPr>
            </a:pPr>
            <a:r>
              <a:rPr sz="1200" b="1" i="0" u="none" strike="noStrike">
                <a:solidFill>
                  <a:srgbClr val="1B2B24"/>
                </a:solidFill>
                <a:latin typeface="+mn-lt"/>
              </a:rPr>
              <a:t>Missing values by column</a:t>
            </a:r>
          </a:p>
        </c:rich>
      </c:tx>
      <c:layout/>
      <c:overlay val="0"/>
    </c:title>
    <c:autoTitleDeleted val="0"/>
    <c:plotArea>
      <c:layout/>
      <c:barChart>
        <c:barDir val="col"/>
        <c:grouping val="clustered"/>
        <c:varyColors val="0"/>
        <c:ser>
          <c:idx val="0"/>
          <c:order val="0"/>
          <c:tx>
            <c:strRef>
              <c:f>Sheet1!$B$1</c:f>
              <c:strCache>
                <c:ptCount val="1"/>
                <c:pt idx="0">
                  <c:v>Missing values</c:v>
                </c:pt>
              </c:strCache>
            </c:strRef>
          </c:tx>
          <c:spPr>
            <a:solidFill>
              <a:srgbClr val="C8553D"/>
            </a:solidFill>
            <a:effectLst/>
          </c:spPr>
          <c:invertIfNegative val="0"/>
          <c:dLbls>
            <c:numFmt formatCode="#,##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Sheet1!$A$2:$A$5</c:f>
              <c:multiLvlStrCache>
                <c:ptCount val="4"/>
                <c:lvl>
                  <c:pt idx="0">
                    <c:v>Moisture</c:v>
                  </c:pt>
                  <c:pt idx="1">
                    <c:v>Electricity</c:v>
                  </c:pt>
                  <c:pt idx="2">
                    <c:v>Actual delivery date</c:v>
                  </c:pt>
                  <c:pt idx="3">
                    <c:v>Labour cost</c:v>
                  </c:pt>
                </c:lvl>
              </c:multiLvlStrCache>
            </c:multiLvlStrRef>
          </c:cat>
          <c:val>
            <c:numRef>
              <c:f>Sheet1!$B$2:$B$5</c:f>
              <c:numCache>
                <c:formatCode>General</c:formatCode>
                <c:ptCount val="4"/>
                <c:pt idx="0">
                  <c:v>600</c:v>
                </c:pt>
                <c:pt idx="1">
                  <c:v>399</c:v>
                </c:pt>
                <c:pt idx="2">
                  <c:v>300</c:v>
                </c:pt>
                <c:pt idx="3">
                  <c:v>200</c:v>
                </c:pt>
              </c:numCache>
            </c:numRef>
          </c:val>
        </c:ser>
        <c:dLbls>
          <c:numFmt formatCode="#,##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24"/>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B2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1B2B24"/>
                </a:solidFill>
                <a:latin typeface="+mn-lt"/>
              </a:defRPr>
            </a:pPr>
            <a:r>
              <a:rPr sz="1200" b="1" i="0" u="none" strike="noStrike">
                <a:solidFill>
                  <a:srgbClr val="1B2B24"/>
                </a:solidFill>
                <a:latin typeface="+mn-lt"/>
              </a:rPr>
              <a:t>Rice produced, top 5 districts ('000 t)</a:t>
            </a:r>
          </a:p>
        </c:rich>
      </c:tx>
      <c:layout/>
      <c:overlay val="0"/>
    </c:title>
    <c:autoTitleDeleted val="0"/>
    <c:plotArea>
      <c:layout/>
      <c:barChart>
        <c:barDir val="bar"/>
        <c:grouping val="clustered"/>
        <c:varyColors val="0"/>
        <c:ser>
          <c:idx val="0"/>
          <c:order val="0"/>
          <c:tx>
            <c:strRef>
              <c:f>Sheet1!$B$1</c:f>
              <c:strCache>
                <c:ptCount val="1"/>
                <c:pt idx="0">
                  <c:v>Rice produced ('000 t)</c:v>
                </c:pt>
              </c:strCache>
            </c:strRef>
          </c:tx>
          <c:spPr>
            <a:solidFill>
              <a:srgbClr val="2E7D5B"/>
            </a:solidFill>
            <a:effectLst/>
          </c:spPr>
          <c:invertIfNegative val="0"/>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Sheet1!$A$2:$A$6</c:f>
              <c:multiLvlStrCache>
                <c:ptCount val="5"/>
                <c:lvl>
                  <c:pt idx="0">
                    <c:v>Mancherial</c:v>
                  </c:pt>
                  <c:pt idx="1">
                    <c:v>Rangareddy</c:v>
                  </c:pt>
                  <c:pt idx="2">
                    <c:v>Jagtial</c:v>
                  </c:pt>
                  <c:pt idx="3">
                    <c:v>Medchal-Malkajgiri</c:v>
                  </c:pt>
                  <c:pt idx="4">
                    <c:v>Hyderabad</c:v>
                  </c:pt>
                </c:lvl>
              </c:multiLvlStrCache>
            </c:multiLvlStrRef>
          </c:cat>
          <c:val>
            <c:numRef>
              <c:f>Sheet1!$B$2:$B$6</c:f>
              <c:numCache>
                <c:formatCode>General</c:formatCode>
                <c:ptCount val="5"/>
                <c:pt idx="0">
                  <c:v>130.5</c:v>
                </c:pt>
                <c:pt idx="1">
                  <c:v>120.1</c:v>
                </c:pt>
                <c:pt idx="2">
                  <c:v>95.9</c:v>
                </c:pt>
                <c:pt idx="3">
                  <c:v>94.5</c:v>
                </c:pt>
                <c:pt idx="4">
                  <c:v>90.8</c:v>
                </c:pt>
              </c:numCache>
            </c:numRef>
          </c:val>
        </c:ser>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B2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B2B2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1B2B24"/>
                </a:solidFill>
                <a:latin typeface="+mn-lt"/>
              </a:defRPr>
            </a:pPr>
            <a:r>
              <a:rPr sz="1200" b="1" i="0" u="none" strike="noStrike">
                <a:solidFill>
                  <a:srgbClr val="1B2B24"/>
                </a:solidFill>
                <a:latin typeface="+mn-lt"/>
              </a:rPr>
              <a:t>Recorded cost composition (%)</a:t>
            </a:r>
          </a:p>
        </c:rich>
      </c:tx>
      <c:layout/>
      <c:overlay val="0"/>
    </c:title>
    <c:autoTitleDeleted val="0"/>
    <c:plotArea>
      <c:layout/>
      <c:doughnutChart>
        <c:varyColors val="1"/>
        <c:ser>
          <c:idx val="0"/>
          <c:order val="0"/>
          <c:tx>
            <c:strRef>
              <c:f>Sheet1!$B$1</c:f>
              <c:strCache>
                <c:ptCount val="1"/>
                <c:pt idx="0">
                  <c:v>Cost share</c:v>
                </c:pt>
              </c:strCache>
            </c:strRef>
          </c:tx>
          <c:spPr>
            <a:solidFill>
              <a:schemeClr val="accent1"/>
            </a:solidFill>
            <a:ln w="9525" cap="flat">
              <a:solidFill>
                <a:srgbClr val="F9F9F9"/>
              </a:solidFill>
              <a:prstDash val="solid"/>
              <a:round/>
            </a:ln>
            <a:effectLst/>
          </c:spPr>
          <c:dPt>
            <c:idx val="0"/>
            <c:bubble3D val="0"/>
            <c:spPr>
              <a:solidFill>
                <a:srgbClr val="1F4D3A"/>
              </a:solidFill>
              <a:effectLst/>
            </c:spPr>
          </c:dPt>
          <c:dPt>
            <c:idx val="1"/>
            <c:bubble3D val="0"/>
            <c:spPr>
              <a:solidFill>
                <a:srgbClr val="2E7D5B"/>
              </a:solidFill>
              <a:effectLst/>
            </c:spPr>
          </c:dPt>
          <c:dPt>
            <c:idx val="2"/>
            <c:bubble3D val="0"/>
            <c:spPr>
              <a:solidFill>
                <a:srgbClr val="3B8EA5"/>
              </a:solidFill>
              <a:effectLst/>
            </c:spPr>
          </c:dPt>
          <c:dPt>
            <c:idx val="3"/>
            <c:bubble3D val="0"/>
            <c:spPr>
              <a:solidFill>
                <a:srgbClr val="C8553D"/>
              </a:solidFill>
              <a:effectLst/>
            </c:spPr>
          </c:dPt>
          <c:dLbls>
            <c:dLbl>
              <c:idx val="0"/>
              <c:numFmt formatCode="0.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0.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3"/>
              <c:numFmt formatCode="0.0"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Milling</c:v>
                </c:pt>
                <c:pt idx="1">
                  <c:v>Labour</c:v>
                </c:pt>
                <c:pt idx="2">
                  <c:v>Transport</c:v>
                </c:pt>
                <c:pt idx="3">
                  <c:v>Storage</c:v>
                </c:pt>
              </c:strCache>
            </c:strRef>
          </c:cat>
          <c:val>
            <c:numRef>
              <c:f>Sheet1!$B$2:$B$5</c:f>
              <c:numCache>
                <c:ptCount val="4"/>
                <c:pt idx="0">
                  <c:v>53.3</c:v>
                </c:pt>
                <c:pt idx="1">
                  <c:v>23.6</c:v>
                </c:pt>
                <c:pt idx="2">
                  <c:v>18.3</c:v>
                </c:pt>
                <c:pt idx="3">
                  <c:v>4.8</c:v>
                </c:pt>
              </c:numCache>
            </c:numRef>
          </c:val>
        </c:ser>
        <c:firstSliceAng val="0"/>
        <c:holeSize val="55"/>
      </c:doughnutChart>
      <c:spPr>
        <a:noFill/>
        <a:ln>
          <a:noFill/>
        </a:ln>
        <a:effectLst/>
      </c:spPr>
    </c:plotArea>
    <c:legend>
      <c:legendPos val="r"/>
      <c:overlay val="0"/>
      <c:txPr>
        <a:bodyPr/>
        <a:lstStyle/>
        <a:p>
          <a:pPr>
            <a:defRPr sz="1200">
              <a:solidFill>
                <a:srgbClr val="1B2B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1B2B24"/>
                </a:solidFill>
                <a:latin typeface="+mn-lt"/>
              </a:defRPr>
            </a:pPr>
            <a:r>
              <a:rPr sz="1200" b="1" i="0" u="none" strike="noStrike">
                <a:solidFill>
                  <a:srgbClr val="1B2B24"/>
                </a:solidFill>
                <a:latin typeface="+mn-lt"/>
              </a:rPr>
              <a:t>Rice type: produced vs delivered ('000 t)</a:t>
            </a:r>
          </a:p>
        </c:rich>
      </c:tx>
      <c:layout/>
      <c:overlay val="0"/>
    </c:title>
    <c:autoTitleDeleted val="0"/>
    <c:plotArea>
      <c:layout/>
      <c:barChart>
        <c:barDir val="col"/>
        <c:grouping val="clustered"/>
        <c:varyColors val="0"/>
        <c:ser>
          <c:idx val="0"/>
          <c:order val="0"/>
          <c:tx>
            <c:strRef>
              <c:f>Sheet1!$B$1</c:f>
              <c:strCache>
                <c:ptCount val="1"/>
                <c:pt idx="0">
                  <c:v>Produced</c:v>
                </c:pt>
              </c:strCache>
            </c:strRef>
          </c:tx>
          <c:spPr>
            <a:solidFill>
              <a:srgbClr val="2E7D5B"/>
            </a:solidFill>
            <a:effectLst/>
          </c:spPr>
          <c:invertIfNegative val="0"/>
          <c:dLbls>
            <c:numFmt formatCode="#,##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Sheet1!$A$2:$A$3</c:f>
              <c:multiLvlStrCache>
                <c:ptCount val="2"/>
                <c:lvl>
                  <c:pt idx="0">
                    <c:v>Raw Rice</c:v>
                  </c:pt>
                  <c:pt idx="1">
                    <c:v>Parboiled Rice</c:v>
                  </c:pt>
                </c:lvl>
              </c:multiLvlStrCache>
            </c:multiLvlStrRef>
          </c:cat>
          <c:val>
            <c:numRef>
              <c:f>Sheet1!$B$2:$B$3</c:f>
              <c:numCache>
                <c:formatCode>General</c:formatCode>
                <c:ptCount val="2"/>
                <c:pt idx="0">
                  <c:v>1198.5</c:v>
                </c:pt>
                <c:pt idx="1">
                  <c:v>1043.7</c:v>
                </c:pt>
              </c:numCache>
            </c:numRef>
          </c:val>
        </c:ser>
        <c:ser>
          <c:idx val="1"/>
          <c:order val="1"/>
          <c:tx>
            <c:strRef>
              <c:f>Sheet1!$C$1</c:f>
              <c:strCache>
                <c:ptCount val="1"/>
                <c:pt idx="0">
                  <c:v>Delivered</c:v>
                </c:pt>
              </c:strCache>
            </c:strRef>
          </c:tx>
          <c:spPr>
            <a:solidFill>
              <a:srgbClr val="E9B949"/>
            </a:solidFill>
            <a:effectLst/>
          </c:spPr>
          <c:invertIfNegative val="0"/>
          <c:dLbls>
            <c:numFmt formatCode="#,##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Sheet1!$A$2:$A$3</c:f>
              <c:multiLvlStrCache>
                <c:ptCount val="2"/>
                <c:lvl>
                  <c:pt idx="0">
                    <c:v>Raw Rice</c:v>
                  </c:pt>
                  <c:pt idx="1">
                    <c:v>Parboiled Rice</c:v>
                  </c:pt>
                </c:lvl>
              </c:multiLvlStrCache>
            </c:multiLvlStrRef>
          </c:cat>
          <c:val>
            <c:numRef>
              <c:f>Sheet1!$C$2:$C$3</c:f>
              <c:numCache>
                <c:formatCode>General</c:formatCode>
                <c:ptCount val="2"/>
                <c:pt idx="0">
                  <c:v>1030.4</c:v>
                </c:pt>
                <c:pt idx="1">
                  <c:v>898</c:v>
                </c:pt>
              </c:numCache>
            </c:numRef>
          </c:val>
        </c:ser>
        <c:dLbls>
          <c:numFmt formatCode="#,##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24"/>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B2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B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1B2B24"/>
                </a:solidFill>
                <a:latin typeface="+mn-lt"/>
              </a:defRPr>
            </a:pPr>
            <a:r>
              <a:rPr sz="1200" b="1" i="0" u="none" strike="noStrike">
                <a:solidFill>
                  <a:srgbClr val="1B2B24"/>
                </a:solidFill>
                <a:latin typeface="+mn-lt"/>
              </a:rPr>
              <a:t>Rice produced by mill type ('000 t)</a:t>
            </a:r>
          </a:p>
        </c:rich>
      </c:tx>
      <c:layout/>
      <c:overlay val="0"/>
    </c:title>
    <c:autoTitleDeleted val="0"/>
    <c:plotArea>
      <c:layout/>
      <c:barChart>
        <c:barDir val="col"/>
        <c:grouping val="clustered"/>
        <c:varyColors val="0"/>
        <c:ser>
          <c:idx val="0"/>
          <c:order val="0"/>
          <c:tx>
            <c:strRef>
              <c:f>Sheet1!$B$1</c:f>
              <c:strCache>
                <c:ptCount val="1"/>
                <c:pt idx="0">
                  <c:v>Rice produced ('000 t)</c:v>
                </c:pt>
              </c:strCache>
            </c:strRef>
          </c:tx>
          <c:spPr>
            <a:solidFill>
              <a:srgbClr val="2E7D5B"/>
            </a:solidFill>
            <a:effectLst/>
          </c:spPr>
          <c:invertIfNegative val="0"/>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Sheet1!$A$2:$A$4</c:f>
              <c:multiLvlStrCache>
                <c:ptCount val="3"/>
                <c:lvl>
                  <c:pt idx="0">
                    <c:v>Custom Milling Unit</c:v>
                  </c:pt>
                  <c:pt idx="1">
                    <c:v>Raw Rice Mill</c:v>
                  </c:pt>
                  <c:pt idx="2">
                    <c:v>Parboiled Rice Mill</c:v>
                  </c:pt>
                </c:lvl>
              </c:multiLvlStrCache>
            </c:multiLvlStrRef>
          </c:cat>
          <c:val>
            <c:numRef>
              <c:f>Sheet1!$B$2:$B$4</c:f>
              <c:numCache>
                <c:formatCode>General</c:formatCode>
                <c:ptCount val="3"/>
                <c:pt idx="0">
                  <c:v>813.7</c:v>
                </c:pt>
                <c:pt idx="1">
                  <c:v>791.3</c:v>
                </c:pt>
                <c:pt idx="2">
                  <c:v>637.2</c:v>
                </c:pt>
              </c:numCache>
            </c:numRef>
          </c:val>
        </c:ser>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24"/>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B2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1B2B24"/>
                </a:solidFill>
                <a:latin typeface="+mn-lt"/>
              </a:defRPr>
            </a:pPr>
            <a:r>
              <a:rPr sz="1200" b="1" i="0" u="none" strike="noStrike">
                <a:solidFill>
                  <a:srgbClr val="1B2B24"/>
                </a:solidFill>
                <a:latin typeface="+mn-lt"/>
              </a:rPr>
              <a:t>Kharif vs Rabi ('000 t)</a:t>
            </a:r>
          </a:p>
        </c:rich>
      </c:tx>
      <c:layout/>
      <c:overlay val="0"/>
    </c:title>
    <c:autoTitleDeleted val="0"/>
    <c:plotArea>
      <c:layout/>
      <c:barChart>
        <c:barDir val="col"/>
        <c:grouping val="clustered"/>
        <c:varyColors val="0"/>
        <c:ser>
          <c:idx val="0"/>
          <c:order val="0"/>
          <c:tx>
            <c:strRef>
              <c:f>Sheet1!$B$1</c:f>
              <c:strCache>
                <c:ptCount val="1"/>
                <c:pt idx="0">
                  <c:v>Produced</c:v>
                </c:pt>
              </c:strCache>
            </c:strRef>
          </c:tx>
          <c:spPr>
            <a:solidFill>
              <a:srgbClr val="2E7D5B"/>
            </a:solidFill>
            <a:effectLst/>
          </c:spPr>
          <c:invertIfNegative val="0"/>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Sheet1!$A$2:$A$3</c:f>
              <c:multiLvlStrCache>
                <c:ptCount val="2"/>
                <c:lvl>
                  <c:pt idx="0">
                    <c:v>Kharif</c:v>
                  </c:pt>
                  <c:pt idx="1">
                    <c:v>Rabi</c:v>
                  </c:pt>
                </c:lvl>
              </c:multiLvlStrCache>
            </c:multiLvlStrRef>
          </c:cat>
          <c:val>
            <c:numRef>
              <c:f>Sheet1!$B$2:$B$3</c:f>
              <c:numCache>
                <c:formatCode>General</c:formatCode>
                <c:ptCount val="2"/>
                <c:pt idx="0">
                  <c:v>1120.6</c:v>
                </c:pt>
                <c:pt idx="1">
                  <c:v>1121.6</c:v>
                </c:pt>
              </c:numCache>
            </c:numRef>
          </c:val>
        </c:ser>
        <c:ser>
          <c:idx val="1"/>
          <c:order val="1"/>
          <c:tx>
            <c:strRef>
              <c:f>Sheet1!$C$1</c:f>
              <c:strCache>
                <c:ptCount val="1"/>
                <c:pt idx="0">
                  <c:v>Delivered</c:v>
                </c:pt>
              </c:strCache>
            </c:strRef>
          </c:tx>
          <c:spPr>
            <a:solidFill>
              <a:srgbClr val="E9B949"/>
            </a:solidFill>
            <a:effectLst/>
          </c:spPr>
          <c:invertIfNegative val="0"/>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Sheet1!$A$2:$A$3</c:f>
              <c:multiLvlStrCache>
                <c:ptCount val="2"/>
                <c:lvl>
                  <c:pt idx="0">
                    <c:v>Kharif</c:v>
                  </c:pt>
                  <c:pt idx="1">
                    <c:v>Rabi</c:v>
                  </c:pt>
                </c:lvl>
              </c:multiLvlStrCache>
            </c:multiLvlStrRef>
          </c:cat>
          <c:val>
            <c:numRef>
              <c:f>Sheet1!$C$2:$C$3</c:f>
              <c:numCache>
                <c:formatCode>General</c:formatCode>
                <c:ptCount val="2"/>
                <c:pt idx="0">
                  <c:v>964.1</c:v>
                </c:pt>
                <c:pt idx="1">
                  <c:v>964.3</c:v>
                </c:pt>
              </c:numCache>
            </c:numRef>
          </c:val>
        </c:ser>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24"/>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B2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B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Telangana Rice Mill Transaction Analytics, done for the Big Data Analytics course. I used a dataset of 100,000 rice-mill transactions covering 33 districts and 500 mills, and I will show how a big data workflow turns that data into decisions. Please note the dataset is synthetic, so the results demonstrate a method, not real mill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Rice milling is a chain: procurement, processing, storage, dispatch and delivery. The problem is that data about each step usually sits in different files, so managers cannot compare throughput, yield, cost and delays in one place. Our core question is how a repeatable big data workflow can give one consistent view. The four questions on the right guided the whole analysis. The project supports monitoring and prioritization only; it does not automate procurement or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100,000 records and 32 columns. It covers 500 mills in 33 districts and 157 mandals, from July 2022 to June 2026. The fields fall into seven groups: identifiers, geography, classification, quantities, operating conditions, costs and dates. Every record is marked synthetic, so I treat this as a method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how big data helped. Read each row left to right. Scattered files become one governed dataset. Different KPI calculations are fixed by one KPI dictionary, checked in Python, SQL and Power BI. Growing volume is handled by PySpark and Delta Lake, so the same logic scales beyond one machine. Automated profiling exposed 1,499 missing cells before they could distort results. Finally, Gold aggregates feed Power BI so reporting is fast and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architecture. Data starts as a CSV, is validated in Python, stored in PostgreSQL and queried through DBeaver, then processed in Databricks with PySpark. Delta Lake holds the Bronze, Silver and Gold layers, Power BI reads the validated results, and GitHub keeps everything reproducible. The three boxes at the bottom explain the logic: profile first, layer the storage, and reconcile every KPI across tools. This is the target design, and each component should be labelled executed, partial or planned based on real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eight steps. First we preserve the original CSV. Then we profile it in Python to see missing values, duplicates and date ranges. We standardize and flag, rather than silently imputing. Next we calculate KPIs at a documented grain, store the data in PostgreSQL, scale the processing with PySpark into Delta tables, build the Power BI dashboard, and finally reconcile everything across tools and publish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is the first step. The code loads the CSV, converts the three date columns, and builds a profile table with the data type, missing count and unique count of every column. It then calculates delivery delay in days as actual delivery date minus due date, where a positive value means late. Finally it exports the validated data and the profile so PostgreSQL and Power BI use the same prepared inputs. The code shown is slightly condensed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gives the data structure. A staging table keeps the imported CSV, dimension tables hold mills and dates, a fact table holds one row per transaction, and a gold table holds district-by-month aggregates for the dashboard. DBeaver is the client I use to import data and run queries. The two queries shown answer production by district and conversion ratio by season. The key rule is to reconcile these SQL totals with the Python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and PySpark give the scalability. We use the medallion pattern in Delta Lake. Bronze stores the raw records exactly as ingested. Silver standardizes types, parses dates and adds quality flags. Gold stores the business aggregates that Power BI reads. The code reads the CSV, converts the date, adds an ingestion timestamp and a missing-moisture flag, and writes a Silver Delta table. The file path is a placeholder; it must be replaced with a real workspace path when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I validated the data. There are 100,000 rows, no exact duplicate rows, and all transaction IDs are unique. There are 1,499 missing cells, all in four columns: moisture, electricity, actual delivery date and labour cost. The policy is simple: flag missing values, do not silently fill them, and use complete-case denominators for date and cost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Power BI executive overview page. At the top are slicers for date, district, season and mill type. The KPI cards show 4.13 million tonnes of paddy received, 2.24 million tonnes of rice produced, 1.93 million tonnes delivered, a 66.78 percent conversion ratio, and a 72.9 percent late delivery share. Below are three visuals: the top five districts by production, led by Mancherial; the cost composition, where milling is more than half; and production versus delivery by rice type. These come from synthetic data, so I read them as a demonstration. Note: replace this layout with your own Power BI screenshot if you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five pages, each answering one business question: overall performance, regional output, production and yield, delivery monitoring and cost analysis. On the right are the core DAX measures. Total Rice Produced and Total Rice Delivered are simple sums. The conversion ratio divides rice produced by paddy processed, using DIVIDE to avoid divide-by-zero errors. A date table filters the fact table so all slicers work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findings. The conversion ratio is 66.78 percent. Rice delivered equals 86 percent of rice produced, but this compares totals, not the same batch of rice. 72.9 percent of deliveries with both dates are recorded after the due date, which is 72,683 of 99,700. Because the data is synthetic, this high figure is a data-logic check, not a claim about real mills. Milling is 53.3 percent of the recorded cost components, about 174.6 crore rupees. Custom Milling Units produce the most, but they also have the most records, so per-record comparison is needed before judging efficiency. Kharif and Rabi are almost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findings, I recommend five priorities. First, fix the missing fields and confirm what the date columns mean. Second, create a daily exception list for late deliveries. Third, monitor the conversion ratio by mill and rice type. Fourth, track cost per tonne processed rather than raw totals. Fifth, reconcile SQL, Python and Power BI so the difference is zero. The 30-day plan on the right sequences this: definitions in week one, database in week two, Delta and Power BI in week three, and stakeholder review in week four. We should not claim any financial savings before setting 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analysed 100,000 synthetic transactions and showed a workflow that runs from Python through PostgreSQL and Delta Lake to Power BI, tied together by one KPI dictionary. The key lesson is that reliable analytics depends on provenance, clear definitions, consistent grain and visible quality checks, not just on the number of tools. The main limitation is that the data is synthetic. Next steps are real data, price and tariff fields for profitability, a time-based forecast, and capturing execution evidence for Databricks and Power BI.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chemeClr val="accent5"/>
                </a:solidFill>
              </a:rPr>
              <a:t>Telangana Rice Mill Transaction Analytics  |  Academic prototype, synthetic dataset</a:t>
            </a:r>
            <a:endParaRPr lang="en-US" sz="1000" dirty="0"/>
          </a:p>
        </p:txBody>
      </p:sp>
      <p:sp>
        <p:nvSpPr>
          <p:cNvPr id="3" name="Text 1"/>
          <p:cNvSpPr/>
          <p:nvPr>
            <p:ph idx="101" type="title" hasCustomPrompt="1"/>
          </p:nvPr>
        </p:nvSpPr>
        <p:spPr>
          <a:xfrm>
            <a:off x="548640" y="320040"/>
            <a:ext cx="11091672"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chemeClr val="bg2"/>
                </a:solidFill>
              </a:rPr>
              <a:t>Telangana Rice Mill Transaction Analytics  |  Academic prototype, synthetic dataset</a:t>
            </a:r>
            <a:endParaRPr lang="en-US" sz="1000" dirty="0"/>
          </a:p>
        </p:txBody>
      </p:sp>
      <p:sp>
        <p:nvSpPr>
          <p:cNvPr id="4" name="Text 2"/>
          <p:cNvSpPr/>
          <p:nvPr>
            <p:ph idx="102" type="title" hasCustomPrompt="1"/>
          </p:nvPr>
        </p:nvSpPr>
        <p:spPr>
          <a:xfrm>
            <a:off x="548640" y="320040"/>
            <a:ext cx="11091672"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1417320"/>
            <a:ext cx="75895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868680"/>
            <a:ext cx="758952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BIG DATA ANALYTICS PROJECT</a:t>
            </a:r>
            <a:endParaRPr lang="en-US" sz="1400" dirty="0"/>
          </a:p>
        </p:txBody>
      </p:sp>
      <p:sp>
        <p:nvSpPr>
          <p:cNvPr id="3" name="Text 1"/>
          <p:cNvSpPr/>
          <p:nvPr>
            <p:ph idx="101" type="title" hasCustomPrompt="1"/>
          </p:nvPr>
        </p:nvSpPr>
        <p:spPr>
          <a:xfrm>
            <a:off x="731520" y="1417320"/>
            <a:ext cx="7589520" cy="1737360"/>
          </a:xfrm>
          <a:prstGeom prst="rect">
            <a:avLst/>
          </a:prstGeom>
          <a:noFill/>
          <a:ln/>
        </p:spPr>
        <p:txBody>
          <a:bodyPr wrap="square" lIns="0" tIns="0" rIns="0" bIns="0" rtlCol="0" anchor="t"/>
          <a:lstStyle/>
          <a:p>
            <a:pPr algn="l" indent="0" marL="0">
              <a:buNone/>
            </a:pPr>
            <a:r>
              <a:rPr lang="en-US" sz="4400" b="1" dirty="0">
                <a:solidFill>
                  <a:schemeClr val="bg1"/>
                </a:solidFill>
              </a:rPr>
              <a:t>Telangana Rice Mill Transaction Analytics</a:t>
            </a:r>
            <a:endParaRPr lang="en-US" sz="4400" dirty="0"/>
          </a:p>
        </p:txBody>
      </p:sp>
      <p:sp>
        <p:nvSpPr>
          <p:cNvPr id="4" name="Subtitle"/>
          <p:cNvSpPr txBox="1"/>
          <p:nvPr/>
        </p:nvSpPr>
        <p:spPr>
          <a:xfrm>
            <a:off x="731520" y="3291840"/>
            <a:ext cx="7315200" cy="822960"/>
          </a:xfrm>
          <a:prstGeom prst="rect">
            <a:avLst/>
          </a:prstGeom>
          <a:noFill/>
          <a:ln/>
        </p:spPr>
        <p:txBody>
          <a:bodyPr wrap="square" lIns="0" tIns="0" rIns="0" bIns="0" rtlCol="0" anchor="t"/>
          <a:lstStyle/>
          <a:p>
            <a:pPr indent="0" marL="0">
              <a:buNone/>
            </a:pPr>
            <a:r>
              <a:rPr lang="en-US" sz="1800" dirty="0">
                <a:solidFill>
                  <a:schemeClr val="bg2"/>
                </a:solidFill>
              </a:rPr>
              <a:t>Operational performance, production yield, cost and delivery insights using a big data workflow</a:t>
            </a:r>
            <a:endParaRPr lang="en-US" sz="1800" dirty="0"/>
          </a:p>
        </p:txBody>
      </p:sp>
      <p:sp>
        <p:nvSpPr>
          <p:cNvPr id="5" name="Presenter details"/>
          <p:cNvSpPr txBox="1"/>
          <p:nvPr/>
        </p:nvSpPr>
        <p:spPr>
          <a:xfrm>
            <a:off x="731520" y="4663440"/>
            <a:ext cx="7589520" cy="1097280"/>
          </a:xfrm>
          <a:prstGeom prst="rect">
            <a:avLst/>
          </a:prstGeom>
          <a:noFill/>
          <a:ln/>
        </p:spPr>
        <p:txBody>
          <a:bodyPr wrap="square" lIns="0" tIns="0" rIns="0" bIns="0" rtlCol="0" anchor="t"/>
          <a:lstStyle/>
          <a:p>
            <a:pPr indent="0" marL="0">
              <a:buNone/>
            </a:pPr>
            <a:r>
              <a:rPr lang="en-US" sz="2000" b="1" dirty="0">
                <a:solidFill>
                  <a:schemeClr val="bg1"/>
                </a:solidFill>
              </a:rPr>
              <a:t>Sathwika Mullapudi</a:t>
            </a:r>
            <a:endParaRPr lang="en-US" sz="1400" dirty="0"/>
          </a:p>
          <a:p>
            <a:pPr indent="0" marL="0">
              <a:buNone/>
            </a:pPr>
            <a:r>
              <a:rPr lang="en-US" sz="1400" dirty="0">
                <a:solidFill>
                  <a:schemeClr val="bg2"/>
                </a:solidFill>
              </a:rPr>
              <a:t>PGDM – Finance and Data Analytics  |  Badruka School of Management</a:t>
            </a:r>
            <a:endParaRPr lang="en-US" sz="1400" dirty="0"/>
          </a:p>
          <a:p>
            <a:pPr indent="0" marL="0">
              <a:buNone/>
            </a:pPr>
            <a:r>
              <a:rPr lang="en-US" sz="1400" dirty="0">
                <a:solidFill>
                  <a:schemeClr val="bg2"/>
                </a:solidFill>
              </a:rPr>
              <a:t>Course: Big Data Analytics  |  29 October 2026</a:t>
            </a:r>
            <a:endParaRPr lang="en-US" sz="1400" dirty="0"/>
          </a:p>
        </p:txBody>
      </p:sp>
      <p:sp>
        <p:nvSpPr>
          <p:cNvPr id="6" name="Hero stat card 1"/>
          <p:cNvSpPr/>
          <p:nvPr/>
        </p:nvSpPr>
        <p:spPr>
          <a:xfrm>
            <a:off x="8686800" y="1188720"/>
            <a:ext cx="2926080" cy="1280160"/>
          </a:xfrm>
          <a:prstGeom prst="roundRect">
            <a:avLst>
              <a:gd name="adj" fmla="val 5714"/>
            </a:avLst>
          </a:prstGeom>
          <a:solidFill>
            <a:schemeClr val="accent1"/>
          </a:solidFill>
          <a:ln w="3175">
            <a:solidFill>
              <a:schemeClr val="accent1"/>
            </a:solidFill>
            <a:prstDash val="solid"/>
          </a:ln>
        </p:spPr>
      </p:sp>
      <p:sp>
        <p:nvSpPr>
          <p:cNvPr id="7" name="Hero number 1"/>
          <p:cNvSpPr txBox="1"/>
          <p:nvPr/>
        </p:nvSpPr>
        <p:spPr>
          <a:xfrm>
            <a:off x="8686800" y="1325880"/>
            <a:ext cx="2926080" cy="640080"/>
          </a:xfrm>
          <a:prstGeom prst="rect">
            <a:avLst/>
          </a:prstGeom>
          <a:noFill/>
          <a:ln/>
        </p:spPr>
        <p:txBody>
          <a:bodyPr wrap="square" lIns="0" tIns="0" rIns="0" bIns="0" rtlCol="0" anchor="t"/>
          <a:lstStyle/>
          <a:p>
            <a:pPr algn="ctr" indent="0" marL="0">
              <a:buNone/>
            </a:pPr>
            <a:r>
              <a:rPr lang="en-US" sz="3600" b="1" dirty="0">
                <a:solidFill>
                  <a:schemeClr val="accent2"/>
                </a:solidFill>
              </a:rPr>
              <a:t>100,000</a:t>
            </a:r>
            <a:endParaRPr lang="en-US" sz="3600" dirty="0"/>
          </a:p>
        </p:txBody>
      </p:sp>
      <p:sp>
        <p:nvSpPr>
          <p:cNvPr id="8" name="Hero label 1"/>
          <p:cNvSpPr txBox="1"/>
          <p:nvPr/>
        </p:nvSpPr>
        <p:spPr>
          <a:xfrm>
            <a:off x="8686800" y="1965960"/>
            <a:ext cx="2926080" cy="365760"/>
          </a:xfrm>
          <a:prstGeom prst="rect">
            <a:avLst/>
          </a:prstGeom>
          <a:noFill/>
          <a:ln/>
        </p:spPr>
        <p:txBody>
          <a:bodyPr wrap="square" lIns="0" tIns="0" rIns="0" bIns="0" rtlCol="0" anchor="t"/>
          <a:lstStyle/>
          <a:p>
            <a:pPr algn="ctr" indent="0" marL="0">
              <a:buNone/>
            </a:pPr>
            <a:r>
              <a:rPr lang="en-US" sz="1400" dirty="0">
                <a:solidFill>
                  <a:schemeClr val="bg1"/>
                </a:solidFill>
              </a:rPr>
              <a:t>transaction records</a:t>
            </a:r>
            <a:endParaRPr lang="en-US" sz="1400" dirty="0"/>
          </a:p>
        </p:txBody>
      </p:sp>
      <p:sp>
        <p:nvSpPr>
          <p:cNvPr id="9" name="Hero stat card 2"/>
          <p:cNvSpPr/>
          <p:nvPr/>
        </p:nvSpPr>
        <p:spPr>
          <a:xfrm>
            <a:off x="8686800" y="2743200"/>
            <a:ext cx="2926080" cy="1280160"/>
          </a:xfrm>
          <a:prstGeom prst="roundRect">
            <a:avLst>
              <a:gd name="adj" fmla="val 5714"/>
            </a:avLst>
          </a:prstGeom>
          <a:solidFill>
            <a:schemeClr val="accent1"/>
          </a:solidFill>
          <a:ln w="3175">
            <a:solidFill>
              <a:schemeClr val="accent1"/>
            </a:solidFill>
            <a:prstDash val="solid"/>
          </a:ln>
        </p:spPr>
      </p:sp>
      <p:sp>
        <p:nvSpPr>
          <p:cNvPr id="10" name="Hero number 2"/>
          <p:cNvSpPr txBox="1"/>
          <p:nvPr/>
        </p:nvSpPr>
        <p:spPr>
          <a:xfrm>
            <a:off x="8686800" y="2880360"/>
            <a:ext cx="2926080" cy="640080"/>
          </a:xfrm>
          <a:prstGeom prst="rect">
            <a:avLst/>
          </a:prstGeom>
          <a:noFill/>
          <a:ln/>
        </p:spPr>
        <p:txBody>
          <a:bodyPr wrap="square" lIns="0" tIns="0" rIns="0" bIns="0" rtlCol="0" anchor="t"/>
          <a:lstStyle/>
          <a:p>
            <a:pPr algn="ctr" indent="0" marL="0">
              <a:buNone/>
            </a:pPr>
            <a:r>
              <a:rPr lang="en-US" sz="3600" b="1" dirty="0">
                <a:solidFill>
                  <a:schemeClr val="accent2"/>
                </a:solidFill>
              </a:rPr>
              <a:t>33</a:t>
            </a:r>
            <a:endParaRPr lang="en-US" sz="3600" dirty="0"/>
          </a:p>
        </p:txBody>
      </p:sp>
      <p:sp>
        <p:nvSpPr>
          <p:cNvPr id="11" name="Hero label 2"/>
          <p:cNvSpPr txBox="1"/>
          <p:nvPr/>
        </p:nvSpPr>
        <p:spPr>
          <a:xfrm>
            <a:off x="8686800" y="3520440"/>
            <a:ext cx="2926080" cy="365760"/>
          </a:xfrm>
          <a:prstGeom prst="rect">
            <a:avLst/>
          </a:prstGeom>
          <a:noFill/>
          <a:ln/>
        </p:spPr>
        <p:txBody>
          <a:bodyPr wrap="square" lIns="0" tIns="0" rIns="0" bIns="0" rtlCol="0" anchor="t"/>
          <a:lstStyle/>
          <a:p>
            <a:pPr algn="ctr" indent="0" marL="0">
              <a:buNone/>
            </a:pPr>
            <a:r>
              <a:rPr lang="en-US" sz="1400" dirty="0">
                <a:solidFill>
                  <a:schemeClr val="bg1"/>
                </a:solidFill>
              </a:rPr>
              <a:t>districts across Telangana</a:t>
            </a:r>
            <a:endParaRPr lang="en-US" sz="1400" dirty="0"/>
          </a:p>
        </p:txBody>
      </p:sp>
      <p:sp>
        <p:nvSpPr>
          <p:cNvPr id="12" name="Hero stat card 3"/>
          <p:cNvSpPr/>
          <p:nvPr/>
        </p:nvSpPr>
        <p:spPr>
          <a:xfrm>
            <a:off x="8686800" y="4297680"/>
            <a:ext cx="2926080" cy="1280160"/>
          </a:xfrm>
          <a:prstGeom prst="roundRect">
            <a:avLst>
              <a:gd name="adj" fmla="val 5714"/>
            </a:avLst>
          </a:prstGeom>
          <a:solidFill>
            <a:schemeClr val="accent1"/>
          </a:solidFill>
          <a:ln w="3175">
            <a:solidFill>
              <a:schemeClr val="accent1"/>
            </a:solidFill>
            <a:prstDash val="solid"/>
          </a:ln>
        </p:spPr>
      </p:sp>
      <p:sp>
        <p:nvSpPr>
          <p:cNvPr id="13" name="Hero number 3"/>
          <p:cNvSpPr txBox="1"/>
          <p:nvPr/>
        </p:nvSpPr>
        <p:spPr>
          <a:xfrm>
            <a:off x="8686800" y="4434840"/>
            <a:ext cx="2926080" cy="640080"/>
          </a:xfrm>
          <a:prstGeom prst="rect">
            <a:avLst/>
          </a:prstGeom>
          <a:noFill/>
          <a:ln/>
        </p:spPr>
        <p:txBody>
          <a:bodyPr wrap="square" lIns="0" tIns="0" rIns="0" bIns="0" rtlCol="0" anchor="t"/>
          <a:lstStyle/>
          <a:p>
            <a:pPr algn="ctr" indent="0" marL="0">
              <a:buNone/>
            </a:pPr>
            <a:r>
              <a:rPr lang="en-US" sz="3600" b="1" dirty="0">
                <a:solidFill>
                  <a:schemeClr val="accent2"/>
                </a:solidFill>
              </a:rPr>
              <a:t>500</a:t>
            </a:r>
            <a:endParaRPr lang="en-US" sz="3600" dirty="0"/>
          </a:p>
        </p:txBody>
      </p:sp>
      <p:sp>
        <p:nvSpPr>
          <p:cNvPr id="14" name="Hero label 3"/>
          <p:cNvSpPr txBox="1"/>
          <p:nvPr/>
        </p:nvSpPr>
        <p:spPr>
          <a:xfrm>
            <a:off x="8686800" y="5074920"/>
            <a:ext cx="2926080" cy="365760"/>
          </a:xfrm>
          <a:prstGeom prst="rect">
            <a:avLst/>
          </a:prstGeom>
          <a:noFill/>
          <a:ln/>
        </p:spPr>
        <p:txBody>
          <a:bodyPr wrap="square" lIns="0" tIns="0" rIns="0" bIns="0" rtlCol="0" anchor="t"/>
          <a:lstStyle/>
          <a:p>
            <a:pPr algn="ctr" indent="0" marL="0">
              <a:buNone/>
            </a:pPr>
            <a:r>
              <a:rPr lang="en-US" sz="1400" dirty="0">
                <a:solidFill>
                  <a:schemeClr val="bg1"/>
                </a:solidFill>
              </a:rPr>
              <a:t>mill identifiers</a:t>
            </a:r>
            <a:endParaRPr lang="en-US" sz="1400" dirty="0"/>
          </a:p>
        </p:txBody>
      </p:sp>
      <p:sp>
        <p:nvSpPr>
          <p:cNvPr id="15" name="Dataset note"/>
          <p:cNvSpPr txBox="1"/>
          <p:nvPr/>
        </p:nvSpPr>
        <p:spPr>
          <a:xfrm>
            <a:off x="731520" y="6172200"/>
            <a:ext cx="10515600" cy="274320"/>
          </a:xfrm>
          <a:prstGeom prst="rect">
            <a:avLst/>
          </a:prstGeom>
          <a:noFill/>
          <a:ln/>
        </p:spPr>
        <p:txBody>
          <a:bodyPr wrap="square" lIns="0" tIns="0" rIns="0" bIns="0" rtlCol="0" anchor="t"/>
          <a:lstStyle/>
          <a:p>
            <a:pPr indent="0" marL="0">
              <a:buNone/>
            </a:pPr>
            <a:r>
              <a:rPr lang="en-US" sz="1200" dirty="0">
                <a:solidFill>
                  <a:schemeClr val="bg2"/>
                </a:solidFill>
              </a:rPr>
              <a:t>Dataset: Telangana Rice Mill Transactions (synthetic)  |  1 July 2022 – 30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The Business Problem</a:t>
            </a:r>
            <a:endParaRPr lang="en-US" sz="3400" dirty="0"/>
          </a:p>
        </p:txBody>
      </p:sp>
      <p:sp>
        <p:nvSpPr>
          <p:cNvPr id="3" name="Problem card"/>
          <p:cNvSpPr/>
          <p:nvPr/>
        </p:nvSpPr>
        <p:spPr>
          <a:xfrm>
            <a:off x="548640" y="1371600"/>
            <a:ext cx="5120640" cy="4754880"/>
          </a:xfrm>
          <a:prstGeom prst="roundRect">
            <a:avLst>
              <a:gd name="adj" fmla="val 1538"/>
            </a:avLst>
          </a:prstGeom>
          <a:solidFill>
            <a:schemeClr val="tx2"/>
          </a:solidFill>
          <a:ln w="3175">
            <a:solidFill>
              <a:schemeClr val="tx2"/>
            </a:solidFill>
            <a:prstDash val="solid"/>
          </a:ln>
        </p:spPr>
      </p:sp>
      <p:sp>
        <p:nvSpPr>
          <p:cNvPr id="4" name="Problem heading"/>
          <p:cNvSpPr txBox="1"/>
          <p:nvPr/>
        </p:nvSpPr>
        <p:spPr>
          <a:xfrm>
            <a:off x="868680" y="1645920"/>
            <a:ext cx="4480560" cy="365760"/>
          </a:xfrm>
          <a:prstGeom prst="rect">
            <a:avLst/>
          </a:prstGeom>
          <a:noFill/>
          <a:ln/>
        </p:spPr>
        <p:txBody>
          <a:bodyPr wrap="square" lIns="0" tIns="0" rIns="0" bIns="0" rtlCol="0" anchor="t"/>
          <a:lstStyle/>
          <a:p>
            <a:pPr indent="0" marL="0">
              <a:buNone/>
            </a:pPr>
            <a:r>
              <a:rPr lang="en-US" sz="2000" b="1" dirty="0">
                <a:solidFill>
                  <a:schemeClr val="accent2"/>
                </a:solidFill>
              </a:rPr>
              <a:t>The problem</a:t>
            </a:r>
            <a:endParaRPr lang="en-US" sz="2000" dirty="0"/>
          </a:p>
        </p:txBody>
      </p:sp>
      <p:sp>
        <p:nvSpPr>
          <p:cNvPr id="5" name="Problem text"/>
          <p:cNvSpPr txBox="1"/>
          <p:nvPr/>
        </p:nvSpPr>
        <p:spPr>
          <a:xfrm>
            <a:off x="868680" y="2148840"/>
            <a:ext cx="4480560" cy="2103120"/>
          </a:xfrm>
          <a:prstGeom prst="rect">
            <a:avLst/>
          </a:prstGeom>
          <a:noFill/>
          <a:ln/>
        </p:spPr>
        <p:txBody>
          <a:bodyPr wrap="square" lIns="0" tIns="0" rIns="0" bIns="0" rtlCol="0" anchor="t"/>
          <a:lstStyle/>
          <a:p>
            <a:pPr indent="0" marL="0">
              <a:buNone/>
            </a:pPr>
            <a:r>
              <a:rPr lang="en-US" sz="1800" dirty="0">
                <a:solidFill>
                  <a:schemeClr val="bg1"/>
                </a:solidFill>
              </a:rPr>
              <a:t>Rice milling connects paddy procurement, processing, storage, dispatch and delivery. When the data sits in separate files, managers cannot compare throughput, yield, cost and delivery delays consistently.</a:t>
            </a:r>
            <a:endParaRPr lang="en-US" sz="1800" dirty="0"/>
          </a:p>
        </p:txBody>
      </p:sp>
      <p:sp>
        <p:nvSpPr>
          <p:cNvPr id="6" name="Core question card"/>
          <p:cNvSpPr/>
          <p:nvPr/>
        </p:nvSpPr>
        <p:spPr>
          <a:xfrm>
            <a:off x="868680" y="4343400"/>
            <a:ext cx="4480560" cy="1508760"/>
          </a:xfrm>
          <a:prstGeom prst="roundRect">
            <a:avLst>
              <a:gd name="adj" fmla="val 4848"/>
            </a:avLst>
          </a:prstGeom>
          <a:solidFill>
            <a:schemeClr val="accent1"/>
          </a:solidFill>
          <a:ln w="3175">
            <a:solidFill>
              <a:schemeClr val="accent1"/>
            </a:solidFill>
            <a:prstDash val="solid"/>
          </a:ln>
        </p:spPr>
      </p:sp>
      <p:sp>
        <p:nvSpPr>
          <p:cNvPr id="7" name="Core question text"/>
          <p:cNvSpPr txBox="1"/>
          <p:nvPr/>
        </p:nvSpPr>
        <p:spPr>
          <a:xfrm>
            <a:off x="1051560" y="4480560"/>
            <a:ext cx="4114800" cy="1280160"/>
          </a:xfrm>
          <a:prstGeom prst="rect">
            <a:avLst/>
          </a:prstGeom>
          <a:noFill/>
          <a:ln/>
        </p:spPr>
        <p:txBody>
          <a:bodyPr wrap="square" lIns="0" tIns="0" rIns="0" bIns="0" rtlCol="0" anchor="t"/>
          <a:lstStyle/>
          <a:p>
            <a:pPr indent="0" marL="0">
              <a:buNone/>
            </a:pPr>
            <a:r>
              <a:rPr lang="en-US" sz="1600" b="1" dirty="0">
                <a:solidFill>
                  <a:schemeClr val="accent2"/>
                </a:solidFill>
              </a:rPr>
              <a:t>Core question</a:t>
            </a:r>
            <a:endParaRPr lang="en-US" sz="1400" dirty="0"/>
          </a:p>
          <a:p>
            <a:pPr indent="0" marL="0">
              <a:buNone/>
            </a:pPr>
            <a:r>
              <a:rPr lang="en-US" sz="1600" dirty="0">
                <a:solidFill>
                  <a:schemeClr val="bg1"/>
                </a:solidFill>
              </a:rPr>
              <a:t>How can a repeatable big data workflow help monitor throughput, yield, cost and delivery delays across districts?</a:t>
            </a:r>
            <a:endParaRPr lang="en-US" sz="1400" dirty="0"/>
          </a:p>
        </p:txBody>
      </p:sp>
      <p:sp>
        <p:nvSpPr>
          <p:cNvPr id="8" name="Questions heading"/>
          <p:cNvSpPr txBox="1"/>
          <p:nvPr/>
        </p:nvSpPr>
        <p:spPr>
          <a:xfrm>
            <a:off x="6035040" y="1371600"/>
            <a:ext cx="5577840" cy="365760"/>
          </a:xfrm>
          <a:prstGeom prst="rect">
            <a:avLst/>
          </a:prstGeom>
          <a:noFill/>
          <a:ln/>
        </p:spPr>
        <p:txBody>
          <a:bodyPr wrap="square" lIns="0" tIns="0" rIns="0" bIns="0" rtlCol="0" anchor="t"/>
          <a:lstStyle/>
          <a:p>
            <a:pPr indent="0" marL="0">
              <a:buNone/>
            </a:pPr>
            <a:r>
              <a:rPr lang="en-US" sz="2000" b="1" dirty="0">
                <a:solidFill>
                  <a:schemeClr val="tx2"/>
                </a:solidFill>
              </a:rPr>
              <a:t>What we set out to answer</a:t>
            </a:r>
            <a:endParaRPr lang="en-US" sz="2000" dirty="0"/>
          </a:p>
        </p:txBody>
      </p:sp>
      <p:sp>
        <p:nvSpPr>
          <p:cNvPr id="9" name="Question card 1"/>
          <p:cNvSpPr/>
          <p:nvPr/>
        </p:nvSpPr>
        <p:spPr>
          <a:xfrm>
            <a:off x="6035040" y="1920240"/>
            <a:ext cx="5605272" cy="914400"/>
          </a:xfrm>
          <a:prstGeom prst="roundRect">
            <a:avLst>
              <a:gd name="adj" fmla="val 8000"/>
            </a:avLst>
          </a:prstGeom>
          <a:solidFill>
            <a:schemeClr val="bg2"/>
          </a:solidFill>
          <a:ln w="3175">
            <a:solidFill>
              <a:schemeClr val="bg2"/>
            </a:solidFill>
            <a:prstDash val="solid"/>
          </a:ln>
        </p:spPr>
      </p:sp>
      <p:sp>
        <p:nvSpPr>
          <p:cNvPr id="10" name="Question 1 badge"/>
          <p:cNvSpPr/>
          <p:nvPr/>
        </p:nvSpPr>
        <p:spPr>
          <a:xfrm>
            <a:off x="6217920" y="2121408"/>
            <a:ext cx="512064" cy="512064"/>
          </a:xfrm>
          <a:prstGeom prst="ellipse">
            <a:avLst/>
          </a:prstGeom>
          <a:solidFill>
            <a:schemeClr val="accent1"/>
          </a:solidFill>
          <a:ln w="12700">
            <a:solidFill>
              <a:schemeClr val="accent1"/>
            </a:solidFill>
            <a:prstDash val="solid"/>
          </a:ln>
        </p:spPr>
      </p:sp>
      <p:sp>
        <p:nvSpPr>
          <p:cNvPr id="11" name="Question 1 number"/>
          <p:cNvSpPr txBox="1"/>
          <p:nvPr/>
        </p:nvSpPr>
        <p:spPr>
          <a:xfrm>
            <a:off x="6217920" y="2121408"/>
            <a:ext cx="512064" cy="512064"/>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2" name="Question text 1"/>
          <p:cNvSpPr txBox="1"/>
          <p:nvPr/>
        </p:nvSpPr>
        <p:spPr>
          <a:xfrm>
            <a:off x="6949440" y="2011680"/>
            <a:ext cx="4526280" cy="731520"/>
          </a:xfrm>
          <a:prstGeom prst="rect">
            <a:avLst/>
          </a:prstGeom>
          <a:noFill/>
          <a:ln/>
        </p:spPr>
        <p:txBody>
          <a:bodyPr wrap="square" lIns="0" tIns="0" rIns="0" bIns="0" rtlCol="0" anchor="ctr"/>
          <a:lstStyle/>
          <a:p>
            <a:pPr indent="0" marL="0">
              <a:buNone/>
            </a:pPr>
            <a:r>
              <a:rPr lang="en-US" sz="1400" dirty="0">
                <a:solidFill>
                  <a:schemeClr val="tx1"/>
                </a:solidFill>
              </a:rPr>
              <a:t>How much paddy is received and processed, and how much rice is produced and delivered?</a:t>
            </a:r>
            <a:endParaRPr lang="en-US" sz="1400" dirty="0"/>
          </a:p>
        </p:txBody>
      </p:sp>
      <p:sp>
        <p:nvSpPr>
          <p:cNvPr id="13" name="Question card 2"/>
          <p:cNvSpPr/>
          <p:nvPr/>
        </p:nvSpPr>
        <p:spPr>
          <a:xfrm>
            <a:off x="6035040" y="2971800"/>
            <a:ext cx="5605272" cy="914400"/>
          </a:xfrm>
          <a:prstGeom prst="roundRect">
            <a:avLst>
              <a:gd name="adj" fmla="val 8000"/>
            </a:avLst>
          </a:prstGeom>
          <a:solidFill>
            <a:schemeClr val="bg2"/>
          </a:solidFill>
          <a:ln w="3175">
            <a:solidFill>
              <a:schemeClr val="bg2"/>
            </a:solidFill>
            <a:prstDash val="solid"/>
          </a:ln>
        </p:spPr>
      </p:sp>
      <p:sp>
        <p:nvSpPr>
          <p:cNvPr id="14" name="Question 2 badge"/>
          <p:cNvSpPr/>
          <p:nvPr/>
        </p:nvSpPr>
        <p:spPr>
          <a:xfrm>
            <a:off x="6217920" y="3172968"/>
            <a:ext cx="512064" cy="512064"/>
          </a:xfrm>
          <a:prstGeom prst="ellipse">
            <a:avLst/>
          </a:prstGeom>
          <a:solidFill>
            <a:schemeClr val="accent1"/>
          </a:solidFill>
          <a:ln w="12700">
            <a:solidFill>
              <a:schemeClr val="accent1"/>
            </a:solidFill>
            <a:prstDash val="solid"/>
          </a:ln>
        </p:spPr>
      </p:sp>
      <p:sp>
        <p:nvSpPr>
          <p:cNvPr id="15" name="Question 2 number"/>
          <p:cNvSpPr txBox="1"/>
          <p:nvPr/>
        </p:nvSpPr>
        <p:spPr>
          <a:xfrm>
            <a:off x="6217920" y="3172968"/>
            <a:ext cx="512064" cy="512064"/>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6" name="Question text 2"/>
          <p:cNvSpPr txBox="1"/>
          <p:nvPr/>
        </p:nvSpPr>
        <p:spPr>
          <a:xfrm>
            <a:off x="6949440" y="3063240"/>
            <a:ext cx="4526280" cy="731520"/>
          </a:xfrm>
          <a:prstGeom prst="rect">
            <a:avLst/>
          </a:prstGeom>
          <a:noFill/>
          <a:ln/>
        </p:spPr>
        <p:txBody>
          <a:bodyPr wrap="square" lIns="0" tIns="0" rIns="0" bIns="0" rtlCol="0" anchor="ctr"/>
          <a:lstStyle/>
          <a:p>
            <a:pPr indent="0" marL="0">
              <a:buNone/>
            </a:pPr>
            <a:r>
              <a:rPr lang="en-US" sz="1400" dirty="0">
                <a:solidFill>
                  <a:schemeClr val="tx1"/>
                </a:solidFill>
              </a:rPr>
              <a:t>How do output and cost differ by district, season, mill type and rice type?</a:t>
            </a:r>
            <a:endParaRPr lang="en-US" sz="1400" dirty="0"/>
          </a:p>
        </p:txBody>
      </p:sp>
      <p:sp>
        <p:nvSpPr>
          <p:cNvPr id="17" name="Question card 3"/>
          <p:cNvSpPr/>
          <p:nvPr/>
        </p:nvSpPr>
        <p:spPr>
          <a:xfrm>
            <a:off x="6035040" y="4023360"/>
            <a:ext cx="5605272" cy="914400"/>
          </a:xfrm>
          <a:prstGeom prst="roundRect">
            <a:avLst>
              <a:gd name="adj" fmla="val 8000"/>
            </a:avLst>
          </a:prstGeom>
          <a:solidFill>
            <a:schemeClr val="bg2"/>
          </a:solidFill>
          <a:ln w="3175">
            <a:solidFill>
              <a:schemeClr val="bg2"/>
            </a:solidFill>
            <a:prstDash val="solid"/>
          </a:ln>
        </p:spPr>
      </p:sp>
      <p:sp>
        <p:nvSpPr>
          <p:cNvPr id="18" name="Question 3 badge"/>
          <p:cNvSpPr/>
          <p:nvPr/>
        </p:nvSpPr>
        <p:spPr>
          <a:xfrm>
            <a:off x="6217920" y="4224528"/>
            <a:ext cx="512064" cy="512064"/>
          </a:xfrm>
          <a:prstGeom prst="ellipse">
            <a:avLst/>
          </a:prstGeom>
          <a:solidFill>
            <a:schemeClr val="accent1"/>
          </a:solidFill>
          <a:ln w="12700">
            <a:solidFill>
              <a:schemeClr val="accent1"/>
            </a:solidFill>
            <a:prstDash val="solid"/>
          </a:ln>
        </p:spPr>
      </p:sp>
      <p:sp>
        <p:nvSpPr>
          <p:cNvPr id="19" name="Question 3 number"/>
          <p:cNvSpPr txBox="1"/>
          <p:nvPr/>
        </p:nvSpPr>
        <p:spPr>
          <a:xfrm>
            <a:off x="6217920" y="4224528"/>
            <a:ext cx="512064" cy="512064"/>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0" name="Question text 3"/>
          <p:cNvSpPr txBox="1"/>
          <p:nvPr/>
        </p:nvSpPr>
        <p:spPr>
          <a:xfrm>
            <a:off x="6949440" y="4114800"/>
            <a:ext cx="4526280" cy="731520"/>
          </a:xfrm>
          <a:prstGeom prst="rect">
            <a:avLst/>
          </a:prstGeom>
          <a:noFill/>
          <a:ln/>
        </p:spPr>
        <p:txBody>
          <a:bodyPr wrap="square" lIns="0" tIns="0" rIns="0" bIns="0" rtlCol="0" anchor="ctr"/>
          <a:lstStyle/>
          <a:p>
            <a:pPr indent="0" marL="0">
              <a:buNone/>
            </a:pPr>
            <a:r>
              <a:rPr lang="en-US" sz="1400" dirty="0">
                <a:solidFill>
                  <a:schemeClr val="tx1"/>
                </a:solidFill>
              </a:rPr>
              <a:t>What share of deliveries is recorded after the due date?</a:t>
            </a:r>
            <a:endParaRPr lang="en-US" sz="1400" dirty="0"/>
          </a:p>
        </p:txBody>
      </p:sp>
      <p:sp>
        <p:nvSpPr>
          <p:cNvPr id="21" name="Question card 4"/>
          <p:cNvSpPr/>
          <p:nvPr/>
        </p:nvSpPr>
        <p:spPr>
          <a:xfrm>
            <a:off x="6035040" y="5074920"/>
            <a:ext cx="5605272" cy="914400"/>
          </a:xfrm>
          <a:prstGeom prst="roundRect">
            <a:avLst>
              <a:gd name="adj" fmla="val 8000"/>
            </a:avLst>
          </a:prstGeom>
          <a:solidFill>
            <a:schemeClr val="bg2"/>
          </a:solidFill>
          <a:ln w="3175">
            <a:solidFill>
              <a:schemeClr val="bg2"/>
            </a:solidFill>
            <a:prstDash val="solid"/>
          </a:ln>
        </p:spPr>
      </p:sp>
      <p:sp>
        <p:nvSpPr>
          <p:cNvPr id="22" name="Question 4 badge"/>
          <p:cNvSpPr/>
          <p:nvPr/>
        </p:nvSpPr>
        <p:spPr>
          <a:xfrm>
            <a:off x="6217920" y="5276088"/>
            <a:ext cx="512064" cy="512064"/>
          </a:xfrm>
          <a:prstGeom prst="ellipse">
            <a:avLst/>
          </a:prstGeom>
          <a:solidFill>
            <a:schemeClr val="accent1"/>
          </a:solidFill>
          <a:ln w="12700">
            <a:solidFill>
              <a:schemeClr val="accent1"/>
            </a:solidFill>
            <a:prstDash val="solid"/>
          </a:ln>
        </p:spPr>
      </p:sp>
      <p:sp>
        <p:nvSpPr>
          <p:cNvPr id="23" name="Question 4 number"/>
          <p:cNvSpPr txBox="1"/>
          <p:nvPr/>
        </p:nvSpPr>
        <p:spPr>
          <a:xfrm>
            <a:off x="6217920" y="5276088"/>
            <a:ext cx="512064" cy="512064"/>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4" name="Question text 4"/>
          <p:cNvSpPr txBox="1"/>
          <p:nvPr/>
        </p:nvSpPr>
        <p:spPr>
          <a:xfrm>
            <a:off x="6949440" y="5166360"/>
            <a:ext cx="4526280" cy="731520"/>
          </a:xfrm>
          <a:prstGeom prst="rect">
            <a:avLst/>
          </a:prstGeom>
          <a:noFill/>
          <a:ln/>
        </p:spPr>
        <p:txBody>
          <a:bodyPr wrap="square" lIns="0" tIns="0" rIns="0" bIns="0" rtlCol="0" anchor="ctr"/>
          <a:lstStyle/>
          <a:p>
            <a:pPr indent="0" marL="0">
              <a:buNone/>
            </a:pPr>
            <a:r>
              <a:rPr lang="en-US" sz="1400" dirty="0">
                <a:solidFill>
                  <a:schemeClr val="tx1"/>
                </a:solidFill>
              </a:rPr>
              <a:t>Which cost components dominate, and what data gaps must be fixed first?</a:t>
            </a:r>
            <a:endParaRPr lang="en-US" sz="1400" dirty="0"/>
          </a:p>
        </p:txBody>
      </p:sp>
      <p:sp>
        <p:nvSpPr>
          <p:cNvPr id="25" name="Scope note"/>
          <p:cNvSpPr txBox="1"/>
          <p:nvPr/>
        </p:nvSpPr>
        <p:spPr>
          <a:xfrm>
            <a:off x="6035040" y="6172200"/>
            <a:ext cx="5605272" cy="228600"/>
          </a:xfrm>
          <a:prstGeom prst="rect">
            <a:avLst/>
          </a:prstGeom>
          <a:noFill/>
          <a:ln/>
        </p:spPr>
        <p:txBody>
          <a:bodyPr wrap="square" lIns="0" tIns="0" rIns="0" bIns="0" rtlCol="0" anchor="t"/>
          <a:lstStyle/>
          <a:p>
            <a:pPr indent="0" marL="0">
              <a:buNone/>
            </a:pPr>
            <a:r>
              <a:rPr lang="en-US" sz="1200" i="1" dirty="0">
                <a:solidFill>
                  <a:schemeClr val="accent5"/>
                </a:solidFill>
              </a:rPr>
              <a:t>Scope: monitoring and prioritization, not automated procurement or mill scheduling.</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Dataset at a Glance</a:t>
            </a:r>
            <a:endParaRPr lang="en-US" sz="3400" dirty="0"/>
          </a:p>
        </p:txBody>
      </p:sp>
      <p:sp>
        <p:nvSpPr>
          <p:cNvPr id="3" name="Stat card 1"/>
          <p:cNvSpPr/>
          <p:nvPr/>
        </p:nvSpPr>
        <p:spPr>
          <a:xfrm>
            <a:off x="548640" y="1371600"/>
            <a:ext cx="2148840" cy="1783080"/>
          </a:xfrm>
          <a:prstGeom prst="roundRect">
            <a:avLst>
              <a:gd name="adj" fmla="val 4103"/>
            </a:avLst>
          </a:prstGeom>
          <a:solidFill>
            <a:schemeClr val="bg2"/>
          </a:solidFill>
          <a:ln w="3175">
            <a:solidFill>
              <a:schemeClr val="bg2"/>
            </a:solidFill>
            <a:prstDash val="solid"/>
          </a:ln>
        </p:spPr>
      </p:sp>
      <p:sp>
        <p:nvSpPr>
          <p:cNvPr id="4" name="Stat value 1"/>
          <p:cNvSpPr txBox="1"/>
          <p:nvPr/>
        </p:nvSpPr>
        <p:spPr>
          <a:xfrm>
            <a:off x="548640" y="1645920"/>
            <a:ext cx="2148840" cy="731520"/>
          </a:xfrm>
          <a:prstGeom prst="rect">
            <a:avLst/>
          </a:prstGeom>
          <a:noFill/>
          <a:ln/>
        </p:spPr>
        <p:txBody>
          <a:bodyPr wrap="square" lIns="0" tIns="0" rIns="0" bIns="0" rtlCol="0" anchor="ctr"/>
          <a:lstStyle/>
          <a:p>
            <a:pPr algn="ctr" indent="0" marL="0">
              <a:buNone/>
            </a:pPr>
            <a:r>
              <a:rPr lang="en-US" sz="3200" b="1" dirty="0">
                <a:solidFill>
                  <a:schemeClr val="tx2"/>
                </a:solidFill>
              </a:rPr>
              <a:t>100,000</a:t>
            </a:r>
            <a:endParaRPr lang="en-US" sz="3200" dirty="0"/>
          </a:p>
        </p:txBody>
      </p:sp>
      <p:sp>
        <p:nvSpPr>
          <p:cNvPr id="5" name="Stat label 1"/>
          <p:cNvSpPr txBox="1"/>
          <p:nvPr/>
        </p:nvSpPr>
        <p:spPr>
          <a:xfrm>
            <a:off x="640080" y="2468880"/>
            <a:ext cx="1965960" cy="457200"/>
          </a:xfrm>
          <a:prstGeom prst="rect">
            <a:avLst/>
          </a:prstGeom>
          <a:noFill/>
          <a:ln/>
        </p:spPr>
        <p:txBody>
          <a:bodyPr wrap="square" lIns="0" tIns="0" rIns="0" bIns="0" rtlCol="0" anchor="t"/>
          <a:lstStyle/>
          <a:p>
            <a:pPr algn="ctr" indent="0" marL="0">
              <a:buNone/>
            </a:pPr>
            <a:r>
              <a:rPr lang="en-US" sz="1400" dirty="0">
                <a:solidFill>
                  <a:schemeClr val="accent5"/>
                </a:solidFill>
              </a:rPr>
              <a:t>transaction records</a:t>
            </a:r>
            <a:endParaRPr lang="en-US" sz="1400" dirty="0"/>
          </a:p>
        </p:txBody>
      </p:sp>
      <p:sp>
        <p:nvSpPr>
          <p:cNvPr id="6" name="Stat card 2"/>
          <p:cNvSpPr/>
          <p:nvPr/>
        </p:nvSpPr>
        <p:spPr>
          <a:xfrm>
            <a:off x="2880360" y="1371600"/>
            <a:ext cx="2148840" cy="1783080"/>
          </a:xfrm>
          <a:prstGeom prst="roundRect">
            <a:avLst>
              <a:gd name="adj" fmla="val 4103"/>
            </a:avLst>
          </a:prstGeom>
          <a:solidFill>
            <a:schemeClr val="bg2"/>
          </a:solidFill>
          <a:ln w="3175">
            <a:solidFill>
              <a:schemeClr val="bg2"/>
            </a:solidFill>
            <a:prstDash val="solid"/>
          </a:ln>
        </p:spPr>
      </p:sp>
      <p:sp>
        <p:nvSpPr>
          <p:cNvPr id="7" name="Stat value 2"/>
          <p:cNvSpPr txBox="1"/>
          <p:nvPr/>
        </p:nvSpPr>
        <p:spPr>
          <a:xfrm>
            <a:off x="2880360" y="1645920"/>
            <a:ext cx="2148840" cy="731520"/>
          </a:xfrm>
          <a:prstGeom prst="rect">
            <a:avLst/>
          </a:prstGeom>
          <a:noFill/>
          <a:ln/>
        </p:spPr>
        <p:txBody>
          <a:bodyPr wrap="square" lIns="0" tIns="0" rIns="0" bIns="0" rtlCol="0" anchor="ctr"/>
          <a:lstStyle/>
          <a:p>
            <a:pPr algn="ctr" indent="0" marL="0">
              <a:buNone/>
            </a:pPr>
            <a:r>
              <a:rPr lang="en-US" sz="3800" b="1" dirty="0">
                <a:solidFill>
                  <a:schemeClr val="tx2"/>
                </a:solidFill>
              </a:rPr>
              <a:t>32</a:t>
            </a:r>
            <a:endParaRPr lang="en-US" sz="3800" dirty="0"/>
          </a:p>
        </p:txBody>
      </p:sp>
      <p:sp>
        <p:nvSpPr>
          <p:cNvPr id="8" name="Stat label 2"/>
          <p:cNvSpPr txBox="1"/>
          <p:nvPr/>
        </p:nvSpPr>
        <p:spPr>
          <a:xfrm>
            <a:off x="2971800" y="2468880"/>
            <a:ext cx="1965960" cy="457200"/>
          </a:xfrm>
          <a:prstGeom prst="rect">
            <a:avLst/>
          </a:prstGeom>
          <a:noFill/>
          <a:ln/>
        </p:spPr>
        <p:txBody>
          <a:bodyPr wrap="square" lIns="0" tIns="0" rIns="0" bIns="0" rtlCol="0" anchor="t"/>
          <a:lstStyle/>
          <a:p>
            <a:pPr algn="ctr" indent="0" marL="0">
              <a:buNone/>
            </a:pPr>
            <a:r>
              <a:rPr lang="en-US" sz="1400" dirty="0">
                <a:solidFill>
                  <a:schemeClr val="accent5"/>
                </a:solidFill>
              </a:rPr>
              <a:t>columns</a:t>
            </a:r>
            <a:endParaRPr lang="en-US" sz="1400" dirty="0"/>
          </a:p>
        </p:txBody>
      </p:sp>
      <p:sp>
        <p:nvSpPr>
          <p:cNvPr id="9" name="Stat card 3"/>
          <p:cNvSpPr/>
          <p:nvPr/>
        </p:nvSpPr>
        <p:spPr>
          <a:xfrm>
            <a:off x="5212080" y="1371600"/>
            <a:ext cx="2148840" cy="1783080"/>
          </a:xfrm>
          <a:prstGeom prst="roundRect">
            <a:avLst>
              <a:gd name="adj" fmla="val 4103"/>
            </a:avLst>
          </a:prstGeom>
          <a:solidFill>
            <a:schemeClr val="bg2"/>
          </a:solidFill>
          <a:ln w="3175">
            <a:solidFill>
              <a:schemeClr val="bg2"/>
            </a:solidFill>
            <a:prstDash val="solid"/>
          </a:ln>
        </p:spPr>
      </p:sp>
      <p:sp>
        <p:nvSpPr>
          <p:cNvPr id="10" name="Stat value 3"/>
          <p:cNvSpPr txBox="1"/>
          <p:nvPr/>
        </p:nvSpPr>
        <p:spPr>
          <a:xfrm>
            <a:off x="5212080" y="1645920"/>
            <a:ext cx="2148840" cy="731520"/>
          </a:xfrm>
          <a:prstGeom prst="rect">
            <a:avLst/>
          </a:prstGeom>
          <a:noFill/>
          <a:ln/>
        </p:spPr>
        <p:txBody>
          <a:bodyPr wrap="square" lIns="0" tIns="0" rIns="0" bIns="0" rtlCol="0" anchor="ctr"/>
          <a:lstStyle/>
          <a:p>
            <a:pPr algn="ctr" indent="0" marL="0">
              <a:buNone/>
            </a:pPr>
            <a:r>
              <a:rPr lang="en-US" sz="3800" b="1" dirty="0">
                <a:solidFill>
                  <a:schemeClr val="tx2"/>
                </a:solidFill>
              </a:rPr>
              <a:t>500</a:t>
            </a:r>
            <a:endParaRPr lang="en-US" sz="3800" dirty="0"/>
          </a:p>
        </p:txBody>
      </p:sp>
      <p:sp>
        <p:nvSpPr>
          <p:cNvPr id="11" name="Stat label 3"/>
          <p:cNvSpPr txBox="1"/>
          <p:nvPr/>
        </p:nvSpPr>
        <p:spPr>
          <a:xfrm>
            <a:off x="5303520" y="2468880"/>
            <a:ext cx="1965960" cy="457200"/>
          </a:xfrm>
          <a:prstGeom prst="rect">
            <a:avLst/>
          </a:prstGeom>
          <a:noFill/>
          <a:ln/>
        </p:spPr>
        <p:txBody>
          <a:bodyPr wrap="square" lIns="0" tIns="0" rIns="0" bIns="0" rtlCol="0" anchor="t"/>
          <a:lstStyle/>
          <a:p>
            <a:pPr algn="ctr" indent="0" marL="0">
              <a:buNone/>
            </a:pPr>
            <a:r>
              <a:rPr lang="en-US" sz="1400" dirty="0">
                <a:solidFill>
                  <a:schemeClr val="accent5"/>
                </a:solidFill>
              </a:rPr>
              <a:t>mill IDs</a:t>
            </a:r>
            <a:endParaRPr lang="en-US" sz="1400" dirty="0"/>
          </a:p>
        </p:txBody>
      </p:sp>
      <p:sp>
        <p:nvSpPr>
          <p:cNvPr id="12" name="Stat card 4"/>
          <p:cNvSpPr/>
          <p:nvPr/>
        </p:nvSpPr>
        <p:spPr>
          <a:xfrm>
            <a:off x="548640" y="3337560"/>
            <a:ext cx="2148840" cy="1783080"/>
          </a:xfrm>
          <a:prstGeom prst="roundRect">
            <a:avLst>
              <a:gd name="adj" fmla="val 4103"/>
            </a:avLst>
          </a:prstGeom>
          <a:solidFill>
            <a:schemeClr val="bg2"/>
          </a:solidFill>
          <a:ln w="3175">
            <a:solidFill>
              <a:schemeClr val="bg2"/>
            </a:solidFill>
            <a:prstDash val="solid"/>
          </a:ln>
        </p:spPr>
      </p:sp>
      <p:sp>
        <p:nvSpPr>
          <p:cNvPr id="13" name="Stat value 4"/>
          <p:cNvSpPr txBox="1"/>
          <p:nvPr/>
        </p:nvSpPr>
        <p:spPr>
          <a:xfrm>
            <a:off x="548640" y="3611880"/>
            <a:ext cx="2148840" cy="731520"/>
          </a:xfrm>
          <a:prstGeom prst="rect">
            <a:avLst/>
          </a:prstGeom>
          <a:noFill/>
          <a:ln/>
        </p:spPr>
        <p:txBody>
          <a:bodyPr wrap="square" lIns="0" tIns="0" rIns="0" bIns="0" rtlCol="0" anchor="ctr"/>
          <a:lstStyle/>
          <a:p>
            <a:pPr algn="ctr" indent="0" marL="0">
              <a:buNone/>
            </a:pPr>
            <a:r>
              <a:rPr lang="en-US" sz="3800" b="1" dirty="0">
                <a:solidFill>
                  <a:schemeClr val="tx2"/>
                </a:solidFill>
              </a:rPr>
              <a:t>33</a:t>
            </a:r>
            <a:endParaRPr lang="en-US" sz="3800" dirty="0"/>
          </a:p>
        </p:txBody>
      </p:sp>
      <p:sp>
        <p:nvSpPr>
          <p:cNvPr id="14" name="Stat label 4"/>
          <p:cNvSpPr txBox="1"/>
          <p:nvPr/>
        </p:nvSpPr>
        <p:spPr>
          <a:xfrm>
            <a:off x="640080" y="4434840"/>
            <a:ext cx="1965960" cy="457200"/>
          </a:xfrm>
          <a:prstGeom prst="rect">
            <a:avLst/>
          </a:prstGeom>
          <a:noFill/>
          <a:ln/>
        </p:spPr>
        <p:txBody>
          <a:bodyPr wrap="square" lIns="0" tIns="0" rIns="0" bIns="0" rtlCol="0" anchor="t"/>
          <a:lstStyle/>
          <a:p>
            <a:pPr algn="ctr" indent="0" marL="0">
              <a:buNone/>
            </a:pPr>
            <a:r>
              <a:rPr lang="en-US" sz="1400" dirty="0">
                <a:solidFill>
                  <a:schemeClr val="accent5"/>
                </a:solidFill>
              </a:rPr>
              <a:t>districts</a:t>
            </a:r>
            <a:endParaRPr lang="en-US" sz="1400" dirty="0"/>
          </a:p>
        </p:txBody>
      </p:sp>
      <p:sp>
        <p:nvSpPr>
          <p:cNvPr id="15" name="Stat card 5"/>
          <p:cNvSpPr/>
          <p:nvPr/>
        </p:nvSpPr>
        <p:spPr>
          <a:xfrm>
            <a:off x="2880360" y="3337560"/>
            <a:ext cx="2148840" cy="1783080"/>
          </a:xfrm>
          <a:prstGeom prst="roundRect">
            <a:avLst>
              <a:gd name="adj" fmla="val 4103"/>
            </a:avLst>
          </a:prstGeom>
          <a:solidFill>
            <a:schemeClr val="bg2"/>
          </a:solidFill>
          <a:ln w="3175">
            <a:solidFill>
              <a:schemeClr val="bg2"/>
            </a:solidFill>
            <a:prstDash val="solid"/>
          </a:ln>
        </p:spPr>
      </p:sp>
      <p:sp>
        <p:nvSpPr>
          <p:cNvPr id="16" name="Stat value 5"/>
          <p:cNvSpPr txBox="1"/>
          <p:nvPr/>
        </p:nvSpPr>
        <p:spPr>
          <a:xfrm>
            <a:off x="2880360" y="3611880"/>
            <a:ext cx="2148840" cy="731520"/>
          </a:xfrm>
          <a:prstGeom prst="rect">
            <a:avLst/>
          </a:prstGeom>
          <a:noFill/>
          <a:ln/>
        </p:spPr>
        <p:txBody>
          <a:bodyPr wrap="square" lIns="0" tIns="0" rIns="0" bIns="0" rtlCol="0" anchor="ctr"/>
          <a:lstStyle/>
          <a:p>
            <a:pPr algn="ctr" indent="0" marL="0">
              <a:buNone/>
            </a:pPr>
            <a:r>
              <a:rPr lang="en-US" sz="3800" b="1" dirty="0">
                <a:solidFill>
                  <a:schemeClr val="tx2"/>
                </a:solidFill>
              </a:rPr>
              <a:t>157</a:t>
            </a:r>
            <a:endParaRPr lang="en-US" sz="3800" dirty="0"/>
          </a:p>
        </p:txBody>
      </p:sp>
      <p:sp>
        <p:nvSpPr>
          <p:cNvPr id="17" name="Stat label 5"/>
          <p:cNvSpPr txBox="1"/>
          <p:nvPr/>
        </p:nvSpPr>
        <p:spPr>
          <a:xfrm>
            <a:off x="2971800" y="4434840"/>
            <a:ext cx="1965960" cy="457200"/>
          </a:xfrm>
          <a:prstGeom prst="rect">
            <a:avLst/>
          </a:prstGeom>
          <a:noFill/>
          <a:ln/>
        </p:spPr>
        <p:txBody>
          <a:bodyPr wrap="square" lIns="0" tIns="0" rIns="0" bIns="0" rtlCol="0" anchor="t"/>
          <a:lstStyle/>
          <a:p>
            <a:pPr algn="ctr" indent="0" marL="0">
              <a:buNone/>
            </a:pPr>
            <a:r>
              <a:rPr lang="en-US" sz="1400" dirty="0">
                <a:solidFill>
                  <a:schemeClr val="accent5"/>
                </a:solidFill>
              </a:rPr>
              <a:t>mandals</a:t>
            </a:r>
            <a:endParaRPr lang="en-US" sz="1400" dirty="0"/>
          </a:p>
        </p:txBody>
      </p:sp>
      <p:sp>
        <p:nvSpPr>
          <p:cNvPr id="18" name="Stat card 6"/>
          <p:cNvSpPr/>
          <p:nvPr/>
        </p:nvSpPr>
        <p:spPr>
          <a:xfrm>
            <a:off x="5212080" y="3337560"/>
            <a:ext cx="2148840" cy="1783080"/>
          </a:xfrm>
          <a:prstGeom prst="roundRect">
            <a:avLst>
              <a:gd name="adj" fmla="val 4103"/>
            </a:avLst>
          </a:prstGeom>
          <a:solidFill>
            <a:schemeClr val="bg2"/>
          </a:solidFill>
          <a:ln w="3175">
            <a:solidFill>
              <a:schemeClr val="bg2"/>
            </a:solidFill>
            <a:prstDash val="solid"/>
          </a:ln>
        </p:spPr>
      </p:sp>
      <p:sp>
        <p:nvSpPr>
          <p:cNvPr id="19" name="Stat value 6"/>
          <p:cNvSpPr txBox="1"/>
          <p:nvPr/>
        </p:nvSpPr>
        <p:spPr>
          <a:xfrm>
            <a:off x="5212080" y="3611880"/>
            <a:ext cx="2148840" cy="731520"/>
          </a:xfrm>
          <a:prstGeom prst="rect">
            <a:avLst/>
          </a:prstGeom>
          <a:noFill/>
          <a:ln/>
        </p:spPr>
        <p:txBody>
          <a:bodyPr wrap="square" lIns="0" tIns="0" rIns="0" bIns="0" rtlCol="0" anchor="ctr"/>
          <a:lstStyle/>
          <a:p>
            <a:pPr algn="ctr" indent="0" marL="0">
              <a:buNone/>
            </a:pPr>
            <a:r>
              <a:rPr lang="en-US" sz="3200" b="1" dirty="0">
                <a:solidFill>
                  <a:schemeClr val="tx2"/>
                </a:solidFill>
              </a:rPr>
              <a:t>4 years</a:t>
            </a:r>
            <a:endParaRPr lang="en-US" sz="3200" dirty="0"/>
          </a:p>
        </p:txBody>
      </p:sp>
      <p:sp>
        <p:nvSpPr>
          <p:cNvPr id="20" name="Stat label 6"/>
          <p:cNvSpPr txBox="1"/>
          <p:nvPr/>
        </p:nvSpPr>
        <p:spPr>
          <a:xfrm>
            <a:off x="5303520" y="4434840"/>
            <a:ext cx="1965960" cy="457200"/>
          </a:xfrm>
          <a:prstGeom prst="rect">
            <a:avLst/>
          </a:prstGeom>
          <a:noFill/>
          <a:ln/>
        </p:spPr>
        <p:txBody>
          <a:bodyPr wrap="square" lIns="0" tIns="0" rIns="0" bIns="0" rtlCol="0" anchor="t"/>
          <a:lstStyle/>
          <a:p>
            <a:pPr algn="ctr" indent="0" marL="0">
              <a:buNone/>
            </a:pPr>
            <a:r>
              <a:rPr lang="en-US" sz="1400" dirty="0">
                <a:solidFill>
                  <a:schemeClr val="accent5"/>
                </a:solidFill>
              </a:rPr>
              <a:t>Jul 2022 – Jun 2026</a:t>
            </a:r>
            <a:endParaRPr lang="en-US" sz="1400" dirty="0"/>
          </a:p>
        </p:txBody>
      </p:sp>
      <p:sp>
        <p:nvSpPr>
          <p:cNvPr id="21" name="Synthetic banner"/>
          <p:cNvSpPr/>
          <p:nvPr/>
        </p:nvSpPr>
        <p:spPr>
          <a:xfrm>
            <a:off x="548640" y="5394960"/>
            <a:ext cx="6812280" cy="777240"/>
          </a:xfrm>
          <a:prstGeom prst="roundRect">
            <a:avLst>
              <a:gd name="adj" fmla="val 9412"/>
            </a:avLst>
          </a:prstGeom>
          <a:solidFill>
            <a:schemeClr val="accent4"/>
          </a:solidFill>
          <a:ln w="3175">
            <a:solidFill>
              <a:schemeClr val="accent4"/>
            </a:solidFill>
            <a:prstDash val="solid"/>
          </a:ln>
        </p:spPr>
      </p:sp>
      <p:sp>
        <p:nvSpPr>
          <p:cNvPr id="22" name="Synthetic banner text"/>
          <p:cNvSpPr txBox="1"/>
          <p:nvPr/>
        </p:nvSpPr>
        <p:spPr>
          <a:xfrm>
            <a:off x="777240" y="5394960"/>
            <a:ext cx="6355080" cy="777240"/>
          </a:xfrm>
          <a:prstGeom prst="rect">
            <a:avLst/>
          </a:prstGeom>
          <a:noFill/>
          <a:ln/>
        </p:spPr>
        <p:txBody>
          <a:bodyPr wrap="square" lIns="0" tIns="0" rIns="0" bIns="0" rtlCol="0" anchor="ctr"/>
          <a:lstStyle/>
          <a:p>
            <a:pPr indent="0" marL="0">
              <a:buNone/>
            </a:pPr>
            <a:r>
              <a:rPr lang="en-US" sz="1400" b="1" dirty="0">
                <a:solidFill>
                  <a:schemeClr val="bg1"/>
                </a:solidFill>
              </a:rPr>
              <a:t>All records are labelled SYNTHETIC. Results show a reproducible workflow, not real mill performance.</a:t>
            </a:r>
            <a:endParaRPr lang="en-US" sz="1400" dirty="0"/>
          </a:p>
        </p:txBody>
      </p:sp>
      <p:sp>
        <p:nvSpPr>
          <p:cNvPr id="23" name="Field groups panel"/>
          <p:cNvSpPr/>
          <p:nvPr/>
        </p:nvSpPr>
        <p:spPr>
          <a:xfrm>
            <a:off x="7635240" y="1371600"/>
            <a:ext cx="4005072" cy="4800600"/>
          </a:xfrm>
          <a:prstGeom prst="roundRect">
            <a:avLst>
              <a:gd name="adj" fmla="val 1826"/>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24" name="Field groups heading"/>
          <p:cNvSpPr txBox="1"/>
          <p:nvPr/>
        </p:nvSpPr>
        <p:spPr>
          <a:xfrm>
            <a:off x="7863840" y="1508760"/>
            <a:ext cx="3566160" cy="365760"/>
          </a:xfrm>
          <a:prstGeom prst="rect">
            <a:avLst/>
          </a:prstGeom>
          <a:noFill/>
          <a:ln/>
        </p:spPr>
        <p:txBody>
          <a:bodyPr wrap="square" lIns="0" tIns="0" rIns="0" bIns="0" rtlCol="0" anchor="t"/>
          <a:lstStyle/>
          <a:p>
            <a:pPr indent="0" marL="0">
              <a:buNone/>
            </a:pPr>
            <a:r>
              <a:rPr lang="en-US" sz="1800" b="1" dirty="0">
                <a:solidFill>
                  <a:schemeClr val="tx2"/>
                </a:solidFill>
              </a:rPr>
              <a:t>Seven field groups</a:t>
            </a:r>
            <a:endParaRPr lang="en-US" sz="1800" dirty="0"/>
          </a:p>
        </p:txBody>
      </p:sp>
      <p:sp>
        <p:nvSpPr>
          <p:cNvPr id="25" name="Field group 1"/>
          <p:cNvSpPr txBox="1"/>
          <p:nvPr/>
        </p:nvSpPr>
        <p:spPr>
          <a:xfrm>
            <a:off x="7863840" y="2011680"/>
            <a:ext cx="3611880" cy="548640"/>
          </a:xfrm>
          <a:prstGeom prst="rect">
            <a:avLst/>
          </a:prstGeom>
          <a:noFill/>
          <a:ln/>
        </p:spPr>
        <p:txBody>
          <a:bodyPr wrap="square" lIns="0" tIns="0" rIns="0" bIns="0" rtlCol="0" anchor="t"/>
          <a:lstStyle/>
          <a:p>
            <a:pPr indent="0" marL="0">
              <a:buNone/>
            </a:pPr>
            <a:r>
              <a:rPr lang="en-US" sz="1400" b="1" dirty="0">
                <a:solidFill>
                  <a:schemeClr val="accent1"/>
                </a:solidFill>
              </a:rPr>
              <a:t>Identifiers</a:t>
            </a:r>
            <a:endParaRPr lang="en-US" sz="1400" dirty="0"/>
          </a:p>
          <a:p>
            <a:pPr indent="0" marL="0">
              <a:buNone/>
            </a:pPr>
            <a:r>
              <a:rPr lang="en-US" sz="1200" dirty="0">
                <a:solidFill>
                  <a:schemeClr val="tx1"/>
                </a:solidFill>
              </a:rPr>
              <a:t>transaction and mill IDs</a:t>
            </a:r>
            <a:endParaRPr lang="en-US" sz="1400" dirty="0"/>
          </a:p>
        </p:txBody>
      </p:sp>
      <p:sp>
        <p:nvSpPr>
          <p:cNvPr id="26" name="Field group 2"/>
          <p:cNvSpPr txBox="1"/>
          <p:nvPr/>
        </p:nvSpPr>
        <p:spPr>
          <a:xfrm>
            <a:off x="7863840" y="2596896"/>
            <a:ext cx="3611880" cy="548640"/>
          </a:xfrm>
          <a:prstGeom prst="rect">
            <a:avLst/>
          </a:prstGeom>
          <a:noFill/>
          <a:ln/>
        </p:spPr>
        <p:txBody>
          <a:bodyPr wrap="square" lIns="0" tIns="0" rIns="0" bIns="0" rtlCol="0" anchor="t"/>
          <a:lstStyle/>
          <a:p>
            <a:pPr indent="0" marL="0">
              <a:buNone/>
            </a:pPr>
            <a:r>
              <a:rPr lang="en-US" sz="1400" b="1" dirty="0">
                <a:solidFill>
                  <a:schemeClr val="accent1"/>
                </a:solidFill>
              </a:rPr>
              <a:t>Geography</a:t>
            </a:r>
            <a:endParaRPr lang="en-US" sz="1400" dirty="0"/>
          </a:p>
          <a:p>
            <a:pPr indent="0" marL="0">
              <a:buNone/>
            </a:pPr>
            <a:r>
              <a:rPr lang="en-US" sz="1200" dirty="0">
                <a:solidFill>
                  <a:schemeClr val="tx1"/>
                </a:solidFill>
              </a:rPr>
              <a:t>district, mandal</a:t>
            </a:r>
            <a:endParaRPr lang="en-US" sz="1400" dirty="0"/>
          </a:p>
        </p:txBody>
      </p:sp>
      <p:sp>
        <p:nvSpPr>
          <p:cNvPr id="27" name="Field group 3"/>
          <p:cNvSpPr txBox="1"/>
          <p:nvPr/>
        </p:nvSpPr>
        <p:spPr>
          <a:xfrm>
            <a:off x="7863840" y="3182112"/>
            <a:ext cx="3611880" cy="548640"/>
          </a:xfrm>
          <a:prstGeom prst="rect">
            <a:avLst/>
          </a:prstGeom>
          <a:noFill/>
          <a:ln/>
        </p:spPr>
        <p:txBody>
          <a:bodyPr wrap="square" lIns="0" tIns="0" rIns="0" bIns="0" rtlCol="0" anchor="t"/>
          <a:lstStyle/>
          <a:p>
            <a:pPr indent="0" marL="0">
              <a:buNone/>
            </a:pPr>
            <a:r>
              <a:rPr lang="en-US" sz="1400" b="1" dirty="0">
                <a:solidFill>
                  <a:schemeClr val="accent1"/>
                </a:solidFill>
              </a:rPr>
              <a:t>Classification</a:t>
            </a:r>
            <a:endParaRPr lang="en-US" sz="1400" dirty="0"/>
          </a:p>
          <a:p>
            <a:pPr indent="0" marL="0">
              <a:buNone/>
            </a:pPr>
            <a:r>
              <a:rPr lang="en-US" sz="1200" dirty="0">
                <a:solidFill>
                  <a:schemeClr val="tx1"/>
                </a:solidFill>
              </a:rPr>
              <a:t>season, mill type, rice type</a:t>
            </a:r>
            <a:endParaRPr lang="en-US" sz="1400" dirty="0"/>
          </a:p>
        </p:txBody>
      </p:sp>
      <p:sp>
        <p:nvSpPr>
          <p:cNvPr id="28" name="Field group 4"/>
          <p:cNvSpPr txBox="1"/>
          <p:nvPr/>
        </p:nvSpPr>
        <p:spPr>
          <a:xfrm>
            <a:off x="7863840" y="3767328"/>
            <a:ext cx="3611880" cy="548640"/>
          </a:xfrm>
          <a:prstGeom prst="rect">
            <a:avLst/>
          </a:prstGeom>
          <a:noFill/>
          <a:ln/>
        </p:spPr>
        <p:txBody>
          <a:bodyPr wrap="square" lIns="0" tIns="0" rIns="0" bIns="0" rtlCol="0" anchor="t"/>
          <a:lstStyle/>
          <a:p>
            <a:pPr indent="0" marL="0">
              <a:buNone/>
            </a:pPr>
            <a:r>
              <a:rPr lang="en-US" sz="1400" b="1" dirty="0">
                <a:solidFill>
                  <a:schemeClr val="accent1"/>
                </a:solidFill>
              </a:rPr>
              <a:t>Quantities</a:t>
            </a:r>
            <a:endParaRPr lang="en-US" sz="1400" dirty="0"/>
          </a:p>
          <a:p>
            <a:pPr indent="0" marL="0">
              <a:buNone/>
            </a:pPr>
            <a:r>
              <a:rPr lang="en-US" sz="1200" dirty="0">
                <a:solidFill>
                  <a:schemeClr val="tx1"/>
                </a:solidFill>
              </a:rPr>
              <a:t>paddy and rice, produced and delivered</a:t>
            </a:r>
            <a:endParaRPr lang="en-US" sz="1400" dirty="0"/>
          </a:p>
        </p:txBody>
      </p:sp>
      <p:sp>
        <p:nvSpPr>
          <p:cNvPr id="29" name="Field group 5"/>
          <p:cNvSpPr txBox="1"/>
          <p:nvPr/>
        </p:nvSpPr>
        <p:spPr>
          <a:xfrm>
            <a:off x="7863840" y="4352544"/>
            <a:ext cx="3611880" cy="548640"/>
          </a:xfrm>
          <a:prstGeom prst="rect">
            <a:avLst/>
          </a:prstGeom>
          <a:noFill/>
          <a:ln/>
        </p:spPr>
        <p:txBody>
          <a:bodyPr wrap="square" lIns="0" tIns="0" rIns="0" bIns="0" rtlCol="0" anchor="t"/>
          <a:lstStyle/>
          <a:p>
            <a:pPr indent="0" marL="0">
              <a:buNone/>
            </a:pPr>
            <a:r>
              <a:rPr lang="en-US" sz="1400" b="1" dirty="0">
                <a:solidFill>
                  <a:schemeClr val="accent1"/>
                </a:solidFill>
              </a:rPr>
              <a:t>Operating</a:t>
            </a:r>
            <a:endParaRPr lang="en-US" sz="1400" dirty="0"/>
          </a:p>
          <a:p>
            <a:pPr indent="0" marL="0">
              <a:buNone/>
            </a:pPr>
            <a:r>
              <a:rPr lang="en-US" sz="1200" dirty="0">
                <a:solidFill>
                  <a:schemeClr val="tx1"/>
                </a:solidFill>
              </a:rPr>
              <a:t>moisture, kWh, capacity, downtime</a:t>
            </a:r>
            <a:endParaRPr lang="en-US" sz="1400" dirty="0"/>
          </a:p>
        </p:txBody>
      </p:sp>
      <p:sp>
        <p:nvSpPr>
          <p:cNvPr id="30" name="Field group 6"/>
          <p:cNvSpPr txBox="1"/>
          <p:nvPr/>
        </p:nvSpPr>
        <p:spPr>
          <a:xfrm>
            <a:off x="7863840" y="4937760"/>
            <a:ext cx="3611880" cy="548640"/>
          </a:xfrm>
          <a:prstGeom prst="rect">
            <a:avLst/>
          </a:prstGeom>
          <a:noFill/>
          <a:ln/>
        </p:spPr>
        <p:txBody>
          <a:bodyPr wrap="square" lIns="0" tIns="0" rIns="0" bIns="0" rtlCol="0" anchor="t"/>
          <a:lstStyle/>
          <a:p>
            <a:pPr indent="0" marL="0">
              <a:buNone/>
            </a:pPr>
            <a:r>
              <a:rPr lang="en-US" sz="1400" b="1" dirty="0">
                <a:solidFill>
                  <a:schemeClr val="accent1"/>
                </a:solidFill>
              </a:rPr>
              <a:t>Costs</a:t>
            </a:r>
            <a:endParaRPr lang="en-US" sz="1400" dirty="0"/>
          </a:p>
          <a:p>
            <a:pPr indent="0" marL="0">
              <a:buNone/>
            </a:pPr>
            <a:r>
              <a:rPr lang="en-US" sz="1200" dirty="0">
                <a:solidFill>
                  <a:schemeClr val="tx1"/>
                </a:solidFill>
              </a:rPr>
              <a:t>labour, transport, storage, milling</a:t>
            </a:r>
            <a:endParaRPr lang="en-US" sz="1400" dirty="0"/>
          </a:p>
        </p:txBody>
      </p:sp>
      <p:sp>
        <p:nvSpPr>
          <p:cNvPr id="31" name="Field group 7"/>
          <p:cNvSpPr txBox="1"/>
          <p:nvPr/>
        </p:nvSpPr>
        <p:spPr>
          <a:xfrm>
            <a:off x="7863840" y="5522976"/>
            <a:ext cx="3611880" cy="548640"/>
          </a:xfrm>
          <a:prstGeom prst="rect">
            <a:avLst/>
          </a:prstGeom>
          <a:noFill/>
          <a:ln/>
        </p:spPr>
        <p:txBody>
          <a:bodyPr wrap="square" lIns="0" tIns="0" rIns="0" bIns="0" rtlCol="0" anchor="t"/>
          <a:lstStyle/>
          <a:p>
            <a:pPr indent="0" marL="0">
              <a:buNone/>
            </a:pPr>
            <a:r>
              <a:rPr lang="en-US" sz="1400" b="1" dirty="0">
                <a:solidFill>
                  <a:schemeClr val="accent1"/>
                </a:solidFill>
              </a:rPr>
              <a:t>Dates</a:t>
            </a:r>
            <a:endParaRPr lang="en-US" sz="1400" dirty="0"/>
          </a:p>
          <a:p>
            <a:pPr indent="0" marL="0">
              <a:buNone/>
            </a:pPr>
            <a:r>
              <a:rPr lang="en-US" sz="1200" dirty="0">
                <a:solidFill>
                  <a:schemeClr val="tx1"/>
                </a:solidFill>
              </a:rPr>
              <a:t>transaction, due, actual delivery</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How Big Data Solves the Problem</a:t>
            </a:r>
            <a:endParaRPr lang="en-US" sz="3400" dirty="0"/>
          </a:p>
        </p:txBody>
      </p:sp>
      <p:sp>
        <p:nvSpPr>
          <p:cNvPr id="3" name="Column heading 1"/>
          <p:cNvSpPr txBox="1"/>
          <p:nvPr/>
        </p:nvSpPr>
        <p:spPr>
          <a:xfrm>
            <a:off x="548640" y="1280160"/>
            <a:ext cx="2926080" cy="320040"/>
          </a:xfrm>
          <a:prstGeom prst="rect">
            <a:avLst/>
          </a:prstGeom>
          <a:noFill/>
          <a:ln/>
        </p:spPr>
        <p:txBody>
          <a:bodyPr wrap="square" lIns="0" tIns="0" rIns="0" bIns="0" rtlCol="0" anchor="t"/>
          <a:lstStyle/>
          <a:p>
            <a:pPr indent="0" marL="0">
              <a:buNone/>
            </a:pPr>
            <a:r>
              <a:rPr lang="en-US" sz="1600" b="1" dirty="0">
                <a:solidFill>
                  <a:schemeClr val="accent1"/>
                </a:solidFill>
              </a:rPr>
              <a:t>Challenge</a:t>
            </a:r>
            <a:endParaRPr lang="en-US" sz="1600" dirty="0"/>
          </a:p>
        </p:txBody>
      </p:sp>
      <p:sp>
        <p:nvSpPr>
          <p:cNvPr id="4" name="Column heading 2"/>
          <p:cNvSpPr txBox="1"/>
          <p:nvPr/>
        </p:nvSpPr>
        <p:spPr>
          <a:xfrm>
            <a:off x="3749040" y="1280160"/>
            <a:ext cx="4206240" cy="320040"/>
          </a:xfrm>
          <a:prstGeom prst="rect">
            <a:avLst/>
          </a:prstGeom>
          <a:noFill/>
          <a:ln/>
        </p:spPr>
        <p:txBody>
          <a:bodyPr wrap="square" lIns="0" tIns="0" rIns="0" bIns="0" rtlCol="0" anchor="t"/>
          <a:lstStyle/>
          <a:p>
            <a:pPr indent="0" marL="0">
              <a:buNone/>
            </a:pPr>
            <a:r>
              <a:rPr lang="en-US" sz="1600" b="1" dirty="0">
                <a:solidFill>
                  <a:schemeClr val="accent1"/>
                </a:solidFill>
              </a:rPr>
              <a:t>Big data solution</a:t>
            </a:r>
            <a:endParaRPr lang="en-US" sz="1600" dirty="0"/>
          </a:p>
        </p:txBody>
      </p:sp>
      <p:sp>
        <p:nvSpPr>
          <p:cNvPr id="5" name="Column heading 3"/>
          <p:cNvSpPr txBox="1"/>
          <p:nvPr/>
        </p:nvSpPr>
        <p:spPr>
          <a:xfrm>
            <a:off x="8229600" y="1280160"/>
            <a:ext cx="3410712" cy="320040"/>
          </a:xfrm>
          <a:prstGeom prst="rect">
            <a:avLst/>
          </a:prstGeom>
          <a:noFill/>
          <a:ln/>
        </p:spPr>
        <p:txBody>
          <a:bodyPr wrap="square" lIns="0" tIns="0" rIns="0" bIns="0" rtlCol="0" anchor="t"/>
          <a:lstStyle/>
          <a:p>
            <a:pPr indent="0" marL="0">
              <a:buNone/>
            </a:pPr>
            <a:r>
              <a:rPr lang="en-US" sz="1600" b="1" dirty="0">
                <a:solidFill>
                  <a:schemeClr val="accent1"/>
                </a:solidFill>
              </a:rPr>
              <a:t>Outcome</a:t>
            </a:r>
            <a:endParaRPr lang="en-US" sz="1600" dirty="0"/>
          </a:p>
        </p:txBody>
      </p:sp>
      <p:sp>
        <p:nvSpPr>
          <p:cNvPr id="6" name="Challenge card 1"/>
          <p:cNvSpPr/>
          <p:nvPr/>
        </p:nvSpPr>
        <p:spPr>
          <a:xfrm>
            <a:off x="548640" y="1691640"/>
            <a:ext cx="2926080" cy="777240"/>
          </a:xfrm>
          <a:prstGeom prst="roundRect">
            <a:avLst>
              <a:gd name="adj" fmla="val 9412"/>
            </a:avLst>
          </a:prstGeom>
          <a:solidFill>
            <a:schemeClr val="bg2"/>
          </a:solidFill>
          <a:ln w="3175">
            <a:solidFill>
              <a:schemeClr val="bg2"/>
            </a:solidFill>
            <a:prstDash val="solid"/>
          </a:ln>
        </p:spPr>
      </p:sp>
      <p:sp>
        <p:nvSpPr>
          <p:cNvPr id="7" name="Challenge text 1"/>
          <p:cNvSpPr txBox="1"/>
          <p:nvPr/>
        </p:nvSpPr>
        <p:spPr>
          <a:xfrm>
            <a:off x="685800" y="1691640"/>
            <a:ext cx="2651760" cy="777240"/>
          </a:xfrm>
          <a:prstGeom prst="rect">
            <a:avLst/>
          </a:prstGeom>
          <a:noFill/>
          <a:ln/>
        </p:spPr>
        <p:txBody>
          <a:bodyPr wrap="square" lIns="0" tIns="0" rIns="0" bIns="0" rtlCol="0" anchor="ctr"/>
          <a:lstStyle/>
          <a:p>
            <a:pPr indent="0" marL="0">
              <a:buNone/>
            </a:pPr>
            <a:r>
              <a:rPr lang="en-US" sz="1400" dirty="0">
                <a:solidFill>
                  <a:schemeClr val="tx1"/>
                </a:solidFill>
              </a:rPr>
              <a:t>Operational data sits in separate files</a:t>
            </a:r>
            <a:endParaRPr lang="en-US" sz="1400" dirty="0"/>
          </a:p>
        </p:txBody>
      </p:sp>
      <p:sp>
        <p:nvSpPr>
          <p:cNvPr id="8" name="Arrow A1"/>
          <p:cNvSpPr/>
          <p:nvPr/>
        </p:nvSpPr>
        <p:spPr>
          <a:xfrm>
            <a:off x="3547872" y="1938528"/>
            <a:ext cx="128016" cy="274320"/>
          </a:xfrm>
          <a:prstGeom prst="rightArrow">
            <a:avLst/>
          </a:prstGeom>
          <a:solidFill>
            <a:schemeClr val="accent2"/>
          </a:solidFill>
          <a:ln w="12700">
            <a:solidFill>
              <a:schemeClr val="accent2"/>
            </a:solidFill>
            <a:prstDash val="solid"/>
          </a:ln>
        </p:spPr>
      </p:sp>
      <p:sp>
        <p:nvSpPr>
          <p:cNvPr id="9" name="Solution card 1"/>
          <p:cNvSpPr/>
          <p:nvPr/>
        </p:nvSpPr>
        <p:spPr>
          <a:xfrm>
            <a:off x="3749040" y="1691640"/>
            <a:ext cx="4206240" cy="777240"/>
          </a:xfrm>
          <a:prstGeom prst="roundRect">
            <a:avLst>
              <a:gd name="adj" fmla="val 9412"/>
            </a:avLst>
          </a:prstGeom>
          <a:solidFill>
            <a:schemeClr val="tx2"/>
          </a:solidFill>
          <a:ln w="3175">
            <a:solidFill>
              <a:schemeClr val="tx2"/>
            </a:solidFill>
            <a:prstDash val="solid"/>
          </a:ln>
        </p:spPr>
      </p:sp>
      <p:sp>
        <p:nvSpPr>
          <p:cNvPr id="10" name="Solution text 1"/>
          <p:cNvSpPr txBox="1"/>
          <p:nvPr/>
        </p:nvSpPr>
        <p:spPr>
          <a:xfrm>
            <a:off x="3931920" y="1691640"/>
            <a:ext cx="3840480" cy="777240"/>
          </a:xfrm>
          <a:prstGeom prst="rect">
            <a:avLst/>
          </a:prstGeom>
          <a:noFill/>
          <a:ln/>
        </p:spPr>
        <p:txBody>
          <a:bodyPr wrap="square" lIns="0" tIns="0" rIns="0" bIns="0" rtlCol="0" anchor="ctr"/>
          <a:lstStyle/>
          <a:p>
            <a:pPr indent="0" marL="0">
              <a:buNone/>
            </a:pPr>
            <a:r>
              <a:rPr lang="en-US" sz="1400" dirty="0">
                <a:solidFill>
                  <a:schemeClr val="bg1"/>
                </a:solidFill>
              </a:rPr>
              <a:t>Consolidate 100,000 records and 32 columns into one governed dataset</a:t>
            </a:r>
            <a:endParaRPr lang="en-US" sz="1400" dirty="0"/>
          </a:p>
        </p:txBody>
      </p:sp>
      <p:sp>
        <p:nvSpPr>
          <p:cNvPr id="11" name="Arrow B1"/>
          <p:cNvSpPr/>
          <p:nvPr/>
        </p:nvSpPr>
        <p:spPr>
          <a:xfrm>
            <a:off x="8028432" y="1938528"/>
            <a:ext cx="128016" cy="274320"/>
          </a:xfrm>
          <a:prstGeom prst="rightArrow">
            <a:avLst/>
          </a:prstGeom>
          <a:solidFill>
            <a:schemeClr val="accent2"/>
          </a:solidFill>
          <a:ln w="12700">
            <a:solidFill>
              <a:schemeClr val="accent2"/>
            </a:solidFill>
            <a:prstDash val="solid"/>
          </a:ln>
        </p:spPr>
      </p:sp>
      <p:sp>
        <p:nvSpPr>
          <p:cNvPr id="12" name="Outcome card 1"/>
          <p:cNvSpPr/>
          <p:nvPr/>
        </p:nvSpPr>
        <p:spPr>
          <a:xfrm>
            <a:off x="8229600" y="1691640"/>
            <a:ext cx="3410712" cy="777240"/>
          </a:xfrm>
          <a:prstGeom prst="roundRect">
            <a:avLst>
              <a:gd name="adj" fmla="val 9412"/>
            </a:avLst>
          </a:prstGeom>
          <a:solidFill>
            <a:schemeClr val="accent2">
              <a:alpha val="30000"/>
            </a:schemeClr>
          </a:solidFill>
          <a:ln w="3175">
            <a:solidFill>
              <a:schemeClr val="accent2"/>
            </a:solidFill>
            <a:prstDash val="solid"/>
          </a:ln>
        </p:spPr>
      </p:sp>
      <p:sp>
        <p:nvSpPr>
          <p:cNvPr id="13" name="Outcome text 1"/>
          <p:cNvSpPr txBox="1"/>
          <p:nvPr/>
        </p:nvSpPr>
        <p:spPr>
          <a:xfrm>
            <a:off x="8366760" y="1691640"/>
            <a:ext cx="3136392" cy="777240"/>
          </a:xfrm>
          <a:prstGeom prst="rect">
            <a:avLst/>
          </a:prstGeom>
          <a:noFill/>
          <a:ln/>
        </p:spPr>
        <p:txBody>
          <a:bodyPr wrap="square" lIns="0" tIns="0" rIns="0" bIns="0" rtlCol="0" anchor="ctr"/>
          <a:lstStyle/>
          <a:p>
            <a:pPr indent="0" marL="0">
              <a:buNone/>
            </a:pPr>
            <a:r>
              <a:rPr lang="en-US" sz="1400" b="1" dirty="0">
                <a:solidFill>
                  <a:schemeClr val="tx1"/>
                </a:solidFill>
              </a:rPr>
              <a:t>One view of throughput, yield, cost and delivery</a:t>
            </a:r>
            <a:endParaRPr lang="en-US" sz="1400" dirty="0"/>
          </a:p>
        </p:txBody>
      </p:sp>
      <p:sp>
        <p:nvSpPr>
          <p:cNvPr id="14" name="Challenge card 2"/>
          <p:cNvSpPr/>
          <p:nvPr/>
        </p:nvSpPr>
        <p:spPr>
          <a:xfrm>
            <a:off x="548640" y="2578608"/>
            <a:ext cx="2926080" cy="777240"/>
          </a:xfrm>
          <a:prstGeom prst="roundRect">
            <a:avLst>
              <a:gd name="adj" fmla="val 9412"/>
            </a:avLst>
          </a:prstGeom>
          <a:solidFill>
            <a:schemeClr val="bg2"/>
          </a:solidFill>
          <a:ln w="3175">
            <a:solidFill>
              <a:schemeClr val="bg2"/>
            </a:solidFill>
            <a:prstDash val="solid"/>
          </a:ln>
        </p:spPr>
      </p:sp>
      <p:sp>
        <p:nvSpPr>
          <p:cNvPr id="15" name="Challenge text 2"/>
          <p:cNvSpPr txBox="1"/>
          <p:nvPr/>
        </p:nvSpPr>
        <p:spPr>
          <a:xfrm>
            <a:off x="685800" y="2578608"/>
            <a:ext cx="2651760" cy="777240"/>
          </a:xfrm>
          <a:prstGeom prst="rect">
            <a:avLst/>
          </a:prstGeom>
          <a:noFill/>
          <a:ln/>
        </p:spPr>
        <p:txBody>
          <a:bodyPr wrap="square" lIns="0" tIns="0" rIns="0" bIns="0" rtlCol="0" anchor="ctr"/>
          <a:lstStyle/>
          <a:p>
            <a:pPr indent="0" marL="0">
              <a:buNone/>
            </a:pPr>
            <a:r>
              <a:rPr lang="en-US" sz="1400" dirty="0">
                <a:solidFill>
                  <a:schemeClr val="tx1"/>
                </a:solidFill>
              </a:rPr>
              <a:t>KPIs are calculated differently in each tool</a:t>
            </a:r>
            <a:endParaRPr lang="en-US" sz="1400" dirty="0"/>
          </a:p>
        </p:txBody>
      </p:sp>
      <p:sp>
        <p:nvSpPr>
          <p:cNvPr id="16" name="Arrow A2"/>
          <p:cNvSpPr/>
          <p:nvPr/>
        </p:nvSpPr>
        <p:spPr>
          <a:xfrm>
            <a:off x="3547872" y="2825496"/>
            <a:ext cx="128016" cy="274320"/>
          </a:xfrm>
          <a:prstGeom prst="rightArrow">
            <a:avLst/>
          </a:prstGeom>
          <a:solidFill>
            <a:schemeClr val="accent2"/>
          </a:solidFill>
          <a:ln w="12700">
            <a:solidFill>
              <a:schemeClr val="accent2"/>
            </a:solidFill>
            <a:prstDash val="solid"/>
          </a:ln>
        </p:spPr>
      </p:sp>
      <p:sp>
        <p:nvSpPr>
          <p:cNvPr id="17" name="Solution card 2"/>
          <p:cNvSpPr/>
          <p:nvPr/>
        </p:nvSpPr>
        <p:spPr>
          <a:xfrm>
            <a:off x="3749040" y="2578608"/>
            <a:ext cx="4206240" cy="777240"/>
          </a:xfrm>
          <a:prstGeom prst="roundRect">
            <a:avLst>
              <a:gd name="adj" fmla="val 9412"/>
            </a:avLst>
          </a:prstGeom>
          <a:solidFill>
            <a:schemeClr val="tx2"/>
          </a:solidFill>
          <a:ln w="3175">
            <a:solidFill>
              <a:schemeClr val="tx2"/>
            </a:solidFill>
            <a:prstDash val="solid"/>
          </a:ln>
        </p:spPr>
      </p:sp>
      <p:sp>
        <p:nvSpPr>
          <p:cNvPr id="18" name="Solution text 2"/>
          <p:cNvSpPr txBox="1"/>
          <p:nvPr/>
        </p:nvSpPr>
        <p:spPr>
          <a:xfrm>
            <a:off x="3931920" y="2578608"/>
            <a:ext cx="3840480" cy="777240"/>
          </a:xfrm>
          <a:prstGeom prst="rect">
            <a:avLst/>
          </a:prstGeom>
          <a:noFill/>
          <a:ln/>
        </p:spPr>
        <p:txBody>
          <a:bodyPr wrap="square" lIns="0" tIns="0" rIns="0" bIns="0" rtlCol="0" anchor="ctr"/>
          <a:lstStyle/>
          <a:p>
            <a:pPr indent="0" marL="0">
              <a:buNone/>
            </a:pPr>
            <a:r>
              <a:rPr lang="en-US" sz="1400" dirty="0">
                <a:solidFill>
                  <a:schemeClr val="bg1"/>
                </a:solidFill>
              </a:rPr>
              <a:t>One KPI dictionary, reconciled across Python, SQL and Power BI</a:t>
            </a:r>
            <a:endParaRPr lang="en-US" sz="1400" dirty="0"/>
          </a:p>
        </p:txBody>
      </p:sp>
      <p:sp>
        <p:nvSpPr>
          <p:cNvPr id="19" name="Arrow B2"/>
          <p:cNvSpPr/>
          <p:nvPr/>
        </p:nvSpPr>
        <p:spPr>
          <a:xfrm>
            <a:off x="8028432" y="2825496"/>
            <a:ext cx="128016" cy="274320"/>
          </a:xfrm>
          <a:prstGeom prst="rightArrow">
            <a:avLst/>
          </a:prstGeom>
          <a:solidFill>
            <a:schemeClr val="accent2"/>
          </a:solidFill>
          <a:ln w="12700">
            <a:solidFill>
              <a:schemeClr val="accent2"/>
            </a:solidFill>
            <a:prstDash val="solid"/>
          </a:ln>
        </p:spPr>
      </p:sp>
      <p:sp>
        <p:nvSpPr>
          <p:cNvPr id="20" name="Outcome card 2"/>
          <p:cNvSpPr/>
          <p:nvPr/>
        </p:nvSpPr>
        <p:spPr>
          <a:xfrm>
            <a:off x="8229600" y="2578608"/>
            <a:ext cx="3410712" cy="777240"/>
          </a:xfrm>
          <a:prstGeom prst="roundRect">
            <a:avLst>
              <a:gd name="adj" fmla="val 9412"/>
            </a:avLst>
          </a:prstGeom>
          <a:solidFill>
            <a:schemeClr val="accent2">
              <a:alpha val="30000"/>
            </a:schemeClr>
          </a:solidFill>
          <a:ln w="3175">
            <a:solidFill>
              <a:schemeClr val="accent2"/>
            </a:solidFill>
            <a:prstDash val="solid"/>
          </a:ln>
        </p:spPr>
      </p:sp>
      <p:sp>
        <p:nvSpPr>
          <p:cNvPr id="21" name="Outcome text 2"/>
          <p:cNvSpPr txBox="1"/>
          <p:nvPr/>
        </p:nvSpPr>
        <p:spPr>
          <a:xfrm>
            <a:off x="8366760" y="2578608"/>
            <a:ext cx="3136392" cy="777240"/>
          </a:xfrm>
          <a:prstGeom prst="rect">
            <a:avLst/>
          </a:prstGeom>
          <a:noFill/>
          <a:ln/>
        </p:spPr>
        <p:txBody>
          <a:bodyPr wrap="square" lIns="0" tIns="0" rIns="0" bIns="0" rtlCol="0" anchor="ctr"/>
          <a:lstStyle/>
          <a:p>
            <a:pPr indent="0" marL="0">
              <a:buNone/>
            </a:pPr>
            <a:r>
              <a:rPr lang="en-US" sz="1400" b="1" dirty="0">
                <a:solidFill>
                  <a:schemeClr val="tx1"/>
                </a:solidFill>
              </a:rPr>
              <a:t>Consistent, trusted numbers</a:t>
            </a:r>
            <a:endParaRPr lang="en-US" sz="1400" dirty="0"/>
          </a:p>
        </p:txBody>
      </p:sp>
      <p:sp>
        <p:nvSpPr>
          <p:cNvPr id="22" name="Challenge card 3"/>
          <p:cNvSpPr/>
          <p:nvPr/>
        </p:nvSpPr>
        <p:spPr>
          <a:xfrm>
            <a:off x="548640" y="3465576"/>
            <a:ext cx="2926080" cy="777240"/>
          </a:xfrm>
          <a:prstGeom prst="roundRect">
            <a:avLst>
              <a:gd name="adj" fmla="val 9412"/>
            </a:avLst>
          </a:prstGeom>
          <a:solidFill>
            <a:schemeClr val="bg2"/>
          </a:solidFill>
          <a:ln w="3175">
            <a:solidFill>
              <a:schemeClr val="bg2"/>
            </a:solidFill>
            <a:prstDash val="solid"/>
          </a:ln>
        </p:spPr>
      </p:sp>
      <p:sp>
        <p:nvSpPr>
          <p:cNvPr id="23" name="Challenge text 3"/>
          <p:cNvSpPr txBox="1"/>
          <p:nvPr/>
        </p:nvSpPr>
        <p:spPr>
          <a:xfrm>
            <a:off x="685800" y="3465576"/>
            <a:ext cx="2651760" cy="777240"/>
          </a:xfrm>
          <a:prstGeom prst="rect">
            <a:avLst/>
          </a:prstGeom>
          <a:noFill/>
          <a:ln/>
        </p:spPr>
        <p:txBody>
          <a:bodyPr wrap="square" lIns="0" tIns="0" rIns="0" bIns="0" rtlCol="0" anchor="ctr"/>
          <a:lstStyle/>
          <a:p>
            <a:pPr indent="0" marL="0">
              <a:buNone/>
            </a:pPr>
            <a:r>
              <a:rPr lang="en-US" sz="1400" dirty="0">
                <a:solidFill>
                  <a:schemeClr val="tx1"/>
                </a:solidFill>
              </a:rPr>
              <a:t>Data volume can outgrow one machine</a:t>
            </a:r>
            <a:endParaRPr lang="en-US" sz="1400" dirty="0"/>
          </a:p>
        </p:txBody>
      </p:sp>
      <p:sp>
        <p:nvSpPr>
          <p:cNvPr id="24" name="Arrow A3"/>
          <p:cNvSpPr/>
          <p:nvPr/>
        </p:nvSpPr>
        <p:spPr>
          <a:xfrm>
            <a:off x="3547872" y="3712464"/>
            <a:ext cx="128016" cy="274320"/>
          </a:xfrm>
          <a:prstGeom prst="rightArrow">
            <a:avLst/>
          </a:prstGeom>
          <a:solidFill>
            <a:schemeClr val="accent2"/>
          </a:solidFill>
          <a:ln w="12700">
            <a:solidFill>
              <a:schemeClr val="accent2"/>
            </a:solidFill>
            <a:prstDash val="solid"/>
          </a:ln>
        </p:spPr>
      </p:sp>
      <p:sp>
        <p:nvSpPr>
          <p:cNvPr id="25" name="Solution card 3"/>
          <p:cNvSpPr/>
          <p:nvPr/>
        </p:nvSpPr>
        <p:spPr>
          <a:xfrm>
            <a:off x="3749040" y="3465576"/>
            <a:ext cx="4206240" cy="777240"/>
          </a:xfrm>
          <a:prstGeom prst="roundRect">
            <a:avLst>
              <a:gd name="adj" fmla="val 9412"/>
            </a:avLst>
          </a:prstGeom>
          <a:solidFill>
            <a:schemeClr val="tx2"/>
          </a:solidFill>
          <a:ln w="3175">
            <a:solidFill>
              <a:schemeClr val="tx2"/>
            </a:solidFill>
            <a:prstDash val="solid"/>
          </a:ln>
        </p:spPr>
      </p:sp>
      <p:sp>
        <p:nvSpPr>
          <p:cNvPr id="26" name="Solution text 3"/>
          <p:cNvSpPr txBox="1"/>
          <p:nvPr/>
        </p:nvSpPr>
        <p:spPr>
          <a:xfrm>
            <a:off x="3931920" y="3465576"/>
            <a:ext cx="3840480" cy="777240"/>
          </a:xfrm>
          <a:prstGeom prst="rect">
            <a:avLst/>
          </a:prstGeom>
          <a:noFill/>
          <a:ln/>
        </p:spPr>
        <p:txBody>
          <a:bodyPr wrap="square" lIns="0" tIns="0" rIns="0" bIns="0" rtlCol="0" anchor="ctr"/>
          <a:lstStyle/>
          <a:p>
            <a:pPr indent="0" marL="0">
              <a:buNone/>
            </a:pPr>
            <a:r>
              <a:rPr lang="en-US" sz="1400" dirty="0">
                <a:solidFill>
                  <a:schemeClr val="bg1"/>
                </a:solidFill>
              </a:rPr>
              <a:t>PySpark and Delta Lake (Bronze, Silver, Gold) scale the same logic</a:t>
            </a:r>
            <a:endParaRPr lang="en-US" sz="1400" dirty="0"/>
          </a:p>
        </p:txBody>
      </p:sp>
      <p:sp>
        <p:nvSpPr>
          <p:cNvPr id="27" name="Arrow B3"/>
          <p:cNvSpPr/>
          <p:nvPr/>
        </p:nvSpPr>
        <p:spPr>
          <a:xfrm>
            <a:off x="8028432" y="3712464"/>
            <a:ext cx="128016" cy="274320"/>
          </a:xfrm>
          <a:prstGeom prst="rightArrow">
            <a:avLst/>
          </a:prstGeom>
          <a:solidFill>
            <a:schemeClr val="accent2"/>
          </a:solidFill>
          <a:ln w="12700">
            <a:solidFill>
              <a:schemeClr val="accent2"/>
            </a:solidFill>
            <a:prstDash val="solid"/>
          </a:ln>
        </p:spPr>
      </p:sp>
      <p:sp>
        <p:nvSpPr>
          <p:cNvPr id="28" name="Outcome card 3"/>
          <p:cNvSpPr/>
          <p:nvPr/>
        </p:nvSpPr>
        <p:spPr>
          <a:xfrm>
            <a:off x="8229600" y="3465576"/>
            <a:ext cx="3410712" cy="777240"/>
          </a:xfrm>
          <a:prstGeom prst="roundRect">
            <a:avLst>
              <a:gd name="adj" fmla="val 9412"/>
            </a:avLst>
          </a:prstGeom>
          <a:solidFill>
            <a:schemeClr val="accent2">
              <a:alpha val="30000"/>
            </a:schemeClr>
          </a:solidFill>
          <a:ln w="3175">
            <a:solidFill>
              <a:schemeClr val="accent2"/>
            </a:solidFill>
            <a:prstDash val="solid"/>
          </a:ln>
        </p:spPr>
      </p:sp>
      <p:sp>
        <p:nvSpPr>
          <p:cNvPr id="29" name="Outcome text 3"/>
          <p:cNvSpPr txBox="1"/>
          <p:nvPr/>
        </p:nvSpPr>
        <p:spPr>
          <a:xfrm>
            <a:off x="8366760" y="3465576"/>
            <a:ext cx="3136392" cy="777240"/>
          </a:xfrm>
          <a:prstGeom prst="rect">
            <a:avLst/>
          </a:prstGeom>
          <a:noFill/>
          <a:ln/>
        </p:spPr>
        <p:txBody>
          <a:bodyPr wrap="square" lIns="0" tIns="0" rIns="0" bIns="0" rtlCol="0" anchor="ctr"/>
          <a:lstStyle/>
          <a:p>
            <a:pPr indent="0" marL="0">
              <a:buNone/>
            </a:pPr>
            <a:r>
              <a:rPr lang="en-US" sz="1400" b="1" dirty="0">
                <a:solidFill>
                  <a:schemeClr val="tx1"/>
                </a:solidFill>
              </a:rPr>
              <a:t>Pipeline ready for larger data</a:t>
            </a:r>
            <a:endParaRPr lang="en-US" sz="1400" dirty="0"/>
          </a:p>
        </p:txBody>
      </p:sp>
      <p:sp>
        <p:nvSpPr>
          <p:cNvPr id="30" name="Challenge card 4"/>
          <p:cNvSpPr/>
          <p:nvPr/>
        </p:nvSpPr>
        <p:spPr>
          <a:xfrm>
            <a:off x="548640" y="4352544"/>
            <a:ext cx="2926080" cy="777240"/>
          </a:xfrm>
          <a:prstGeom prst="roundRect">
            <a:avLst>
              <a:gd name="adj" fmla="val 9412"/>
            </a:avLst>
          </a:prstGeom>
          <a:solidFill>
            <a:schemeClr val="bg2"/>
          </a:solidFill>
          <a:ln w="3175">
            <a:solidFill>
              <a:schemeClr val="bg2"/>
            </a:solidFill>
            <a:prstDash val="solid"/>
          </a:ln>
        </p:spPr>
      </p:sp>
      <p:sp>
        <p:nvSpPr>
          <p:cNvPr id="31" name="Challenge text 4"/>
          <p:cNvSpPr txBox="1"/>
          <p:nvPr/>
        </p:nvSpPr>
        <p:spPr>
          <a:xfrm>
            <a:off x="685800" y="4352544"/>
            <a:ext cx="2651760" cy="777240"/>
          </a:xfrm>
          <a:prstGeom prst="rect">
            <a:avLst/>
          </a:prstGeom>
          <a:noFill/>
          <a:ln/>
        </p:spPr>
        <p:txBody>
          <a:bodyPr wrap="square" lIns="0" tIns="0" rIns="0" bIns="0" rtlCol="0" anchor="ctr"/>
          <a:lstStyle/>
          <a:p>
            <a:pPr indent="0" marL="0">
              <a:buNone/>
            </a:pPr>
            <a:r>
              <a:rPr lang="en-US" sz="1400" dirty="0">
                <a:solidFill>
                  <a:schemeClr val="tx1"/>
                </a:solidFill>
              </a:rPr>
              <a:t>Quality gaps stay hidden</a:t>
            </a:r>
            <a:endParaRPr lang="en-US" sz="1400" dirty="0"/>
          </a:p>
        </p:txBody>
      </p:sp>
      <p:sp>
        <p:nvSpPr>
          <p:cNvPr id="32" name="Arrow A4"/>
          <p:cNvSpPr/>
          <p:nvPr/>
        </p:nvSpPr>
        <p:spPr>
          <a:xfrm>
            <a:off x="3547872" y="4599432"/>
            <a:ext cx="128016" cy="274320"/>
          </a:xfrm>
          <a:prstGeom prst="rightArrow">
            <a:avLst/>
          </a:prstGeom>
          <a:solidFill>
            <a:schemeClr val="accent2"/>
          </a:solidFill>
          <a:ln w="12700">
            <a:solidFill>
              <a:schemeClr val="accent2"/>
            </a:solidFill>
            <a:prstDash val="solid"/>
          </a:ln>
        </p:spPr>
      </p:sp>
      <p:sp>
        <p:nvSpPr>
          <p:cNvPr id="33" name="Solution card 4"/>
          <p:cNvSpPr/>
          <p:nvPr/>
        </p:nvSpPr>
        <p:spPr>
          <a:xfrm>
            <a:off x="3749040" y="4352544"/>
            <a:ext cx="4206240" cy="777240"/>
          </a:xfrm>
          <a:prstGeom prst="roundRect">
            <a:avLst>
              <a:gd name="adj" fmla="val 9412"/>
            </a:avLst>
          </a:prstGeom>
          <a:solidFill>
            <a:schemeClr val="tx2"/>
          </a:solidFill>
          <a:ln w="3175">
            <a:solidFill>
              <a:schemeClr val="tx2"/>
            </a:solidFill>
            <a:prstDash val="solid"/>
          </a:ln>
        </p:spPr>
      </p:sp>
      <p:sp>
        <p:nvSpPr>
          <p:cNvPr id="34" name="Solution text 4"/>
          <p:cNvSpPr txBox="1"/>
          <p:nvPr/>
        </p:nvSpPr>
        <p:spPr>
          <a:xfrm>
            <a:off x="3931920" y="4352544"/>
            <a:ext cx="3840480" cy="777240"/>
          </a:xfrm>
          <a:prstGeom prst="rect">
            <a:avLst/>
          </a:prstGeom>
          <a:noFill/>
          <a:ln/>
        </p:spPr>
        <p:txBody>
          <a:bodyPr wrap="square" lIns="0" tIns="0" rIns="0" bIns="0" rtlCol="0" anchor="ctr"/>
          <a:lstStyle/>
          <a:p>
            <a:pPr indent="0" marL="0">
              <a:buNone/>
            </a:pPr>
            <a:r>
              <a:rPr lang="en-US" sz="1400" dirty="0">
                <a:solidFill>
                  <a:schemeClr val="bg1"/>
                </a:solidFill>
              </a:rPr>
              <a:t>Automated profiling and quality flags before analysis</a:t>
            </a:r>
            <a:endParaRPr lang="en-US" sz="1400" dirty="0"/>
          </a:p>
        </p:txBody>
      </p:sp>
      <p:sp>
        <p:nvSpPr>
          <p:cNvPr id="35" name="Arrow B4"/>
          <p:cNvSpPr/>
          <p:nvPr/>
        </p:nvSpPr>
        <p:spPr>
          <a:xfrm>
            <a:off x="8028432" y="4599432"/>
            <a:ext cx="128016" cy="274320"/>
          </a:xfrm>
          <a:prstGeom prst="rightArrow">
            <a:avLst/>
          </a:prstGeom>
          <a:solidFill>
            <a:schemeClr val="accent2"/>
          </a:solidFill>
          <a:ln w="12700">
            <a:solidFill>
              <a:schemeClr val="accent2"/>
            </a:solidFill>
            <a:prstDash val="solid"/>
          </a:ln>
        </p:spPr>
      </p:sp>
      <p:sp>
        <p:nvSpPr>
          <p:cNvPr id="36" name="Outcome card 4"/>
          <p:cNvSpPr/>
          <p:nvPr/>
        </p:nvSpPr>
        <p:spPr>
          <a:xfrm>
            <a:off x="8229600" y="4352544"/>
            <a:ext cx="3410712" cy="777240"/>
          </a:xfrm>
          <a:prstGeom prst="roundRect">
            <a:avLst>
              <a:gd name="adj" fmla="val 9412"/>
            </a:avLst>
          </a:prstGeom>
          <a:solidFill>
            <a:schemeClr val="accent2">
              <a:alpha val="30000"/>
            </a:schemeClr>
          </a:solidFill>
          <a:ln w="3175">
            <a:solidFill>
              <a:schemeClr val="accent2"/>
            </a:solidFill>
            <a:prstDash val="solid"/>
          </a:ln>
        </p:spPr>
      </p:sp>
      <p:sp>
        <p:nvSpPr>
          <p:cNvPr id="37" name="Outcome text 4"/>
          <p:cNvSpPr txBox="1"/>
          <p:nvPr/>
        </p:nvSpPr>
        <p:spPr>
          <a:xfrm>
            <a:off x="8366760" y="4352544"/>
            <a:ext cx="3136392" cy="777240"/>
          </a:xfrm>
          <a:prstGeom prst="rect">
            <a:avLst/>
          </a:prstGeom>
          <a:noFill/>
          <a:ln/>
        </p:spPr>
        <p:txBody>
          <a:bodyPr wrap="square" lIns="0" tIns="0" rIns="0" bIns="0" rtlCol="0" anchor="ctr"/>
          <a:lstStyle/>
          <a:p>
            <a:pPr indent="0" marL="0">
              <a:buNone/>
            </a:pPr>
            <a:r>
              <a:rPr lang="en-US" sz="1400" b="1" dirty="0">
                <a:solidFill>
                  <a:schemeClr val="tx1"/>
                </a:solidFill>
              </a:rPr>
              <a:t>1,499 missing cells found; 0 duplicate rows</a:t>
            </a:r>
            <a:endParaRPr lang="en-US" sz="1400" dirty="0"/>
          </a:p>
        </p:txBody>
      </p:sp>
      <p:sp>
        <p:nvSpPr>
          <p:cNvPr id="38" name="Challenge card 5"/>
          <p:cNvSpPr/>
          <p:nvPr/>
        </p:nvSpPr>
        <p:spPr>
          <a:xfrm>
            <a:off x="548640" y="5239512"/>
            <a:ext cx="2926080" cy="777240"/>
          </a:xfrm>
          <a:prstGeom prst="roundRect">
            <a:avLst>
              <a:gd name="adj" fmla="val 9412"/>
            </a:avLst>
          </a:prstGeom>
          <a:solidFill>
            <a:schemeClr val="bg2"/>
          </a:solidFill>
          <a:ln w="3175">
            <a:solidFill>
              <a:schemeClr val="bg2"/>
            </a:solidFill>
            <a:prstDash val="solid"/>
          </a:ln>
        </p:spPr>
      </p:sp>
      <p:sp>
        <p:nvSpPr>
          <p:cNvPr id="39" name="Challenge text 5"/>
          <p:cNvSpPr txBox="1"/>
          <p:nvPr/>
        </p:nvSpPr>
        <p:spPr>
          <a:xfrm>
            <a:off x="685800" y="5239512"/>
            <a:ext cx="2651760" cy="777240"/>
          </a:xfrm>
          <a:prstGeom prst="rect">
            <a:avLst/>
          </a:prstGeom>
          <a:noFill/>
          <a:ln/>
        </p:spPr>
        <p:txBody>
          <a:bodyPr wrap="square" lIns="0" tIns="0" rIns="0" bIns="0" rtlCol="0" anchor="ctr"/>
          <a:lstStyle/>
          <a:p>
            <a:pPr indent="0" marL="0">
              <a:buNone/>
            </a:pPr>
            <a:r>
              <a:rPr lang="en-US" sz="1400" dirty="0">
                <a:solidFill>
                  <a:schemeClr val="tx1"/>
                </a:solidFill>
              </a:rPr>
              <a:t>Reporting is slow and manual</a:t>
            </a:r>
            <a:endParaRPr lang="en-US" sz="1400" dirty="0"/>
          </a:p>
        </p:txBody>
      </p:sp>
      <p:sp>
        <p:nvSpPr>
          <p:cNvPr id="40" name="Arrow A5"/>
          <p:cNvSpPr/>
          <p:nvPr/>
        </p:nvSpPr>
        <p:spPr>
          <a:xfrm>
            <a:off x="3547872" y="5486400"/>
            <a:ext cx="128016" cy="274320"/>
          </a:xfrm>
          <a:prstGeom prst="rightArrow">
            <a:avLst/>
          </a:prstGeom>
          <a:solidFill>
            <a:schemeClr val="accent2"/>
          </a:solidFill>
          <a:ln w="12700">
            <a:solidFill>
              <a:schemeClr val="accent2"/>
            </a:solidFill>
            <a:prstDash val="solid"/>
          </a:ln>
        </p:spPr>
      </p:sp>
      <p:sp>
        <p:nvSpPr>
          <p:cNvPr id="41" name="Solution card 5"/>
          <p:cNvSpPr/>
          <p:nvPr/>
        </p:nvSpPr>
        <p:spPr>
          <a:xfrm>
            <a:off x="3749040" y="5239512"/>
            <a:ext cx="4206240" cy="777240"/>
          </a:xfrm>
          <a:prstGeom prst="roundRect">
            <a:avLst>
              <a:gd name="adj" fmla="val 9412"/>
            </a:avLst>
          </a:prstGeom>
          <a:solidFill>
            <a:schemeClr val="tx2"/>
          </a:solidFill>
          <a:ln w="3175">
            <a:solidFill>
              <a:schemeClr val="tx2"/>
            </a:solidFill>
            <a:prstDash val="solid"/>
          </a:ln>
        </p:spPr>
      </p:sp>
      <p:sp>
        <p:nvSpPr>
          <p:cNvPr id="42" name="Solution text 5"/>
          <p:cNvSpPr txBox="1"/>
          <p:nvPr/>
        </p:nvSpPr>
        <p:spPr>
          <a:xfrm>
            <a:off x="3931920" y="5239512"/>
            <a:ext cx="3840480" cy="777240"/>
          </a:xfrm>
          <a:prstGeom prst="rect">
            <a:avLst/>
          </a:prstGeom>
          <a:noFill/>
          <a:ln/>
        </p:spPr>
        <p:txBody>
          <a:bodyPr wrap="square" lIns="0" tIns="0" rIns="0" bIns="0" rtlCol="0" anchor="ctr"/>
          <a:lstStyle/>
          <a:p>
            <a:pPr indent="0" marL="0">
              <a:buNone/>
            </a:pPr>
            <a:r>
              <a:rPr lang="en-US" sz="1400" dirty="0">
                <a:solidFill>
                  <a:schemeClr val="bg1"/>
                </a:solidFill>
              </a:rPr>
              <a:t>Gold aggregates feed Power BI dashboards with slicers</a:t>
            </a:r>
            <a:endParaRPr lang="en-US" sz="1400" dirty="0"/>
          </a:p>
        </p:txBody>
      </p:sp>
      <p:sp>
        <p:nvSpPr>
          <p:cNvPr id="43" name="Arrow B5"/>
          <p:cNvSpPr/>
          <p:nvPr/>
        </p:nvSpPr>
        <p:spPr>
          <a:xfrm>
            <a:off x="8028432" y="5486400"/>
            <a:ext cx="128016" cy="274320"/>
          </a:xfrm>
          <a:prstGeom prst="rightArrow">
            <a:avLst/>
          </a:prstGeom>
          <a:solidFill>
            <a:schemeClr val="accent2"/>
          </a:solidFill>
          <a:ln w="12700">
            <a:solidFill>
              <a:schemeClr val="accent2"/>
            </a:solidFill>
            <a:prstDash val="solid"/>
          </a:ln>
        </p:spPr>
      </p:sp>
      <p:sp>
        <p:nvSpPr>
          <p:cNvPr id="44" name="Outcome card 5"/>
          <p:cNvSpPr/>
          <p:nvPr/>
        </p:nvSpPr>
        <p:spPr>
          <a:xfrm>
            <a:off x="8229600" y="5239512"/>
            <a:ext cx="3410712" cy="777240"/>
          </a:xfrm>
          <a:prstGeom prst="roundRect">
            <a:avLst>
              <a:gd name="adj" fmla="val 9412"/>
            </a:avLst>
          </a:prstGeom>
          <a:solidFill>
            <a:schemeClr val="accent2">
              <a:alpha val="30000"/>
            </a:schemeClr>
          </a:solidFill>
          <a:ln w="3175">
            <a:solidFill>
              <a:schemeClr val="accent2"/>
            </a:solidFill>
            <a:prstDash val="solid"/>
          </a:ln>
        </p:spPr>
      </p:sp>
      <p:sp>
        <p:nvSpPr>
          <p:cNvPr id="45" name="Outcome text 5"/>
          <p:cNvSpPr txBox="1"/>
          <p:nvPr/>
        </p:nvSpPr>
        <p:spPr>
          <a:xfrm>
            <a:off x="8366760" y="5239512"/>
            <a:ext cx="3136392" cy="777240"/>
          </a:xfrm>
          <a:prstGeom prst="rect">
            <a:avLst/>
          </a:prstGeom>
          <a:noFill/>
          <a:ln/>
        </p:spPr>
        <p:txBody>
          <a:bodyPr wrap="square" lIns="0" tIns="0" rIns="0" bIns="0" rtlCol="0" anchor="ctr"/>
          <a:lstStyle/>
          <a:p>
            <a:pPr indent="0" marL="0">
              <a:buNone/>
            </a:pPr>
            <a:r>
              <a:rPr lang="en-US" sz="1400" b="1" dirty="0">
                <a:solidFill>
                  <a:schemeClr val="tx1"/>
                </a:solidFill>
              </a:rPr>
              <a:t>Faster, decision-ready monitoring</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Solution Architecture</a:t>
            </a:r>
            <a:endParaRPr lang="en-US" sz="3400" dirty="0"/>
          </a:p>
        </p:txBody>
      </p:sp>
      <p:sp>
        <p:nvSpPr>
          <p:cNvPr id="3" name="Architecture card 1"/>
          <p:cNvSpPr/>
          <p:nvPr/>
        </p:nvSpPr>
        <p:spPr>
          <a:xfrm>
            <a:off x="548640" y="1371600"/>
            <a:ext cx="1371600" cy="2697480"/>
          </a:xfrm>
          <a:prstGeom prst="roundRect">
            <a:avLst>
              <a:gd name="adj" fmla="val 5333"/>
            </a:avLst>
          </a:prstGeom>
          <a:solidFill>
            <a:schemeClr val="bg2"/>
          </a:solidFill>
          <a:ln w="12700">
            <a:solidFill>
              <a:schemeClr val="accent6"/>
            </a:solidFill>
            <a:prstDash val="solid"/>
          </a:ln>
        </p:spPr>
      </p:sp>
      <p:sp>
        <p:nvSpPr>
          <p:cNvPr id="4" name="Icon circle 1"/>
          <p:cNvSpPr/>
          <p:nvPr/>
        </p:nvSpPr>
        <p:spPr>
          <a:xfrm>
            <a:off x="914400" y="1554480"/>
            <a:ext cx="640080" cy="640080"/>
          </a:xfrm>
          <a:prstGeom prst="ellipse">
            <a:avLst/>
          </a:prstGeom>
          <a:solidFill>
            <a:schemeClr val="accent1"/>
          </a:solidFill>
          <a:ln w="12700">
            <a:solidFill>
              <a:schemeClr val="accent1"/>
            </a:solidFill>
            <a:prstDash val="solid"/>
          </a:ln>
        </p:spPr>
      </p:sp>
      <p:pic>
        <p:nvPicPr>
          <p:cNvPr id="5" name="Image 0" descr="CSV source icon">    </p:cNvPr>
          <p:cNvPicPr>
            <a:picLocks noChangeAspect="1"/>
          </p:cNvPicPr>
          <p:nvPr/>
        </p:nvPicPr>
        <p:blipFill>
          <a:blip r:embed="rId1"/>
          <a:stretch>
            <a:fillRect/>
          </a:stretch>
        </p:blipFill>
        <p:spPr>
          <a:xfrm>
            <a:off x="1051560" y="1691640"/>
            <a:ext cx="365760" cy="365760"/>
          </a:xfrm>
          <a:prstGeom prst="rect">
            <a:avLst/>
          </a:prstGeom>
        </p:spPr>
      </p:pic>
      <p:sp>
        <p:nvSpPr>
          <p:cNvPr id="6" name="Architecture name 1"/>
          <p:cNvSpPr txBox="1"/>
          <p:nvPr/>
        </p:nvSpPr>
        <p:spPr>
          <a:xfrm>
            <a:off x="640080" y="2377440"/>
            <a:ext cx="1188720" cy="594360"/>
          </a:xfrm>
          <a:prstGeom prst="rect">
            <a:avLst/>
          </a:prstGeom>
          <a:noFill/>
          <a:ln/>
        </p:spPr>
        <p:txBody>
          <a:bodyPr wrap="square" lIns="0" tIns="0" rIns="0" bIns="0" rtlCol="0" anchor="t"/>
          <a:lstStyle/>
          <a:p>
            <a:pPr algn="ctr" indent="0" marL="0">
              <a:buNone/>
            </a:pPr>
            <a:r>
              <a:rPr lang="en-US" sz="1400" b="1" dirty="0">
                <a:solidFill>
                  <a:schemeClr val="tx2"/>
                </a:solidFill>
              </a:rPr>
              <a:t>CSV source</a:t>
            </a:r>
            <a:endParaRPr lang="en-US" sz="1400" dirty="0"/>
          </a:p>
        </p:txBody>
      </p:sp>
      <p:sp>
        <p:nvSpPr>
          <p:cNvPr id="7" name="Architecture role 1"/>
          <p:cNvSpPr txBox="1"/>
          <p:nvPr/>
        </p:nvSpPr>
        <p:spPr>
          <a:xfrm>
            <a:off x="640080" y="3017520"/>
            <a:ext cx="1188720" cy="960120"/>
          </a:xfrm>
          <a:prstGeom prst="rect">
            <a:avLst/>
          </a:prstGeom>
          <a:noFill/>
          <a:ln/>
        </p:spPr>
        <p:txBody>
          <a:bodyPr wrap="square" lIns="0" tIns="0" rIns="0" bIns="0" rtlCol="0" anchor="t"/>
          <a:lstStyle/>
          <a:p>
            <a:pPr algn="ctr" indent="0" marL="0">
              <a:buNone/>
            </a:pPr>
            <a:r>
              <a:rPr lang="en-US" sz="1200" dirty="0">
                <a:solidFill>
                  <a:schemeClr val="tx1"/>
                </a:solidFill>
              </a:rPr>
              <a:t>Original records and provenance</a:t>
            </a:r>
            <a:endParaRPr lang="en-US" sz="1200" dirty="0"/>
          </a:p>
        </p:txBody>
      </p:sp>
      <p:sp>
        <p:nvSpPr>
          <p:cNvPr id="8" name="Flow arrow 1"/>
          <p:cNvSpPr/>
          <p:nvPr/>
        </p:nvSpPr>
        <p:spPr>
          <a:xfrm>
            <a:off x="1975104" y="2578608"/>
            <a:ext cx="137160" cy="274320"/>
          </a:xfrm>
          <a:prstGeom prst="rightArrow">
            <a:avLst/>
          </a:prstGeom>
          <a:solidFill>
            <a:schemeClr val="accent2"/>
          </a:solidFill>
          <a:ln w="12700">
            <a:solidFill>
              <a:schemeClr val="accent2"/>
            </a:solidFill>
            <a:prstDash val="solid"/>
          </a:ln>
        </p:spPr>
      </p:sp>
      <p:sp>
        <p:nvSpPr>
          <p:cNvPr id="9" name="Architecture card 2"/>
          <p:cNvSpPr/>
          <p:nvPr/>
        </p:nvSpPr>
        <p:spPr>
          <a:xfrm>
            <a:off x="2167128" y="1371600"/>
            <a:ext cx="1371600" cy="2697480"/>
          </a:xfrm>
          <a:prstGeom prst="roundRect">
            <a:avLst>
              <a:gd name="adj" fmla="val 5333"/>
            </a:avLst>
          </a:prstGeom>
          <a:solidFill>
            <a:schemeClr val="bg2"/>
          </a:solidFill>
          <a:ln w="12700">
            <a:solidFill>
              <a:schemeClr val="accent6"/>
            </a:solidFill>
            <a:prstDash val="solid"/>
          </a:ln>
        </p:spPr>
      </p:sp>
      <p:sp>
        <p:nvSpPr>
          <p:cNvPr id="10" name="Icon circle 2"/>
          <p:cNvSpPr/>
          <p:nvPr/>
        </p:nvSpPr>
        <p:spPr>
          <a:xfrm>
            <a:off x="2532888" y="1554480"/>
            <a:ext cx="640080" cy="640080"/>
          </a:xfrm>
          <a:prstGeom prst="ellipse">
            <a:avLst/>
          </a:prstGeom>
          <a:solidFill>
            <a:schemeClr val="accent1"/>
          </a:solidFill>
          <a:ln w="12700">
            <a:solidFill>
              <a:schemeClr val="accent1"/>
            </a:solidFill>
            <a:prstDash val="solid"/>
          </a:ln>
        </p:spPr>
      </p:sp>
      <p:pic>
        <p:nvPicPr>
          <p:cNvPr id="11" name="Image 1" descr="Python / pandas icon">    </p:cNvPr>
          <p:cNvPicPr>
            <a:picLocks noChangeAspect="1"/>
          </p:cNvPicPr>
          <p:nvPr/>
        </p:nvPicPr>
        <p:blipFill>
          <a:blip r:embed="rId2"/>
          <a:stretch>
            <a:fillRect/>
          </a:stretch>
        </p:blipFill>
        <p:spPr>
          <a:xfrm>
            <a:off x="2670048" y="1691640"/>
            <a:ext cx="365760" cy="365760"/>
          </a:xfrm>
          <a:prstGeom prst="rect">
            <a:avLst/>
          </a:prstGeom>
        </p:spPr>
      </p:pic>
      <p:sp>
        <p:nvSpPr>
          <p:cNvPr id="12" name="Architecture name 2"/>
          <p:cNvSpPr txBox="1"/>
          <p:nvPr/>
        </p:nvSpPr>
        <p:spPr>
          <a:xfrm>
            <a:off x="2258568" y="2377440"/>
            <a:ext cx="1188720" cy="594360"/>
          </a:xfrm>
          <a:prstGeom prst="rect">
            <a:avLst/>
          </a:prstGeom>
          <a:noFill/>
          <a:ln/>
        </p:spPr>
        <p:txBody>
          <a:bodyPr wrap="square" lIns="0" tIns="0" rIns="0" bIns="0" rtlCol="0" anchor="t"/>
          <a:lstStyle/>
          <a:p>
            <a:pPr algn="ctr" indent="0" marL="0">
              <a:buNone/>
            </a:pPr>
            <a:r>
              <a:rPr lang="en-US" sz="1400" b="1" dirty="0">
                <a:solidFill>
                  <a:schemeClr val="tx2"/>
                </a:solidFill>
              </a:rPr>
              <a:t>Python / pandas</a:t>
            </a:r>
            <a:endParaRPr lang="en-US" sz="1400" dirty="0"/>
          </a:p>
        </p:txBody>
      </p:sp>
      <p:sp>
        <p:nvSpPr>
          <p:cNvPr id="13" name="Architecture role 2"/>
          <p:cNvSpPr txBox="1"/>
          <p:nvPr/>
        </p:nvSpPr>
        <p:spPr>
          <a:xfrm>
            <a:off x="2258568" y="3017520"/>
            <a:ext cx="1188720" cy="960120"/>
          </a:xfrm>
          <a:prstGeom prst="rect">
            <a:avLst/>
          </a:prstGeom>
          <a:noFill/>
          <a:ln/>
        </p:spPr>
        <p:txBody>
          <a:bodyPr wrap="square" lIns="0" tIns="0" rIns="0" bIns="0" rtlCol="0" anchor="t"/>
          <a:lstStyle/>
          <a:p>
            <a:pPr algn="ctr" indent="0" marL="0">
              <a:buNone/>
            </a:pPr>
            <a:r>
              <a:rPr lang="en-US" sz="1200" dirty="0">
                <a:solidFill>
                  <a:schemeClr val="tx1"/>
                </a:solidFill>
              </a:rPr>
              <a:t>Profiling, cleaning and summaries</a:t>
            </a:r>
            <a:endParaRPr lang="en-US" sz="1200" dirty="0"/>
          </a:p>
        </p:txBody>
      </p:sp>
      <p:sp>
        <p:nvSpPr>
          <p:cNvPr id="14" name="Flow arrow 2"/>
          <p:cNvSpPr/>
          <p:nvPr/>
        </p:nvSpPr>
        <p:spPr>
          <a:xfrm>
            <a:off x="3593592" y="2578608"/>
            <a:ext cx="137160" cy="274320"/>
          </a:xfrm>
          <a:prstGeom prst="rightArrow">
            <a:avLst/>
          </a:prstGeom>
          <a:solidFill>
            <a:schemeClr val="accent2"/>
          </a:solidFill>
          <a:ln w="12700">
            <a:solidFill>
              <a:schemeClr val="accent2"/>
            </a:solidFill>
            <a:prstDash val="solid"/>
          </a:ln>
        </p:spPr>
      </p:sp>
      <p:sp>
        <p:nvSpPr>
          <p:cNvPr id="15" name="Architecture card 3"/>
          <p:cNvSpPr/>
          <p:nvPr/>
        </p:nvSpPr>
        <p:spPr>
          <a:xfrm>
            <a:off x="3785616" y="1371600"/>
            <a:ext cx="1371600" cy="2697480"/>
          </a:xfrm>
          <a:prstGeom prst="roundRect">
            <a:avLst>
              <a:gd name="adj" fmla="val 5333"/>
            </a:avLst>
          </a:prstGeom>
          <a:solidFill>
            <a:schemeClr val="bg2"/>
          </a:solidFill>
          <a:ln w="12700">
            <a:solidFill>
              <a:schemeClr val="accent6"/>
            </a:solidFill>
            <a:prstDash val="solid"/>
          </a:ln>
        </p:spPr>
      </p:sp>
      <p:sp>
        <p:nvSpPr>
          <p:cNvPr id="16" name="Icon circle 3"/>
          <p:cNvSpPr/>
          <p:nvPr/>
        </p:nvSpPr>
        <p:spPr>
          <a:xfrm>
            <a:off x="4151376" y="1554480"/>
            <a:ext cx="640080" cy="640080"/>
          </a:xfrm>
          <a:prstGeom prst="ellipse">
            <a:avLst/>
          </a:prstGeom>
          <a:solidFill>
            <a:schemeClr val="accent1"/>
          </a:solidFill>
          <a:ln w="12700">
            <a:solidFill>
              <a:schemeClr val="accent1"/>
            </a:solidFill>
            <a:prstDash val="solid"/>
          </a:ln>
        </p:spPr>
      </p:sp>
      <p:pic>
        <p:nvPicPr>
          <p:cNvPr id="17" name="Image 2" descr="PostgreSQL + DBeaver icon">    </p:cNvPr>
          <p:cNvPicPr>
            <a:picLocks noChangeAspect="1"/>
          </p:cNvPicPr>
          <p:nvPr/>
        </p:nvPicPr>
        <p:blipFill>
          <a:blip r:embed="rId3"/>
          <a:stretch>
            <a:fillRect/>
          </a:stretch>
        </p:blipFill>
        <p:spPr>
          <a:xfrm>
            <a:off x="4288536" y="1691640"/>
            <a:ext cx="365760" cy="365760"/>
          </a:xfrm>
          <a:prstGeom prst="rect">
            <a:avLst/>
          </a:prstGeom>
        </p:spPr>
      </p:pic>
      <p:sp>
        <p:nvSpPr>
          <p:cNvPr id="18" name="Architecture name 3"/>
          <p:cNvSpPr txBox="1"/>
          <p:nvPr/>
        </p:nvSpPr>
        <p:spPr>
          <a:xfrm>
            <a:off x="3877056" y="2377440"/>
            <a:ext cx="1188720" cy="594360"/>
          </a:xfrm>
          <a:prstGeom prst="rect">
            <a:avLst/>
          </a:prstGeom>
          <a:noFill/>
          <a:ln/>
        </p:spPr>
        <p:txBody>
          <a:bodyPr wrap="square" lIns="0" tIns="0" rIns="0" bIns="0" rtlCol="0" anchor="t"/>
          <a:lstStyle/>
          <a:p>
            <a:pPr algn="ctr" indent="0" marL="0">
              <a:buNone/>
            </a:pPr>
            <a:r>
              <a:rPr lang="en-US" sz="1400" b="1" dirty="0">
                <a:solidFill>
                  <a:schemeClr val="tx2"/>
                </a:solidFill>
              </a:rPr>
              <a:t>PostgreSQL + DBeaver</a:t>
            </a:r>
            <a:endParaRPr lang="en-US" sz="1400" dirty="0"/>
          </a:p>
        </p:txBody>
      </p:sp>
      <p:sp>
        <p:nvSpPr>
          <p:cNvPr id="19" name="Architecture role 3"/>
          <p:cNvSpPr txBox="1"/>
          <p:nvPr/>
        </p:nvSpPr>
        <p:spPr>
          <a:xfrm>
            <a:off x="3877056" y="3017520"/>
            <a:ext cx="1188720" cy="960120"/>
          </a:xfrm>
          <a:prstGeom prst="rect">
            <a:avLst/>
          </a:prstGeom>
          <a:noFill/>
          <a:ln/>
        </p:spPr>
        <p:txBody>
          <a:bodyPr wrap="square" lIns="0" tIns="0" rIns="0" bIns="0" rtlCol="0" anchor="t"/>
          <a:lstStyle/>
          <a:p>
            <a:pPr algn="ctr" indent="0" marL="0">
              <a:buNone/>
            </a:pPr>
            <a:r>
              <a:rPr lang="en-US" sz="1200" dirty="0">
                <a:solidFill>
                  <a:schemeClr val="tx1"/>
                </a:solidFill>
              </a:rPr>
              <a:t>Tables, constraints and SQL analytics</a:t>
            </a:r>
            <a:endParaRPr lang="en-US" sz="1200" dirty="0"/>
          </a:p>
        </p:txBody>
      </p:sp>
      <p:sp>
        <p:nvSpPr>
          <p:cNvPr id="20" name="Flow arrow 3"/>
          <p:cNvSpPr/>
          <p:nvPr/>
        </p:nvSpPr>
        <p:spPr>
          <a:xfrm>
            <a:off x="5212080" y="2578608"/>
            <a:ext cx="137160" cy="274320"/>
          </a:xfrm>
          <a:prstGeom prst="rightArrow">
            <a:avLst/>
          </a:prstGeom>
          <a:solidFill>
            <a:schemeClr val="accent2"/>
          </a:solidFill>
          <a:ln w="12700">
            <a:solidFill>
              <a:schemeClr val="accent2"/>
            </a:solidFill>
            <a:prstDash val="solid"/>
          </a:ln>
        </p:spPr>
      </p:sp>
      <p:sp>
        <p:nvSpPr>
          <p:cNvPr id="21" name="Architecture card 4"/>
          <p:cNvSpPr/>
          <p:nvPr/>
        </p:nvSpPr>
        <p:spPr>
          <a:xfrm>
            <a:off x="5404104" y="1371600"/>
            <a:ext cx="1371600" cy="2697480"/>
          </a:xfrm>
          <a:prstGeom prst="roundRect">
            <a:avLst>
              <a:gd name="adj" fmla="val 5333"/>
            </a:avLst>
          </a:prstGeom>
          <a:solidFill>
            <a:schemeClr val="bg2"/>
          </a:solidFill>
          <a:ln w="12700">
            <a:solidFill>
              <a:schemeClr val="accent6"/>
            </a:solidFill>
            <a:prstDash val="solid"/>
          </a:ln>
        </p:spPr>
      </p:sp>
      <p:sp>
        <p:nvSpPr>
          <p:cNvPr id="22" name="Icon circle 4"/>
          <p:cNvSpPr/>
          <p:nvPr/>
        </p:nvSpPr>
        <p:spPr>
          <a:xfrm>
            <a:off x="5769864" y="1554480"/>
            <a:ext cx="640080" cy="640080"/>
          </a:xfrm>
          <a:prstGeom prst="ellipse">
            <a:avLst/>
          </a:prstGeom>
          <a:solidFill>
            <a:schemeClr val="accent1"/>
          </a:solidFill>
          <a:ln w="12700">
            <a:solidFill>
              <a:schemeClr val="accent1"/>
            </a:solidFill>
            <a:prstDash val="solid"/>
          </a:ln>
        </p:spPr>
      </p:sp>
      <p:pic>
        <p:nvPicPr>
          <p:cNvPr id="23" name="Image 3" descr="Databricks / PySpark icon">    </p:cNvPr>
          <p:cNvPicPr>
            <a:picLocks noChangeAspect="1"/>
          </p:cNvPicPr>
          <p:nvPr/>
        </p:nvPicPr>
        <p:blipFill>
          <a:blip r:embed="rId4"/>
          <a:stretch>
            <a:fillRect/>
          </a:stretch>
        </p:blipFill>
        <p:spPr>
          <a:xfrm>
            <a:off x="5907024" y="1691640"/>
            <a:ext cx="365760" cy="365760"/>
          </a:xfrm>
          <a:prstGeom prst="rect">
            <a:avLst/>
          </a:prstGeom>
        </p:spPr>
      </p:pic>
      <p:sp>
        <p:nvSpPr>
          <p:cNvPr id="24" name="Architecture name 4"/>
          <p:cNvSpPr txBox="1"/>
          <p:nvPr/>
        </p:nvSpPr>
        <p:spPr>
          <a:xfrm>
            <a:off x="5495544" y="2377440"/>
            <a:ext cx="1188720" cy="594360"/>
          </a:xfrm>
          <a:prstGeom prst="rect">
            <a:avLst/>
          </a:prstGeom>
          <a:noFill/>
          <a:ln/>
        </p:spPr>
        <p:txBody>
          <a:bodyPr wrap="square" lIns="0" tIns="0" rIns="0" bIns="0" rtlCol="0" anchor="t"/>
          <a:lstStyle/>
          <a:p>
            <a:pPr algn="ctr" indent="0" marL="0">
              <a:buNone/>
            </a:pPr>
            <a:r>
              <a:rPr lang="en-US" sz="1400" b="1" dirty="0">
                <a:solidFill>
                  <a:schemeClr val="tx2"/>
                </a:solidFill>
              </a:rPr>
              <a:t>Databricks / PySpark</a:t>
            </a:r>
            <a:endParaRPr lang="en-US" sz="1400" dirty="0"/>
          </a:p>
        </p:txBody>
      </p:sp>
      <p:sp>
        <p:nvSpPr>
          <p:cNvPr id="25" name="Architecture role 4"/>
          <p:cNvSpPr txBox="1"/>
          <p:nvPr/>
        </p:nvSpPr>
        <p:spPr>
          <a:xfrm>
            <a:off x="5495544" y="3017520"/>
            <a:ext cx="1188720" cy="960120"/>
          </a:xfrm>
          <a:prstGeom prst="rect">
            <a:avLst/>
          </a:prstGeom>
          <a:noFill/>
          <a:ln/>
        </p:spPr>
        <p:txBody>
          <a:bodyPr wrap="square" lIns="0" tIns="0" rIns="0" bIns="0" rtlCol="0" anchor="t"/>
          <a:lstStyle/>
          <a:p>
            <a:pPr algn="ctr" indent="0" marL="0">
              <a:buNone/>
            </a:pPr>
            <a:r>
              <a:rPr lang="en-US" sz="1200" dirty="0">
                <a:solidFill>
                  <a:schemeClr val="tx1"/>
                </a:solidFill>
              </a:rPr>
              <a:t>Scalable transformations</a:t>
            </a:r>
            <a:endParaRPr lang="en-US" sz="1200" dirty="0"/>
          </a:p>
        </p:txBody>
      </p:sp>
      <p:sp>
        <p:nvSpPr>
          <p:cNvPr id="26" name="Flow arrow 4"/>
          <p:cNvSpPr/>
          <p:nvPr/>
        </p:nvSpPr>
        <p:spPr>
          <a:xfrm>
            <a:off x="6830568" y="2578608"/>
            <a:ext cx="137160" cy="274320"/>
          </a:xfrm>
          <a:prstGeom prst="rightArrow">
            <a:avLst/>
          </a:prstGeom>
          <a:solidFill>
            <a:schemeClr val="accent2"/>
          </a:solidFill>
          <a:ln w="12700">
            <a:solidFill>
              <a:schemeClr val="accent2"/>
            </a:solidFill>
            <a:prstDash val="solid"/>
          </a:ln>
        </p:spPr>
      </p:sp>
      <p:sp>
        <p:nvSpPr>
          <p:cNvPr id="27" name="Architecture card 5"/>
          <p:cNvSpPr/>
          <p:nvPr/>
        </p:nvSpPr>
        <p:spPr>
          <a:xfrm>
            <a:off x="7022592" y="1371600"/>
            <a:ext cx="1371600" cy="2697480"/>
          </a:xfrm>
          <a:prstGeom prst="roundRect">
            <a:avLst>
              <a:gd name="adj" fmla="val 5333"/>
            </a:avLst>
          </a:prstGeom>
          <a:solidFill>
            <a:schemeClr val="bg2"/>
          </a:solidFill>
          <a:ln w="12700">
            <a:solidFill>
              <a:schemeClr val="accent6"/>
            </a:solidFill>
            <a:prstDash val="solid"/>
          </a:ln>
        </p:spPr>
      </p:sp>
      <p:sp>
        <p:nvSpPr>
          <p:cNvPr id="28" name="Icon circle 5"/>
          <p:cNvSpPr/>
          <p:nvPr/>
        </p:nvSpPr>
        <p:spPr>
          <a:xfrm>
            <a:off x="7388352" y="1554480"/>
            <a:ext cx="640080" cy="640080"/>
          </a:xfrm>
          <a:prstGeom prst="ellipse">
            <a:avLst/>
          </a:prstGeom>
          <a:solidFill>
            <a:schemeClr val="accent1"/>
          </a:solidFill>
          <a:ln w="12700">
            <a:solidFill>
              <a:schemeClr val="accent1"/>
            </a:solidFill>
            <a:prstDash val="solid"/>
          </a:ln>
        </p:spPr>
      </p:sp>
      <p:pic>
        <p:nvPicPr>
          <p:cNvPr id="29" name="Image 4" descr="Delta Lake icon">    </p:cNvPr>
          <p:cNvPicPr>
            <a:picLocks noChangeAspect="1"/>
          </p:cNvPicPr>
          <p:nvPr/>
        </p:nvPicPr>
        <p:blipFill>
          <a:blip r:embed="rId5"/>
          <a:stretch>
            <a:fillRect/>
          </a:stretch>
        </p:blipFill>
        <p:spPr>
          <a:xfrm>
            <a:off x="7525512" y="1691640"/>
            <a:ext cx="365760" cy="365760"/>
          </a:xfrm>
          <a:prstGeom prst="rect">
            <a:avLst/>
          </a:prstGeom>
        </p:spPr>
      </p:pic>
      <p:sp>
        <p:nvSpPr>
          <p:cNvPr id="30" name="Architecture name 5"/>
          <p:cNvSpPr txBox="1"/>
          <p:nvPr/>
        </p:nvSpPr>
        <p:spPr>
          <a:xfrm>
            <a:off x="7114032" y="2377440"/>
            <a:ext cx="1188720" cy="594360"/>
          </a:xfrm>
          <a:prstGeom prst="rect">
            <a:avLst/>
          </a:prstGeom>
          <a:noFill/>
          <a:ln/>
        </p:spPr>
        <p:txBody>
          <a:bodyPr wrap="square" lIns="0" tIns="0" rIns="0" bIns="0" rtlCol="0" anchor="t"/>
          <a:lstStyle/>
          <a:p>
            <a:pPr algn="ctr" indent="0" marL="0">
              <a:buNone/>
            </a:pPr>
            <a:r>
              <a:rPr lang="en-US" sz="1400" b="1" dirty="0">
                <a:solidFill>
                  <a:schemeClr val="tx2"/>
                </a:solidFill>
              </a:rPr>
              <a:t>Delta Lake</a:t>
            </a:r>
            <a:endParaRPr lang="en-US" sz="1400" dirty="0"/>
          </a:p>
        </p:txBody>
      </p:sp>
      <p:sp>
        <p:nvSpPr>
          <p:cNvPr id="31" name="Architecture role 5"/>
          <p:cNvSpPr txBox="1"/>
          <p:nvPr/>
        </p:nvSpPr>
        <p:spPr>
          <a:xfrm>
            <a:off x="7114032" y="3017520"/>
            <a:ext cx="1188720" cy="960120"/>
          </a:xfrm>
          <a:prstGeom prst="rect">
            <a:avLst/>
          </a:prstGeom>
          <a:noFill/>
          <a:ln/>
        </p:spPr>
        <p:txBody>
          <a:bodyPr wrap="square" lIns="0" tIns="0" rIns="0" bIns="0" rtlCol="0" anchor="t"/>
          <a:lstStyle/>
          <a:p>
            <a:pPr algn="ctr" indent="0" marL="0">
              <a:buNone/>
            </a:pPr>
            <a:r>
              <a:rPr lang="en-US" sz="1200" dirty="0">
                <a:solidFill>
                  <a:schemeClr val="tx1"/>
                </a:solidFill>
              </a:rPr>
              <a:t>Bronze, Silver and Gold tables</a:t>
            </a:r>
            <a:endParaRPr lang="en-US" sz="1200" dirty="0"/>
          </a:p>
        </p:txBody>
      </p:sp>
      <p:sp>
        <p:nvSpPr>
          <p:cNvPr id="32" name="Flow arrow 5"/>
          <p:cNvSpPr/>
          <p:nvPr/>
        </p:nvSpPr>
        <p:spPr>
          <a:xfrm>
            <a:off x="8449056" y="2578608"/>
            <a:ext cx="137160" cy="274320"/>
          </a:xfrm>
          <a:prstGeom prst="rightArrow">
            <a:avLst/>
          </a:prstGeom>
          <a:solidFill>
            <a:schemeClr val="accent2"/>
          </a:solidFill>
          <a:ln w="12700">
            <a:solidFill>
              <a:schemeClr val="accent2"/>
            </a:solidFill>
            <a:prstDash val="solid"/>
          </a:ln>
        </p:spPr>
      </p:sp>
      <p:sp>
        <p:nvSpPr>
          <p:cNvPr id="33" name="Architecture card 6"/>
          <p:cNvSpPr/>
          <p:nvPr/>
        </p:nvSpPr>
        <p:spPr>
          <a:xfrm>
            <a:off x="8641080" y="1371600"/>
            <a:ext cx="1371600" cy="2697480"/>
          </a:xfrm>
          <a:prstGeom prst="roundRect">
            <a:avLst>
              <a:gd name="adj" fmla="val 5333"/>
            </a:avLst>
          </a:prstGeom>
          <a:solidFill>
            <a:schemeClr val="bg2"/>
          </a:solidFill>
          <a:ln w="12700">
            <a:solidFill>
              <a:schemeClr val="accent6"/>
            </a:solidFill>
            <a:prstDash val="solid"/>
          </a:ln>
        </p:spPr>
      </p:sp>
      <p:sp>
        <p:nvSpPr>
          <p:cNvPr id="34" name="Icon circle 6"/>
          <p:cNvSpPr/>
          <p:nvPr/>
        </p:nvSpPr>
        <p:spPr>
          <a:xfrm>
            <a:off x="9006840" y="1554480"/>
            <a:ext cx="640080" cy="640080"/>
          </a:xfrm>
          <a:prstGeom prst="ellipse">
            <a:avLst/>
          </a:prstGeom>
          <a:solidFill>
            <a:schemeClr val="accent1"/>
          </a:solidFill>
          <a:ln w="12700">
            <a:solidFill>
              <a:schemeClr val="accent1"/>
            </a:solidFill>
            <a:prstDash val="solid"/>
          </a:ln>
        </p:spPr>
      </p:sp>
      <p:pic>
        <p:nvPicPr>
          <p:cNvPr id="35" name="Image 5" descr="Power BI icon">    </p:cNvPr>
          <p:cNvPicPr>
            <a:picLocks noChangeAspect="1"/>
          </p:cNvPicPr>
          <p:nvPr/>
        </p:nvPicPr>
        <p:blipFill>
          <a:blip r:embed="rId6"/>
          <a:stretch>
            <a:fillRect/>
          </a:stretch>
        </p:blipFill>
        <p:spPr>
          <a:xfrm>
            <a:off x="9144000" y="1691640"/>
            <a:ext cx="365760" cy="365760"/>
          </a:xfrm>
          <a:prstGeom prst="rect">
            <a:avLst/>
          </a:prstGeom>
        </p:spPr>
      </p:pic>
      <p:sp>
        <p:nvSpPr>
          <p:cNvPr id="36" name="Architecture name 6"/>
          <p:cNvSpPr txBox="1"/>
          <p:nvPr/>
        </p:nvSpPr>
        <p:spPr>
          <a:xfrm>
            <a:off x="8732520" y="2377440"/>
            <a:ext cx="1188720" cy="594360"/>
          </a:xfrm>
          <a:prstGeom prst="rect">
            <a:avLst/>
          </a:prstGeom>
          <a:noFill/>
          <a:ln/>
        </p:spPr>
        <p:txBody>
          <a:bodyPr wrap="square" lIns="0" tIns="0" rIns="0" bIns="0" rtlCol="0" anchor="t"/>
          <a:lstStyle/>
          <a:p>
            <a:pPr algn="ctr" indent="0" marL="0">
              <a:buNone/>
            </a:pPr>
            <a:r>
              <a:rPr lang="en-US" sz="1400" b="1" dirty="0">
                <a:solidFill>
                  <a:schemeClr val="tx2"/>
                </a:solidFill>
              </a:rPr>
              <a:t>Power BI</a:t>
            </a:r>
            <a:endParaRPr lang="en-US" sz="1400" dirty="0"/>
          </a:p>
        </p:txBody>
      </p:sp>
      <p:sp>
        <p:nvSpPr>
          <p:cNvPr id="37" name="Architecture role 6"/>
          <p:cNvSpPr txBox="1"/>
          <p:nvPr/>
        </p:nvSpPr>
        <p:spPr>
          <a:xfrm>
            <a:off x="8732520" y="3017520"/>
            <a:ext cx="1188720" cy="960120"/>
          </a:xfrm>
          <a:prstGeom prst="rect">
            <a:avLst/>
          </a:prstGeom>
          <a:noFill/>
          <a:ln/>
        </p:spPr>
        <p:txBody>
          <a:bodyPr wrap="square" lIns="0" tIns="0" rIns="0" bIns="0" rtlCol="0" anchor="t"/>
          <a:lstStyle/>
          <a:p>
            <a:pPr algn="ctr" indent="0" marL="0">
              <a:buNone/>
            </a:pPr>
            <a:r>
              <a:rPr lang="en-US" sz="1200" dirty="0">
                <a:solidFill>
                  <a:schemeClr val="tx1"/>
                </a:solidFill>
              </a:rPr>
              <a:t>KPI cards, trends and slicers</a:t>
            </a:r>
            <a:endParaRPr lang="en-US" sz="1200" dirty="0"/>
          </a:p>
        </p:txBody>
      </p:sp>
      <p:sp>
        <p:nvSpPr>
          <p:cNvPr id="38" name="Flow arrow 6"/>
          <p:cNvSpPr/>
          <p:nvPr/>
        </p:nvSpPr>
        <p:spPr>
          <a:xfrm>
            <a:off x="10067544" y="2578608"/>
            <a:ext cx="137160" cy="274320"/>
          </a:xfrm>
          <a:prstGeom prst="rightArrow">
            <a:avLst/>
          </a:prstGeom>
          <a:solidFill>
            <a:schemeClr val="accent2"/>
          </a:solidFill>
          <a:ln w="12700">
            <a:solidFill>
              <a:schemeClr val="accent2"/>
            </a:solidFill>
            <a:prstDash val="solid"/>
          </a:ln>
        </p:spPr>
      </p:sp>
      <p:sp>
        <p:nvSpPr>
          <p:cNvPr id="39" name="Architecture card 7"/>
          <p:cNvSpPr/>
          <p:nvPr/>
        </p:nvSpPr>
        <p:spPr>
          <a:xfrm>
            <a:off x="10259568" y="1371600"/>
            <a:ext cx="1371600" cy="2697480"/>
          </a:xfrm>
          <a:prstGeom prst="roundRect">
            <a:avLst>
              <a:gd name="adj" fmla="val 5333"/>
            </a:avLst>
          </a:prstGeom>
          <a:solidFill>
            <a:schemeClr val="bg2"/>
          </a:solidFill>
          <a:ln w="12700">
            <a:solidFill>
              <a:schemeClr val="accent6"/>
            </a:solidFill>
            <a:prstDash val="solid"/>
          </a:ln>
        </p:spPr>
      </p:sp>
      <p:sp>
        <p:nvSpPr>
          <p:cNvPr id="40" name="Icon circle 7"/>
          <p:cNvSpPr/>
          <p:nvPr/>
        </p:nvSpPr>
        <p:spPr>
          <a:xfrm>
            <a:off x="10625328" y="1554480"/>
            <a:ext cx="640080" cy="640080"/>
          </a:xfrm>
          <a:prstGeom prst="ellipse">
            <a:avLst/>
          </a:prstGeom>
          <a:solidFill>
            <a:schemeClr val="accent1"/>
          </a:solidFill>
          <a:ln w="12700">
            <a:solidFill>
              <a:schemeClr val="accent1"/>
            </a:solidFill>
            <a:prstDash val="solid"/>
          </a:ln>
        </p:spPr>
      </p:sp>
      <p:pic>
        <p:nvPicPr>
          <p:cNvPr id="41" name="Image 6" descr="GitHub icon">    </p:cNvPr>
          <p:cNvPicPr>
            <a:picLocks noChangeAspect="1"/>
          </p:cNvPicPr>
          <p:nvPr/>
        </p:nvPicPr>
        <p:blipFill>
          <a:blip r:embed="rId7"/>
          <a:stretch>
            <a:fillRect/>
          </a:stretch>
        </p:blipFill>
        <p:spPr>
          <a:xfrm>
            <a:off x="10762488" y="1691640"/>
            <a:ext cx="365760" cy="365760"/>
          </a:xfrm>
          <a:prstGeom prst="rect">
            <a:avLst/>
          </a:prstGeom>
        </p:spPr>
      </p:pic>
      <p:sp>
        <p:nvSpPr>
          <p:cNvPr id="42" name="Architecture name 7"/>
          <p:cNvSpPr txBox="1"/>
          <p:nvPr/>
        </p:nvSpPr>
        <p:spPr>
          <a:xfrm>
            <a:off x="10351008" y="2377440"/>
            <a:ext cx="1188720" cy="594360"/>
          </a:xfrm>
          <a:prstGeom prst="rect">
            <a:avLst/>
          </a:prstGeom>
          <a:noFill/>
          <a:ln/>
        </p:spPr>
        <p:txBody>
          <a:bodyPr wrap="square" lIns="0" tIns="0" rIns="0" bIns="0" rtlCol="0" anchor="t"/>
          <a:lstStyle/>
          <a:p>
            <a:pPr algn="ctr" indent="0" marL="0">
              <a:buNone/>
            </a:pPr>
            <a:r>
              <a:rPr lang="en-US" sz="1400" b="1" dirty="0">
                <a:solidFill>
                  <a:schemeClr val="tx2"/>
                </a:solidFill>
              </a:rPr>
              <a:t>GitHub</a:t>
            </a:r>
            <a:endParaRPr lang="en-US" sz="1400" dirty="0"/>
          </a:p>
        </p:txBody>
      </p:sp>
      <p:sp>
        <p:nvSpPr>
          <p:cNvPr id="43" name="Architecture role 7"/>
          <p:cNvSpPr txBox="1"/>
          <p:nvPr/>
        </p:nvSpPr>
        <p:spPr>
          <a:xfrm>
            <a:off x="10351008" y="3017520"/>
            <a:ext cx="1188720" cy="960120"/>
          </a:xfrm>
          <a:prstGeom prst="rect">
            <a:avLst/>
          </a:prstGeom>
          <a:noFill/>
          <a:ln/>
        </p:spPr>
        <p:txBody>
          <a:bodyPr wrap="square" lIns="0" tIns="0" rIns="0" bIns="0" rtlCol="0" anchor="t"/>
          <a:lstStyle/>
          <a:p>
            <a:pPr algn="ctr" indent="0" marL="0">
              <a:buNone/>
            </a:pPr>
            <a:r>
              <a:rPr lang="en-US" sz="1200" dirty="0">
                <a:solidFill>
                  <a:schemeClr val="tx1"/>
                </a:solidFill>
              </a:rPr>
              <a:t>Code, README and reproducibility</a:t>
            </a:r>
            <a:endParaRPr lang="en-US" sz="1200" dirty="0"/>
          </a:p>
        </p:txBody>
      </p:sp>
      <p:sp>
        <p:nvSpPr>
          <p:cNvPr id="44" name="Why card 1"/>
          <p:cNvSpPr/>
          <p:nvPr/>
        </p:nvSpPr>
        <p:spPr>
          <a:xfrm>
            <a:off x="548640" y="4343400"/>
            <a:ext cx="3566160" cy="1508760"/>
          </a:xfrm>
          <a:prstGeom prst="roundRect">
            <a:avLst>
              <a:gd name="adj" fmla="val 4848"/>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45" name="Why text 1"/>
          <p:cNvSpPr txBox="1"/>
          <p:nvPr/>
        </p:nvSpPr>
        <p:spPr>
          <a:xfrm>
            <a:off x="731520" y="4480560"/>
            <a:ext cx="3200400" cy="1280160"/>
          </a:xfrm>
          <a:prstGeom prst="rect">
            <a:avLst/>
          </a:prstGeom>
          <a:noFill/>
          <a:ln/>
        </p:spPr>
        <p:txBody>
          <a:bodyPr wrap="square" lIns="0" tIns="0" rIns="0" bIns="0" rtlCol="0" anchor="t"/>
          <a:lstStyle/>
          <a:p>
            <a:pPr indent="0" marL="0">
              <a:buNone/>
            </a:pPr>
            <a:r>
              <a:rPr lang="en-US" sz="1800" b="1" dirty="0">
                <a:solidFill>
                  <a:schemeClr val="accent1"/>
                </a:solidFill>
              </a:rPr>
              <a:t>Profile first</a:t>
            </a:r>
            <a:endParaRPr lang="en-US" sz="1400" dirty="0"/>
          </a:p>
          <a:p>
            <a:pPr indent="0" marL="0">
              <a:buNone/>
            </a:pPr>
            <a:r>
              <a:rPr lang="en-US" sz="1600" dirty="0">
                <a:solidFill>
                  <a:schemeClr val="tx1"/>
                </a:solidFill>
              </a:rPr>
              <a:t>Profiling before transformation makes missing values and anomalies visible.</a:t>
            </a:r>
            <a:endParaRPr lang="en-US" sz="1400" dirty="0"/>
          </a:p>
        </p:txBody>
      </p:sp>
      <p:sp>
        <p:nvSpPr>
          <p:cNvPr id="46" name="Why card 2"/>
          <p:cNvSpPr/>
          <p:nvPr/>
        </p:nvSpPr>
        <p:spPr>
          <a:xfrm>
            <a:off x="4311396" y="4343400"/>
            <a:ext cx="3566160" cy="1508760"/>
          </a:xfrm>
          <a:prstGeom prst="roundRect">
            <a:avLst>
              <a:gd name="adj" fmla="val 4848"/>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47" name="Why text 2"/>
          <p:cNvSpPr txBox="1"/>
          <p:nvPr/>
        </p:nvSpPr>
        <p:spPr>
          <a:xfrm>
            <a:off x="4494276" y="4480560"/>
            <a:ext cx="3200400" cy="1280160"/>
          </a:xfrm>
          <a:prstGeom prst="rect">
            <a:avLst/>
          </a:prstGeom>
          <a:noFill/>
          <a:ln/>
        </p:spPr>
        <p:txBody>
          <a:bodyPr wrap="square" lIns="0" tIns="0" rIns="0" bIns="0" rtlCol="0" anchor="t"/>
          <a:lstStyle/>
          <a:p>
            <a:pPr indent="0" marL="0">
              <a:buNone/>
            </a:pPr>
            <a:r>
              <a:rPr lang="en-US" sz="1800" b="1" dirty="0">
                <a:solidFill>
                  <a:schemeClr val="accent1"/>
                </a:solidFill>
              </a:rPr>
              <a:t>Layered storage</a:t>
            </a:r>
            <a:endParaRPr lang="en-US" sz="1400" dirty="0"/>
          </a:p>
          <a:p>
            <a:pPr indent="0" marL="0">
              <a:buNone/>
            </a:pPr>
            <a:r>
              <a:rPr lang="en-US" sz="1600" dirty="0">
                <a:solidFill>
                  <a:schemeClr val="tx1"/>
                </a:solidFill>
              </a:rPr>
              <a:t>Bronze keeps raw data, Silver validates it and Gold serves dashboards.</a:t>
            </a:r>
            <a:endParaRPr lang="en-US" sz="1400" dirty="0"/>
          </a:p>
        </p:txBody>
      </p:sp>
      <p:sp>
        <p:nvSpPr>
          <p:cNvPr id="48" name="Why card 3"/>
          <p:cNvSpPr/>
          <p:nvPr/>
        </p:nvSpPr>
        <p:spPr>
          <a:xfrm>
            <a:off x="8074152" y="4343400"/>
            <a:ext cx="3566160" cy="1508760"/>
          </a:xfrm>
          <a:prstGeom prst="roundRect">
            <a:avLst>
              <a:gd name="adj" fmla="val 4848"/>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49" name="Why text 3"/>
          <p:cNvSpPr txBox="1"/>
          <p:nvPr/>
        </p:nvSpPr>
        <p:spPr>
          <a:xfrm>
            <a:off x="8257032" y="4480560"/>
            <a:ext cx="3200400" cy="1280160"/>
          </a:xfrm>
          <a:prstGeom prst="rect">
            <a:avLst/>
          </a:prstGeom>
          <a:noFill/>
          <a:ln/>
        </p:spPr>
        <p:txBody>
          <a:bodyPr wrap="square" lIns="0" tIns="0" rIns="0" bIns="0" rtlCol="0" anchor="t"/>
          <a:lstStyle/>
          <a:p>
            <a:pPr indent="0" marL="0">
              <a:buNone/>
            </a:pPr>
            <a:r>
              <a:rPr lang="en-US" sz="1800" b="1" dirty="0">
                <a:solidFill>
                  <a:schemeClr val="accent1"/>
                </a:solidFill>
              </a:rPr>
              <a:t>Reconcile everywhere</a:t>
            </a:r>
            <a:endParaRPr lang="en-US" sz="1400" dirty="0"/>
          </a:p>
          <a:p>
            <a:pPr indent="0" marL="0">
              <a:buNone/>
            </a:pPr>
            <a:r>
              <a:rPr lang="en-US" sz="1600" dirty="0">
                <a:solidFill>
                  <a:schemeClr val="tx1"/>
                </a:solidFill>
              </a:rPr>
              <a:t>The same KPI is checked in Python, SQL and Power BI.</a:t>
            </a:r>
            <a:endParaRPr lang="en-US" sz="1400" dirty="0"/>
          </a:p>
        </p:txBody>
      </p:sp>
      <p:sp>
        <p:nvSpPr>
          <p:cNvPr id="50" name="Architecture note"/>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200" i="1" dirty="0">
                <a:solidFill>
                  <a:schemeClr val="accent5"/>
                </a:solidFill>
              </a:rPr>
              <a:t>This is the target architecture. Each component is marked executed, partial or planned based on captured evidence.</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Analytical Workflow: Step by Step</a:t>
            </a:r>
            <a:endParaRPr lang="en-US" sz="3400" dirty="0"/>
          </a:p>
        </p:txBody>
      </p:sp>
      <p:sp>
        <p:nvSpPr>
          <p:cNvPr id="3" name="Workflow card 1"/>
          <p:cNvSpPr/>
          <p:nvPr/>
        </p:nvSpPr>
        <p:spPr>
          <a:xfrm>
            <a:off x="548640" y="1371600"/>
            <a:ext cx="2633472" cy="2194560"/>
          </a:xfrm>
          <a:prstGeom prst="roundRect">
            <a:avLst>
              <a:gd name="adj" fmla="val 3333"/>
            </a:avLst>
          </a:prstGeom>
          <a:solidFill>
            <a:schemeClr val="bg2"/>
          </a:solidFill>
          <a:ln w="12700">
            <a:solidFill>
              <a:schemeClr val="accent6"/>
            </a:solidFill>
            <a:prstDash val="solid"/>
          </a:ln>
        </p:spPr>
      </p:sp>
      <p:sp>
        <p:nvSpPr>
          <p:cNvPr id="4" name="Step 1 badge"/>
          <p:cNvSpPr/>
          <p:nvPr/>
        </p:nvSpPr>
        <p:spPr>
          <a:xfrm>
            <a:off x="731520" y="1554480"/>
            <a:ext cx="502920" cy="502920"/>
          </a:xfrm>
          <a:prstGeom prst="ellipse">
            <a:avLst/>
          </a:prstGeom>
          <a:solidFill>
            <a:schemeClr val="accent1"/>
          </a:solidFill>
          <a:ln w="12700">
            <a:solidFill>
              <a:schemeClr val="accent1"/>
            </a:solidFill>
            <a:prstDash val="solid"/>
          </a:ln>
        </p:spPr>
      </p:sp>
      <p:sp>
        <p:nvSpPr>
          <p:cNvPr id="5" name="Step 1 number"/>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Step title 1"/>
          <p:cNvSpPr txBox="1"/>
          <p:nvPr/>
        </p:nvSpPr>
        <p:spPr>
          <a:xfrm>
            <a:off x="1371600" y="155448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Preserve</a:t>
            </a:r>
            <a:endParaRPr lang="en-US" sz="1600" dirty="0"/>
          </a:p>
        </p:txBody>
      </p:sp>
      <p:sp>
        <p:nvSpPr>
          <p:cNvPr id="7" name="Step text 1"/>
          <p:cNvSpPr txBox="1"/>
          <p:nvPr/>
        </p:nvSpPr>
        <p:spPr>
          <a:xfrm>
            <a:off x="731520" y="2240280"/>
            <a:ext cx="2286000" cy="1234440"/>
          </a:xfrm>
          <a:prstGeom prst="rect">
            <a:avLst/>
          </a:prstGeom>
          <a:noFill/>
          <a:ln/>
        </p:spPr>
        <p:txBody>
          <a:bodyPr wrap="square" lIns="0" tIns="0" rIns="0" bIns="0" rtlCol="0" anchor="t"/>
          <a:lstStyle/>
          <a:p>
            <a:pPr indent="0" marL="0">
              <a:buNone/>
            </a:pPr>
            <a:r>
              <a:rPr lang="en-US" sz="1600" dirty="0">
                <a:solidFill>
                  <a:schemeClr val="tx1"/>
                </a:solidFill>
              </a:rPr>
              <a:t>Keep the original CSV unchanged; record name, rows and metadata.</a:t>
            </a:r>
            <a:endParaRPr lang="en-US" sz="1600" dirty="0"/>
          </a:p>
        </p:txBody>
      </p:sp>
      <p:sp>
        <p:nvSpPr>
          <p:cNvPr id="8" name="Workflow card 2"/>
          <p:cNvSpPr/>
          <p:nvPr/>
        </p:nvSpPr>
        <p:spPr>
          <a:xfrm>
            <a:off x="3364992" y="1371600"/>
            <a:ext cx="2633472" cy="2194560"/>
          </a:xfrm>
          <a:prstGeom prst="roundRect">
            <a:avLst>
              <a:gd name="adj" fmla="val 3333"/>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9" name="Step 2 badge"/>
          <p:cNvSpPr/>
          <p:nvPr/>
        </p:nvSpPr>
        <p:spPr>
          <a:xfrm>
            <a:off x="3547872" y="1554480"/>
            <a:ext cx="502920" cy="502920"/>
          </a:xfrm>
          <a:prstGeom prst="ellipse">
            <a:avLst/>
          </a:prstGeom>
          <a:solidFill>
            <a:schemeClr val="accent1"/>
          </a:solidFill>
          <a:ln w="12700">
            <a:solidFill>
              <a:schemeClr val="accent1"/>
            </a:solidFill>
            <a:prstDash val="solid"/>
          </a:ln>
        </p:spPr>
      </p:sp>
      <p:sp>
        <p:nvSpPr>
          <p:cNvPr id="10" name="Step 2 number"/>
          <p:cNvSpPr txBox="1"/>
          <p:nvPr/>
        </p:nvSpPr>
        <p:spPr>
          <a:xfrm>
            <a:off x="3547872" y="15544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Step title 2"/>
          <p:cNvSpPr txBox="1"/>
          <p:nvPr/>
        </p:nvSpPr>
        <p:spPr>
          <a:xfrm>
            <a:off x="4187952" y="155448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Profile</a:t>
            </a:r>
            <a:endParaRPr lang="en-US" sz="1600" dirty="0"/>
          </a:p>
        </p:txBody>
      </p:sp>
      <p:sp>
        <p:nvSpPr>
          <p:cNvPr id="12" name="Step text 2"/>
          <p:cNvSpPr txBox="1"/>
          <p:nvPr/>
        </p:nvSpPr>
        <p:spPr>
          <a:xfrm>
            <a:off x="3547872" y="2240280"/>
            <a:ext cx="2286000" cy="1234440"/>
          </a:xfrm>
          <a:prstGeom prst="rect">
            <a:avLst/>
          </a:prstGeom>
          <a:noFill/>
          <a:ln/>
        </p:spPr>
        <p:txBody>
          <a:bodyPr wrap="square" lIns="0" tIns="0" rIns="0" bIns="0" rtlCol="0" anchor="t"/>
          <a:lstStyle/>
          <a:p>
            <a:pPr indent="0" marL="0">
              <a:buNone/>
            </a:pPr>
            <a:r>
              <a:rPr lang="en-US" sz="1600" dirty="0">
                <a:solidFill>
                  <a:schemeClr val="tx1"/>
                </a:solidFill>
              </a:rPr>
              <a:t>Check schema, missing values, duplicates, dates and ranges in Python.</a:t>
            </a:r>
            <a:endParaRPr lang="en-US" sz="1600" dirty="0"/>
          </a:p>
        </p:txBody>
      </p:sp>
      <p:sp>
        <p:nvSpPr>
          <p:cNvPr id="13" name="Workflow card 3"/>
          <p:cNvSpPr/>
          <p:nvPr/>
        </p:nvSpPr>
        <p:spPr>
          <a:xfrm>
            <a:off x="6181344" y="1371600"/>
            <a:ext cx="2633472" cy="2194560"/>
          </a:xfrm>
          <a:prstGeom prst="roundRect">
            <a:avLst>
              <a:gd name="adj" fmla="val 3333"/>
            </a:avLst>
          </a:prstGeom>
          <a:solidFill>
            <a:schemeClr val="bg2"/>
          </a:solidFill>
          <a:ln w="12700">
            <a:solidFill>
              <a:schemeClr val="accent6"/>
            </a:solidFill>
            <a:prstDash val="solid"/>
          </a:ln>
        </p:spPr>
      </p:sp>
      <p:sp>
        <p:nvSpPr>
          <p:cNvPr id="14" name="Step 3 badge"/>
          <p:cNvSpPr/>
          <p:nvPr/>
        </p:nvSpPr>
        <p:spPr>
          <a:xfrm>
            <a:off x="6364224" y="1554480"/>
            <a:ext cx="502920" cy="502920"/>
          </a:xfrm>
          <a:prstGeom prst="ellipse">
            <a:avLst/>
          </a:prstGeom>
          <a:solidFill>
            <a:schemeClr val="accent1"/>
          </a:solidFill>
          <a:ln w="12700">
            <a:solidFill>
              <a:schemeClr val="accent1"/>
            </a:solidFill>
            <a:prstDash val="solid"/>
          </a:ln>
        </p:spPr>
      </p:sp>
      <p:sp>
        <p:nvSpPr>
          <p:cNvPr id="15" name="Step 3 number"/>
          <p:cNvSpPr txBox="1"/>
          <p:nvPr/>
        </p:nvSpPr>
        <p:spPr>
          <a:xfrm>
            <a:off x="6364224" y="15544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6" name="Step title 3"/>
          <p:cNvSpPr txBox="1"/>
          <p:nvPr/>
        </p:nvSpPr>
        <p:spPr>
          <a:xfrm>
            <a:off x="7004304" y="155448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Standardize</a:t>
            </a:r>
            <a:endParaRPr lang="en-US" sz="1600" dirty="0"/>
          </a:p>
        </p:txBody>
      </p:sp>
      <p:sp>
        <p:nvSpPr>
          <p:cNvPr id="17" name="Step text 3"/>
          <p:cNvSpPr txBox="1"/>
          <p:nvPr/>
        </p:nvSpPr>
        <p:spPr>
          <a:xfrm>
            <a:off x="6364224" y="2240280"/>
            <a:ext cx="2286000" cy="1234440"/>
          </a:xfrm>
          <a:prstGeom prst="rect">
            <a:avLst/>
          </a:prstGeom>
          <a:noFill/>
          <a:ln/>
        </p:spPr>
        <p:txBody>
          <a:bodyPr wrap="square" lIns="0" tIns="0" rIns="0" bIns="0" rtlCol="0" anchor="t"/>
          <a:lstStyle/>
          <a:p>
            <a:pPr indent="0" marL="0">
              <a:buNone/>
            </a:pPr>
            <a:r>
              <a:rPr lang="en-US" sz="1600" dirty="0">
                <a:solidFill>
                  <a:schemeClr val="tx1"/>
                </a:solidFill>
              </a:rPr>
              <a:t>Fix column names, parse dates and add missingness flags; no silent imputation.</a:t>
            </a:r>
            <a:endParaRPr lang="en-US" sz="1600" dirty="0"/>
          </a:p>
        </p:txBody>
      </p:sp>
      <p:sp>
        <p:nvSpPr>
          <p:cNvPr id="18" name="Workflow card 4"/>
          <p:cNvSpPr/>
          <p:nvPr/>
        </p:nvSpPr>
        <p:spPr>
          <a:xfrm>
            <a:off x="8997696" y="1371600"/>
            <a:ext cx="2633472" cy="2194560"/>
          </a:xfrm>
          <a:prstGeom prst="roundRect">
            <a:avLst>
              <a:gd name="adj" fmla="val 3333"/>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9" name="Step 4 badge"/>
          <p:cNvSpPr/>
          <p:nvPr/>
        </p:nvSpPr>
        <p:spPr>
          <a:xfrm>
            <a:off x="9180576" y="1554480"/>
            <a:ext cx="502920" cy="502920"/>
          </a:xfrm>
          <a:prstGeom prst="ellipse">
            <a:avLst/>
          </a:prstGeom>
          <a:solidFill>
            <a:schemeClr val="accent1"/>
          </a:solidFill>
          <a:ln w="12700">
            <a:solidFill>
              <a:schemeClr val="accent1"/>
            </a:solidFill>
            <a:prstDash val="solid"/>
          </a:ln>
        </p:spPr>
      </p:sp>
      <p:sp>
        <p:nvSpPr>
          <p:cNvPr id="20" name="Step 4 number"/>
          <p:cNvSpPr txBox="1"/>
          <p:nvPr/>
        </p:nvSpPr>
        <p:spPr>
          <a:xfrm>
            <a:off x="9180576" y="15544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1" name="Step title 4"/>
          <p:cNvSpPr txBox="1"/>
          <p:nvPr/>
        </p:nvSpPr>
        <p:spPr>
          <a:xfrm>
            <a:off x="9820656" y="155448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Calculate KPIs</a:t>
            </a:r>
            <a:endParaRPr lang="en-US" sz="1600" dirty="0"/>
          </a:p>
        </p:txBody>
      </p:sp>
      <p:sp>
        <p:nvSpPr>
          <p:cNvPr id="22" name="Step text 4"/>
          <p:cNvSpPr txBox="1"/>
          <p:nvPr/>
        </p:nvSpPr>
        <p:spPr>
          <a:xfrm>
            <a:off x="9180576" y="2240280"/>
            <a:ext cx="2286000" cy="1234440"/>
          </a:xfrm>
          <a:prstGeom prst="rect">
            <a:avLst/>
          </a:prstGeom>
          <a:noFill/>
          <a:ln/>
        </p:spPr>
        <p:txBody>
          <a:bodyPr wrap="square" lIns="0" tIns="0" rIns="0" bIns="0" rtlCol="0" anchor="t"/>
          <a:lstStyle/>
          <a:p>
            <a:pPr indent="0" marL="0">
              <a:buNone/>
            </a:pPr>
            <a:r>
              <a:rPr lang="en-US" sz="1600" dirty="0">
                <a:solidFill>
                  <a:schemeClr val="tx1"/>
                </a:solidFill>
              </a:rPr>
              <a:t>Compute documented KPIs and export chart-ready aggregate files.</a:t>
            </a:r>
            <a:endParaRPr lang="en-US" sz="1600" dirty="0"/>
          </a:p>
        </p:txBody>
      </p:sp>
      <p:sp>
        <p:nvSpPr>
          <p:cNvPr id="23" name="Workflow card 5"/>
          <p:cNvSpPr/>
          <p:nvPr/>
        </p:nvSpPr>
        <p:spPr>
          <a:xfrm>
            <a:off x="548640" y="3749040"/>
            <a:ext cx="2633472" cy="2194560"/>
          </a:xfrm>
          <a:prstGeom prst="roundRect">
            <a:avLst>
              <a:gd name="adj" fmla="val 3333"/>
            </a:avLst>
          </a:prstGeom>
          <a:solidFill>
            <a:schemeClr val="bg2"/>
          </a:solidFill>
          <a:ln w="12700">
            <a:solidFill>
              <a:schemeClr val="accent6"/>
            </a:solidFill>
            <a:prstDash val="solid"/>
          </a:ln>
        </p:spPr>
      </p:sp>
      <p:sp>
        <p:nvSpPr>
          <p:cNvPr id="24" name="Step 5 badge"/>
          <p:cNvSpPr/>
          <p:nvPr/>
        </p:nvSpPr>
        <p:spPr>
          <a:xfrm>
            <a:off x="731520" y="3931920"/>
            <a:ext cx="502920" cy="502920"/>
          </a:xfrm>
          <a:prstGeom prst="ellipse">
            <a:avLst/>
          </a:prstGeom>
          <a:solidFill>
            <a:schemeClr val="accent1"/>
          </a:solidFill>
          <a:ln w="12700">
            <a:solidFill>
              <a:schemeClr val="accent1"/>
            </a:solidFill>
            <a:prstDash val="solid"/>
          </a:ln>
        </p:spPr>
      </p:sp>
      <p:sp>
        <p:nvSpPr>
          <p:cNvPr id="25" name="Step 5 number"/>
          <p:cNvSpPr txBox="1"/>
          <p:nvPr/>
        </p:nvSpPr>
        <p:spPr>
          <a:xfrm>
            <a:off x="731520" y="39319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6" name="Step title 5"/>
          <p:cNvSpPr txBox="1"/>
          <p:nvPr/>
        </p:nvSpPr>
        <p:spPr>
          <a:xfrm>
            <a:off x="1371600" y="3931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Store and query</a:t>
            </a:r>
            <a:endParaRPr lang="en-US" sz="1600" dirty="0"/>
          </a:p>
        </p:txBody>
      </p:sp>
      <p:sp>
        <p:nvSpPr>
          <p:cNvPr id="27" name="Step text 5"/>
          <p:cNvSpPr txBox="1"/>
          <p:nvPr/>
        </p:nvSpPr>
        <p:spPr>
          <a:xfrm>
            <a:off x="731520" y="4617720"/>
            <a:ext cx="2286000" cy="1234440"/>
          </a:xfrm>
          <a:prstGeom prst="rect">
            <a:avLst/>
          </a:prstGeom>
          <a:noFill/>
          <a:ln/>
        </p:spPr>
        <p:txBody>
          <a:bodyPr wrap="square" lIns="0" tIns="0" rIns="0" bIns="0" rtlCol="0" anchor="t"/>
          <a:lstStyle/>
          <a:p>
            <a:pPr indent="0" marL="0">
              <a:buNone/>
            </a:pPr>
            <a:r>
              <a:rPr lang="en-US" sz="1600" dirty="0">
                <a:solidFill>
                  <a:schemeClr val="tx1"/>
                </a:solidFill>
              </a:rPr>
              <a:t>Load PostgreSQL staging and fact tables; query with SQL in DBeaver.</a:t>
            </a:r>
            <a:endParaRPr lang="en-US" sz="1600" dirty="0"/>
          </a:p>
        </p:txBody>
      </p:sp>
      <p:sp>
        <p:nvSpPr>
          <p:cNvPr id="28" name="Workflow card 6"/>
          <p:cNvSpPr/>
          <p:nvPr/>
        </p:nvSpPr>
        <p:spPr>
          <a:xfrm>
            <a:off x="3364992" y="3749040"/>
            <a:ext cx="2633472" cy="2194560"/>
          </a:xfrm>
          <a:prstGeom prst="roundRect">
            <a:avLst>
              <a:gd name="adj" fmla="val 3333"/>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29" name="Step 6 badge"/>
          <p:cNvSpPr/>
          <p:nvPr/>
        </p:nvSpPr>
        <p:spPr>
          <a:xfrm>
            <a:off x="3547872" y="3931920"/>
            <a:ext cx="502920" cy="502920"/>
          </a:xfrm>
          <a:prstGeom prst="ellipse">
            <a:avLst/>
          </a:prstGeom>
          <a:solidFill>
            <a:schemeClr val="accent1"/>
          </a:solidFill>
          <a:ln w="12700">
            <a:solidFill>
              <a:schemeClr val="accent1"/>
            </a:solidFill>
            <a:prstDash val="solid"/>
          </a:ln>
        </p:spPr>
      </p:sp>
      <p:sp>
        <p:nvSpPr>
          <p:cNvPr id="30" name="Step 6 number"/>
          <p:cNvSpPr txBox="1"/>
          <p:nvPr/>
        </p:nvSpPr>
        <p:spPr>
          <a:xfrm>
            <a:off x="3547872" y="39319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31" name="Step title 6"/>
          <p:cNvSpPr txBox="1"/>
          <p:nvPr/>
        </p:nvSpPr>
        <p:spPr>
          <a:xfrm>
            <a:off x="4187952" y="3931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Scale</a:t>
            </a:r>
            <a:endParaRPr lang="en-US" sz="1600" dirty="0"/>
          </a:p>
        </p:txBody>
      </p:sp>
      <p:sp>
        <p:nvSpPr>
          <p:cNvPr id="32" name="Step text 6"/>
          <p:cNvSpPr txBox="1"/>
          <p:nvPr/>
        </p:nvSpPr>
        <p:spPr>
          <a:xfrm>
            <a:off x="3547872" y="4617720"/>
            <a:ext cx="2286000" cy="1234440"/>
          </a:xfrm>
          <a:prstGeom prst="rect">
            <a:avLst/>
          </a:prstGeom>
          <a:noFill/>
          <a:ln/>
        </p:spPr>
        <p:txBody>
          <a:bodyPr wrap="square" lIns="0" tIns="0" rIns="0" bIns="0" rtlCol="0" anchor="t"/>
          <a:lstStyle/>
          <a:p>
            <a:pPr indent="0" marL="0">
              <a:buNone/>
            </a:pPr>
            <a:r>
              <a:rPr lang="en-US" sz="1600" dirty="0">
                <a:solidFill>
                  <a:schemeClr val="tx1"/>
                </a:solidFill>
              </a:rPr>
              <a:t>Process with PySpark and write Bronze, Silver and Gold Delta tables.</a:t>
            </a:r>
            <a:endParaRPr lang="en-US" sz="1600" dirty="0"/>
          </a:p>
        </p:txBody>
      </p:sp>
      <p:sp>
        <p:nvSpPr>
          <p:cNvPr id="33" name="Workflow card 7"/>
          <p:cNvSpPr/>
          <p:nvPr/>
        </p:nvSpPr>
        <p:spPr>
          <a:xfrm>
            <a:off x="6181344" y="3749040"/>
            <a:ext cx="2633472" cy="2194560"/>
          </a:xfrm>
          <a:prstGeom prst="roundRect">
            <a:avLst>
              <a:gd name="adj" fmla="val 3333"/>
            </a:avLst>
          </a:prstGeom>
          <a:solidFill>
            <a:schemeClr val="bg2"/>
          </a:solidFill>
          <a:ln w="12700">
            <a:solidFill>
              <a:schemeClr val="accent6"/>
            </a:solidFill>
            <a:prstDash val="solid"/>
          </a:ln>
        </p:spPr>
      </p:sp>
      <p:sp>
        <p:nvSpPr>
          <p:cNvPr id="34" name="Step 7 badge"/>
          <p:cNvSpPr/>
          <p:nvPr/>
        </p:nvSpPr>
        <p:spPr>
          <a:xfrm>
            <a:off x="6364224" y="3931920"/>
            <a:ext cx="502920" cy="502920"/>
          </a:xfrm>
          <a:prstGeom prst="ellipse">
            <a:avLst/>
          </a:prstGeom>
          <a:solidFill>
            <a:schemeClr val="accent1"/>
          </a:solidFill>
          <a:ln w="12700">
            <a:solidFill>
              <a:schemeClr val="accent1"/>
            </a:solidFill>
            <a:prstDash val="solid"/>
          </a:ln>
        </p:spPr>
      </p:sp>
      <p:sp>
        <p:nvSpPr>
          <p:cNvPr id="35" name="Step 7 number"/>
          <p:cNvSpPr txBox="1"/>
          <p:nvPr/>
        </p:nvSpPr>
        <p:spPr>
          <a:xfrm>
            <a:off x="6364224" y="39319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7</a:t>
            </a:r>
            <a:endParaRPr lang="en-US" sz="1700" dirty="0"/>
          </a:p>
        </p:txBody>
      </p:sp>
      <p:sp>
        <p:nvSpPr>
          <p:cNvPr id="36" name="Step title 7"/>
          <p:cNvSpPr txBox="1"/>
          <p:nvPr/>
        </p:nvSpPr>
        <p:spPr>
          <a:xfrm>
            <a:off x="7004304" y="3931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Visualize</a:t>
            </a:r>
            <a:endParaRPr lang="en-US" sz="1600" dirty="0"/>
          </a:p>
        </p:txBody>
      </p:sp>
      <p:sp>
        <p:nvSpPr>
          <p:cNvPr id="37" name="Step text 7"/>
          <p:cNvSpPr txBox="1"/>
          <p:nvPr/>
        </p:nvSpPr>
        <p:spPr>
          <a:xfrm>
            <a:off x="6364224" y="4617720"/>
            <a:ext cx="2286000" cy="1234440"/>
          </a:xfrm>
          <a:prstGeom prst="rect">
            <a:avLst/>
          </a:prstGeom>
          <a:noFill/>
          <a:ln/>
        </p:spPr>
        <p:txBody>
          <a:bodyPr wrap="square" lIns="0" tIns="0" rIns="0" bIns="0" rtlCol="0" anchor="t"/>
          <a:lstStyle/>
          <a:p>
            <a:pPr indent="0" marL="0">
              <a:buNone/>
            </a:pPr>
            <a:r>
              <a:rPr lang="en-US" sz="1600" dirty="0">
                <a:solidFill>
                  <a:schemeClr val="tx1"/>
                </a:solidFill>
              </a:rPr>
              <a:t>Build Power BI pages from validated Gold aggregates.</a:t>
            </a:r>
            <a:endParaRPr lang="en-US" sz="1600" dirty="0"/>
          </a:p>
        </p:txBody>
      </p:sp>
      <p:sp>
        <p:nvSpPr>
          <p:cNvPr id="38" name="Workflow card 8"/>
          <p:cNvSpPr/>
          <p:nvPr/>
        </p:nvSpPr>
        <p:spPr>
          <a:xfrm>
            <a:off x="8997696" y="3749040"/>
            <a:ext cx="2633472" cy="2194560"/>
          </a:xfrm>
          <a:prstGeom prst="roundRect">
            <a:avLst>
              <a:gd name="adj" fmla="val 3333"/>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39" name="Step 8 badge"/>
          <p:cNvSpPr/>
          <p:nvPr/>
        </p:nvSpPr>
        <p:spPr>
          <a:xfrm>
            <a:off x="9180576" y="3931920"/>
            <a:ext cx="502920" cy="502920"/>
          </a:xfrm>
          <a:prstGeom prst="ellipse">
            <a:avLst/>
          </a:prstGeom>
          <a:solidFill>
            <a:schemeClr val="accent1"/>
          </a:solidFill>
          <a:ln w="12700">
            <a:solidFill>
              <a:schemeClr val="accent1"/>
            </a:solidFill>
            <a:prstDash val="solid"/>
          </a:ln>
        </p:spPr>
      </p:sp>
      <p:sp>
        <p:nvSpPr>
          <p:cNvPr id="40" name="Step 8 number"/>
          <p:cNvSpPr txBox="1"/>
          <p:nvPr/>
        </p:nvSpPr>
        <p:spPr>
          <a:xfrm>
            <a:off x="9180576" y="39319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8</a:t>
            </a:r>
            <a:endParaRPr lang="en-US" sz="1700" dirty="0"/>
          </a:p>
        </p:txBody>
      </p:sp>
      <p:sp>
        <p:nvSpPr>
          <p:cNvPr id="41" name="Step title 8"/>
          <p:cNvSpPr txBox="1"/>
          <p:nvPr/>
        </p:nvSpPr>
        <p:spPr>
          <a:xfrm>
            <a:off x="9820656" y="3931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Reconcile</a:t>
            </a:r>
            <a:endParaRPr lang="en-US" sz="1600" dirty="0"/>
          </a:p>
        </p:txBody>
      </p:sp>
      <p:sp>
        <p:nvSpPr>
          <p:cNvPr id="42" name="Step text 8"/>
          <p:cNvSpPr txBox="1"/>
          <p:nvPr/>
        </p:nvSpPr>
        <p:spPr>
          <a:xfrm>
            <a:off x="9180576" y="4617720"/>
            <a:ext cx="2286000" cy="1234440"/>
          </a:xfrm>
          <a:prstGeom prst="rect">
            <a:avLst/>
          </a:prstGeom>
          <a:noFill/>
          <a:ln/>
        </p:spPr>
        <p:txBody>
          <a:bodyPr wrap="square" lIns="0" tIns="0" rIns="0" bIns="0" rtlCol="0" anchor="t"/>
          <a:lstStyle/>
          <a:p>
            <a:pPr indent="0" marL="0">
              <a:buNone/>
            </a:pPr>
            <a:r>
              <a:rPr lang="en-US" sz="1600" dirty="0">
                <a:solidFill>
                  <a:schemeClr val="tx1"/>
                </a:solidFill>
              </a:rPr>
              <a:t>Match row counts and KPIs across Python, SQL and Power BI; publish on GitHub.</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Step 1: Python Data Preparation</a:t>
            </a:r>
            <a:endParaRPr lang="en-US" sz="3400" dirty="0"/>
          </a:p>
        </p:txBody>
      </p:sp>
      <p:sp>
        <p:nvSpPr>
          <p:cNvPr id="3" name="Python code panel"/>
          <p:cNvSpPr/>
          <p:nvPr/>
        </p:nvSpPr>
        <p:spPr>
          <a:xfrm>
            <a:off x="548640" y="1371600"/>
            <a:ext cx="6949440" cy="4800600"/>
          </a:xfrm>
          <a:prstGeom prst="roundRect">
            <a:avLst>
              <a:gd name="adj" fmla="val 1524"/>
            </a:avLst>
          </a:prstGeom>
          <a:solidFill>
            <a:schemeClr val="tx1"/>
          </a:solidFill>
          <a:ln w="3175">
            <a:solidFill>
              <a:schemeClr val="tx1"/>
            </a:solidFill>
            <a:prstDash val="solid"/>
          </a:ln>
        </p:spPr>
      </p:sp>
      <p:sp>
        <p:nvSpPr>
          <p:cNvPr id="4" name="Python code label"/>
          <p:cNvSpPr txBox="1"/>
          <p:nvPr/>
        </p:nvSpPr>
        <p:spPr>
          <a:xfrm>
            <a:off x="777240" y="1536192"/>
            <a:ext cx="6492240" cy="274320"/>
          </a:xfrm>
          <a:prstGeom prst="rect">
            <a:avLst/>
          </a:prstGeom>
          <a:noFill/>
          <a:ln/>
        </p:spPr>
        <p:txBody>
          <a:bodyPr wrap="square" lIns="0" tIns="0" rIns="0" bIns="0" rtlCol="0" anchor="t"/>
          <a:lstStyle/>
          <a:p>
            <a:pPr indent="0" marL="0">
              <a:buNone/>
            </a:pPr>
            <a:r>
              <a:rPr lang="en-US" sz="1200" b="1" dirty="0">
                <a:solidFill>
                  <a:schemeClr val="accent2"/>
                </a:solidFill>
              </a:rPr>
              <a:t>Python (pandas): load, profile and derive delay</a:t>
            </a:r>
            <a:endParaRPr lang="en-US" sz="1200" dirty="0"/>
          </a:p>
        </p:txBody>
      </p:sp>
      <p:sp>
        <p:nvSpPr>
          <p:cNvPr id="5" name="Python code code"/>
          <p:cNvSpPr txBox="1"/>
          <p:nvPr/>
        </p:nvSpPr>
        <p:spPr>
          <a:xfrm>
            <a:off x="777240" y="1920240"/>
            <a:ext cx="6492240" cy="41148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import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pandas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pd</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pd</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read_csv</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"data/telangana_rice_mill_transactions_100k.csv"</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for</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c</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in</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"transaction_date"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"delivery_due_date"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"actual_delivery_date"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c</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pd</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to_datetime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c</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errors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"coerce"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profile</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pd</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DataFrame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"dtype"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dtypes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astype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str</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"missing"</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isna</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"unique"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nunique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"delivery_delay_days"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"actual_delivery_date"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"delivery_due_date"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dt</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days</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df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to_csv</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"outputs/validated_transactions.csv"</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index</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2"/>
                </a:solidFill>
                <a:latin typeface="Courier New" pitchFamily="34" charset="0"/>
                <a:ea typeface="Courier New" pitchFamily="34" charset="-122"/>
                <a:cs typeface="Courier New" pitchFamily="34" charset="-120"/>
              </a:rPr>
              <a:t>False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profile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to_csv</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"outputs/data_profile.csv"</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6" name="Python output card 1"/>
          <p:cNvSpPr/>
          <p:nvPr/>
        </p:nvSpPr>
        <p:spPr>
          <a:xfrm>
            <a:off x="7772400" y="1371600"/>
            <a:ext cx="3867912" cy="1508760"/>
          </a:xfrm>
          <a:prstGeom prst="roundRect">
            <a:avLst>
              <a:gd name="adj" fmla="val 4848"/>
            </a:avLst>
          </a:prstGeom>
          <a:solidFill>
            <a:schemeClr val="bg2"/>
          </a:solidFill>
          <a:ln w="3175">
            <a:solidFill>
              <a:schemeClr val="bg2"/>
            </a:solidFill>
            <a:prstDash val="solid"/>
          </a:ln>
        </p:spPr>
      </p:sp>
      <p:sp>
        <p:nvSpPr>
          <p:cNvPr id="7" name="Python output text 1"/>
          <p:cNvSpPr txBox="1"/>
          <p:nvPr/>
        </p:nvSpPr>
        <p:spPr>
          <a:xfrm>
            <a:off x="7955280" y="1508760"/>
            <a:ext cx="3520440" cy="1280160"/>
          </a:xfrm>
          <a:prstGeom prst="rect">
            <a:avLst/>
          </a:prstGeom>
          <a:noFill/>
          <a:ln/>
        </p:spPr>
        <p:txBody>
          <a:bodyPr wrap="square" lIns="0" tIns="0" rIns="0" bIns="0" rtlCol="0" anchor="t"/>
          <a:lstStyle/>
          <a:p>
            <a:pPr indent="0" marL="0">
              <a:buNone/>
            </a:pPr>
            <a:r>
              <a:rPr lang="en-US" sz="1800" b="1" dirty="0">
                <a:solidFill>
                  <a:schemeClr val="accent1"/>
                </a:solidFill>
              </a:rPr>
              <a:t>Data profile</a:t>
            </a:r>
            <a:endParaRPr lang="en-US" sz="1400" dirty="0"/>
          </a:p>
          <a:p>
            <a:pPr indent="0" marL="0">
              <a:buNone/>
            </a:pPr>
            <a:r>
              <a:rPr lang="en-US" sz="1600" dirty="0">
                <a:solidFill>
                  <a:schemeClr val="tx1"/>
                </a:solidFill>
              </a:rPr>
              <a:t>Type, missing count and unique count for every column.</a:t>
            </a:r>
            <a:endParaRPr lang="en-US" sz="1400" dirty="0"/>
          </a:p>
        </p:txBody>
      </p:sp>
      <p:sp>
        <p:nvSpPr>
          <p:cNvPr id="8" name="Python output card 2"/>
          <p:cNvSpPr/>
          <p:nvPr/>
        </p:nvSpPr>
        <p:spPr>
          <a:xfrm>
            <a:off x="7772400" y="3017520"/>
            <a:ext cx="3867912" cy="1508760"/>
          </a:xfrm>
          <a:prstGeom prst="roundRect">
            <a:avLst>
              <a:gd name="adj" fmla="val 4848"/>
            </a:avLst>
          </a:prstGeom>
          <a:solidFill>
            <a:schemeClr val="bg2"/>
          </a:solidFill>
          <a:ln w="3175">
            <a:solidFill>
              <a:schemeClr val="bg2"/>
            </a:solidFill>
            <a:prstDash val="solid"/>
          </a:ln>
        </p:spPr>
      </p:sp>
      <p:sp>
        <p:nvSpPr>
          <p:cNvPr id="9" name="Python output text 2"/>
          <p:cNvSpPr txBox="1"/>
          <p:nvPr/>
        </p:nvSpPr>
        <p:spPr>
          <a:xfrm>
            <a:off x="7955280" y="3154680"/>
            <a:ext cx="3520440" cy="1280160"/>
          </a:xfrm>
          <a:prstGeom prst="rect">
            <a:avLst/>
          </a:prstGeom>
          <a:noFill/>
          <a:ln/>
        </p:spPr>
        <p:txBody>
          <a:bodyPr wrap="square" lIns="0" tIns="0" rIns="0" bIns="0" rtlCol="0" anchor="t"/>
          <a:lstStyle/>
          <a:p>
            <a:pPr indent="0" marL="0">
              <a:buNone/>
            </a:pPr>
            <a:r>
              <a:rPr lang="en-US" sz="1800" b="1" dirty="0">
                <a:solidFill>
                  <a:schemeClr val="accent1"/>
                </a:solidFill>
              </a:rPr>
              <a:t>Delay metric</a:t>
            </a:r>
            <a:endParaRPr lang="en-US" sz="1400" dirty="0"/>
          </a:p>
          <a:p>
            <a:pPr indent="0" marL="0">
              <a:buNone/>
            </a:pPr>
            <a:r>
              <a:rPr lang="en-US" sz="1600" dirty="0">
                <a:solidFill>
                  <a:schemeClr val="tx1"/>
                </a:solidFill>
              </a:rPr>
              <a:t>delivery_delay_days = actual date minus due date; positive means late.</a:t>
            </a:r>
            <a:endParaRPr lang="en-US" sz="1400" dirty="0"/>
          </a:p>
        </p:txBody>
      </p:sp>
      <p:sp>
        <p:nvSpPr>
          <p:cNvPr id="10" name="Python output card 3"/>
          <p:cNvSpPr/>
          <p:nvPr/>
        </p:nvSpPr>
        <p:spPr>
          <a:xfrm>
            <a:off x="7772400" y="4663440"/>
            <a:ext cx="3867912" cy="1508760"/>
          </a:xfrm>
          <a:prstGeom prst="roundRect">
            <a:avLst>
              <a:gd name="adj" fmla="val 4848"/>
            </a:avLst>
          </a:prstGeom>
          <a:solidFill>
            <a:schemeClr val="bg2"/>
          </a:solidFill>
          <a:ln w="3175">
            <a:solidFill>
              <a:schemeClr val="bg2"/>
            </a:solidFill>
            <a:prstDash val="solid"/>
          </a:ln>
        </p:spPr>
      </p:sp>
      <p:sp>
        <p:nvSpPr>
          <p:cNvPr id="11" name="Python output text 3"/>
          <p:cNvSpPr txBox="1"/>
          <p:nvPr/>
        </p:nvSpPr>
        <p:spPr>
          <a:xfrm>
            <a:off x="7955280" y="4800600"/>
            <a:ext cx="3520440" cy="1280160"/>
          </a:xfrm>
          <a:prstGeom prst="rect">
            <a:avLst/>
          </a:prstGeom>
          <a:noFill/>
          <a:ln/>
        </p:spPr>
        <p:txBody>
          <a:bodyPr wrap="square" lIns="0" tIns="0" rIns="0" bIns="0" rtlCol="0" anchor="t"/>
          <a:lstStyle/>
          <a:p>
            <a:pPr indent="0" marL="0">
              <a:buNone/>
            </a:pPr>
            <a:r>
              <a:rPr lang="en-US" sz="1800" b="1" dirty="0">
                <a:solidFill>
                  <a:schemeClr val="accent1"/>
                </a:solidFill>
              </a:rPr>
              <a:t>Clean exports</a:t>
            </a:r>
            <a:endParaRPr lang="en-US" sz="1400" dirty="0"/>
          </a:p>
          <a:p>
            <a:pPr indent="0" marL="0">
              <a:buNone/>
            </a:pPr>
            <a:r>
              <a:rPr lang="en-US" sz="1600" dirty="0">
                <a:solidFill>
                  <a:schemeClr val="tx1"/>
                </a:solidFill>
              </a:rPr>
              <a:t>validated_transactions.csv and data_profile.csv feed SQL and Power BI.</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Step 2: PostgreSQL and DBeaver</a:t>
            </a:r>
            <a:endParaRPr lang="en-US" sz="3400" dirty="0"/>
          </a:p>
        </p:txBody>
      </p:sp>
      <p:sp>
        <p:nvSpPr>
          <p:cNvPr id="3" name="Table card 1"/>
          <p:cNvSpPr/>
          <p:nvPr/>
        </p:nvSpPr>
        <p:spPr>
          <a:xfrm>
            <a:off x="548640" y="1371600"/>
            <a:ext cx="4754880" cy="694944"/>
          </a:xfrm>
          <a:prstGeom prst="roundRect">
            <a:avLst>
              <a:gd name="adj" fmla="val 10526"/>
            </a:avLst>
          </a:prstGeom>
          <a:solidFill>
            <a:schemeClr val="bg2"/>
          </a:solidFill>
          <a:ln w="3175">
            <a:solidFill>
              <a:schemeClr val="bg2"/>
            </a:solidFill>
            <a:prstDash val="solid"/>
          </a:ln>
        </p:spPr>
      </p:sp>
      <p:sp>
        <p:nvSpPr>
          <p:cNvPr id="4" name="Table text 1"/>
          <p:cNvSpPr txBox="1"/>
          <p:nvPr/>
        </p:nvSpPr>
        <p:spPr>
          <a:xfrm>
            <a:off x="731520" y="1371600"/>
            <a:ext cx="4434840" cy="694944"/>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stg_rice_transactions</a:t>
            </a:r>
            <a:endParaRPr lang="en-US" sz="1400" dirty="0"/>
          </a:p>
          <a:p>
            <a:pPr indent="0" marL="0">
              <a:buNone/>
            </a:pPr>
            <a:r>
              <a:rPr lang="en-US" sz="1300" dirty="0">
                <a:solidFill>
                  <a:schemeClr val="tx1"/>
                </a:solidFill>
              </a:rPr>
              <a:t>Landing zone for the imported CSV</a:t>
            </a:r>
            <a:endParaRPr lang="en-US" sz="1400" dirty="0"/>
          </a:p>
        </p:txBody>
      </p:sp>
      <p:sp>
        <p:nvSpPr>
          <p:cNvPr id="5" name="Table card 2"/>
          <p:cNvSpPr/>
          <p:nvPr/>
        </p:nvSpPr>
        <p:spPr>
          <a:xfrm>
            <a:off x="548640" y="2157984"/>
            <a:ext cx="4754880" cy="694944"/>
          </a:xfrm>
          <a:prstGeom prst="roundRect">
            <a:avLst>
              <a:gd name="adj" fmla="val 10526"/>
            </a:avLst>
          </a:prstGeom>
          <a:solidFill>
            <a:schemeClr val="bg2"/>
          </a:solidFill>
          <a:ln w="3175">
            <a:solidFill>
              <a:schemeClr val="bg2"/>
            </a:solidFill>
            <a:prstDash val="solid"/>
          </a:ln>
        </p:spPr>
      </p:sp>
      <p:sp>
        <p:nvSpPr>
          <p:cNvPr id="6" name="Table text 2"/>
          <p:cNvSpPr txBox="1"/>
          <p:nvPr/>
        </p:nvSpPr>
        <p:spPr>
          <a:xfrm>
            <a:off x="731520" y="2157984"/>
            <a:ext cx="4434840" cy="694944"/>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dim_mill</a:t>
            </a:r>
            <a:endParaRPr lang="en-US" sz="1400" dirty="0"/>
          </a:p>
          <a:p>
            <a:pPr indent="0" marL="0">
              <a:buNone/>
            </a:pPr>
            <a:r>
              <a:rPr lang="en-US" sz="1300" dirty="0">
                <a:solidFill>
                  <a:schemeClr val="tx1"/>
                </a:solidFill>
              </a:rPr>
              <a:t>Mill attributes: district, mandal, type</a:t>
            </a:r>
            <a:endParaRPr lang="en-US" sz="1400" dirty="0"/>
          </a:p>
        </p:txBody>
      </p:sp>
      <p:sp>
        <p:nvSpPr>
          <p:cNvPr id="7" name="Table card 3"/>
          <p:cNvSpPr/>
          <p:nvPr/>
        </p:nvSpPr>
        <p:spPr>
          <a:xfrm>
            <a:off x="548640" y="2944368"/>
            <a:ext cx="4754880" cy="694944"/>
          </a:xfrm>
          <a:prstGeom prst="roundRect">
            <a:avLst>
              <a:gd name="adj" fmla="val 10526"/>
            </a:avLst>
          </a:prstGeom>
          <a:solidFill>
            <a:schemeClr val="bg2"/>
          </a:solidFill>
          <a:ln w="3175">
            <a:solidFill>
              <a:schemeClr val="bg2"/>
            </a:solidFill>
            <a:prstDash val="solid"/>
          </a:ln>
        </p:spPr>
      </p:sp>
      <p:sp>
        <p:nvSpPr>
          <p:cNvPr id="8" name="Table text 3"/>
          <p:cNvSpPr txBox="1"/>
          <p:nvPr/>
        </p:nvSpPr>
        <p:spPr>
          <a:xfrm>
            <a:off x="731520" y="2944368"/>
            <a:ext cx="4434840" cy="694944"/>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dim_date</a:t>
            </a:r>
            <a:endParaRPr lang="en-US" sz="1400" dirty="0"/>
          </a:p>
          <a:p>
            <a:pPr indent="0" marL="0">
              <a:buNone/>
            </a:pPr>
            <a:r>
              <a:rPr lang="en-US" sz="1300" dirty="0">
                <a:solidFill>
                  <a:schemeClr val="tx1"/>
                </a:solidFill>
              </a:rPr>
              <a:t>Calendar filters: year, month, season</a:t>
            </a:r>
            <a:endParaRPr lang="en-US" sz="1400" dirty="0"/>
          </a:p>
        </p:txBody>
      </p:sp>
      <p:sp>
        <p:nvSpPr>
          <p:cNvPr id="9" name="Table card 4"/>
          <p:cNvSpPr/>
          <p:nvPr/>
        </p:nvSpPr>
        <p:spPr>
          <a:xfrm>
            <a:off x="548640" y="3730752"/>
            <a:ext cx="4754880" cy="694944"/>
          </a:xfrm>
          <a:prstGeom prst="roundRect">
            <a:avLst>
              <a:gd name="adj" fmla="val 10526"/>
            </a:avLst>
          </a:prstGeom>
          <a:solidFill>
            <a:schemeClr val="bg2"/>
          </a:solidFill>
          <a:ln w="3175">
            <a:solidFill>
              <a:schemeClr val="bg2"/>
            </a:solidFill>
            <a:prstDash val="solid"/>
          </a:ln>
        </p:spPr>
      </p:sp>
      <p:sp>
        <p:nvSpPr>
          <p:cNvPr id="10" name="Table text 4"/>
          <p:cNvSpPr txBox="1"/>
          <p:nvPr/>
        </p:nvSpPr>
        <p:spPr>
          <a:xfrm>
            <a:off x="731520" y="3730752"/>
            <a:ext cx="4434840" cy="694944"/>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fact_mill_transactions</a:t>
            </a:r>
            <a:endParaRPr lang="en-US" sz="1400" dirty="0"/>
          </a:p>
          <a:p>
            <a:pPr indent="0" marL="0">
              <a:buNone/>
            </a:pPr>
            <a:r>
              <a:rPr lang="en-US" sz="1300" dirty="0">
                <a:solidFill>
                  <a:schemeClr val="tx1"/>
                </a:solidFill>
              </a:rPr>
              <a:t>One row per transaction_id</a:t>
            </a:r>
            <a:endParaRPr lang="en-US" sz="1400" dirty="0"/>
          </a:p>
        </p:txBody>
      </p:sp>
      <p:sp>
        <p:nvSpPr>
          <p:cNvPr id="11" name="Table card 5"/>
          <p:cNvSpPr/>
          <p:nvPr/>
        </p:nvSpPr>
        <p:spPr>
          <a:xfrm>
            <a:off x="548640" y="4517136"/>
            <a:ext cx="4754880" cy="694944"/>
          </a:xfrm>
          <a:prstGeom prst="roundRect">
            <a:avLst>
              <a:gd name="adj" fmla="val 10526"/>
            </a:avLst>
          </a:prstGeom>
          <a:solidFill>
            <a:schemeClr val="bg2"/>
          </a:solidFill>
          <a:ln w="3175">
            <a:solidFill>
              <a:schemeClr val="bg2"/>
            </a:solidFill>
            <a:prstDash val="solid"/>
          </a:ln>
        </p:spPr>
      </p:sp>
      <p:sp>
        <p:nvSpPr>
          <p:cNvPr id="12" name="Table text 5"/>
          <p:cNvSpPr txBox="1"/>
          <p:nvPr/>
        </p:nvSpPr>
        <p:spPr>
          <a:xfrm>
            <a:off x="731520" y="4517136"/>
            <a:ext cx="4434840" cy="694944"/>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gold_district_month</a:t>
            </a:r>
            <a:endParaRPr lang="en-US" sz="1400" dirty="0"/>
          </a:p>
          <a:p>
            <a:pPr indent="0" marL="0">
              <a:buNone/>
            </a:pPr>
            <a:r>
              <a:rPr lang="en-US" sz="1300" dirty="0">
                <a:solidFill>
                  <a:schemeClr val="tx1"/>
                </a:solidFill>
              </a:rPr>
              <a:t>Dashboard aggregate by district and month</a:t>
            </a:r>
            <a:endParaRPr lang="en-US" sz="1400" dirty="0"/>
          </a:p>
        </p:txBody>
      </p:sp>
      <p:sp>
        <p:nvSpPr>
          <p:cNvPr id="13" name="DBeaver card"/>
          <p:cNvSpPr/>
          <p:nvPr/>
        </p:nvSpPr>
        <p:spPr>
          <a:xfrm>
            <a:off x="548640" y="5349240"/>
            <a:ext cx="4754880" cy="822960"/>
          </a:xfrm>
          <a:prstGeom prst="roundRect">
            <a:avLst>
              <a:gd name="adj" fmla="val 8889"/>
            </a:avLst>
          </a:prstGeom>
          <a:solidFill>
            <a:schemeClr val="accent1"/>
          </a:solidFill>
          <a:ln w="3175">
            <a:solidFill>
              <a:schemeClr val="accent1"/>
            </a:solidFill>
            <a:prstDash val="solid"/>
          </a:ln>
        </p:spPr>
      </p:sp>
      <p:sp>
        <p:nvSpPr>
          <p:cNvPr id="14" name="DBeaver text"/>
          <p:cNvSpPr txBox="1"/>
          <p:nvPr/>
        </p:nvSpPr>
        <p:spPr>
          <a:xfrm>
            <a:off x="731520" y="5349240"/>
            <a:ext cx="4389120" cy="822960"/>
          </a:xfrm>
          <a:prstGeom prst="rect">
            <a:avLst/>
          </a:prstGeom>
          <a:noFill/>
          <a:ln/>
        </p:spPr>
        <p:txBody>
          <a:bodyPr wrap="square" lIns="0" tIns="0" rIns="0" bIns="0" rtlCol="0" anchor="ctr"/>
          <a:lstStyle/>
          <a:p>
            <a:pPr indent="0" marL="0">
              <a:buNone/>
            </a:pPr>
            <a:r>
              <a:rPr lang="en-US" sz="1400" dirty="0">
                <a:solidFill>
                  <a:schemeClr val="bg1"/>
                </a:solidFill>
              </a:rPr>
              <a:t>DBeaver connects to PostgreSQL to import data, then run and save queries.</a:t>
            </a:r>
            <a:endParaRPr lang="en-US" sz="1400" dirty="0"/>
          </a:p>
        </p:txBody>
      </p:sp>
      <p:sp>
        <p:nvSpPr>
          <p:cNvPr id="15" name="SQL code panel"/>
          <p:cNvSpPr/>
          <p:nvPr/>
        </p:nvSpPr>
        <p:spPr>
          <a:xfrm>
            <a:off x="5577840" y="1371600"/>
            <a:ext cx="6062472" cy="3840480"/>
          </a:xfrm>
          <a:prstGeom prst="roundRect">
            <a:avLst>
              <a:gd name="adj" fmla="val 1905"/>
            </a:avLst>
          </a:prstGeom>
          <a:solidFill>
            <a:schemeClr val="tx1"/>
          </a:solidFill>
          <a:ln w="3175">
            <a:solidFill>
              <a:schemeClr val="tx1"/>
            </a:solidFill>
            <a:prstDash val="solid"/>
          </a:ln>
        </p:spPr>
      </p:sp>
      <p:sp>
        <p:nvSpPr>
          <p:cNvPr id="16" name="SQL code label"/>
          <p:cNvSpPr txBox="1"/>
          <p:nvPr/>
        </p:nvSpPr>
        <p:spPr>
          <a:xfrm>
            <a:off x="5806440" y="1536192"/>
            <a:ext cx="5605272" cy="274320"/>
          </a:xfrm>
          <a:prstGeom prst="rect">
            <a:avLst/>
          </a:prstGeom>
          <a:noFill/>
          <a:ln/>
        </p:spPr>
        <p:txBody>
          <a:bodyPr wrap="square" lIns="0" tIns="0" rIns="0" bIns="0" rtlCol="0" anchor="t"/>
          <a:lstStyle/>
          <a:p>
            <a:pPr indent="0" marL="0">
              <a:buNone/>
            </a:pPr>
            <a:r>
              <a:rPr lang="en-US" sz="1200" b="1" dirty="0">
                <a:solidFill>
                  <a:schemeClr val="accent2"/>
                </a:solidFill>
              </a:rPr>
              <a:t>SQL: business questions answered in DBeaver</a:t>
            </a:r>
            <a:endParaRPr lang="en-US" sz="1200" dirty="0"/>
          </a:p>
        </p:txBody>
      </p:sp>
      <p:sp>
        <p:nvSpPr>
          <p:cNvPr id="17" name="SQL code code"/>
          <p:cNvSpPr txBox="1"/>
          <p:nvPr/>
        </p:nvSpPr>
        <p:spPr>
          <a:xfrm>
            <a:off x="5806440" y="1920240"/>
            <a:ext cx="5605272" cy="3154680"/>
          </a:xfrm>
          <a:prstGeom prst="rect">
            <a:avLst/>
          </a:prstGeom>
          <a:noFill/>
          <a:ln/>
        </p:spPr>
        <p:txBody>
          <a:bodyPr wrap="square" lIns="0" tIns="0" rIns="0" bIns="0" rtlCol="0" anchor="t"/>
          <a:lstStyle/>
          <a:p>
            <a:pPr indent="0" marL="0">
              <a:buNone/>
            </a:pPr>
            <a:r>
              <a:rPr lang="en-US" sz="1200" dirty="0">
                <a:solidFill>
                  <a:srgbClr val="9FB5A8"/>
                </a:solidFill>
                <a:latin typeface="Courier New" pitchFamily="34" charset="0"/>
                <a:ea typeface="Courier New" pitchFamily="34" charset="-122"/>
                <a:cs typeface="Courier New" pitchFamily="34" charset="-120"/>
              </a:rPr>
              <a:t>-- Rice production by district</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SELECT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district</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COUNT</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records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rice_produced_tonnes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rice_produced_tonnes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rice_delivered_tonnes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rice_delivered_tonnes</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fact_mill_transactions</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GROUP</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BY</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district</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ORDER</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BY</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rice_produced_tonnes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DESC</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rgbClr val="9FB5A8"/>
                </a:solidFill>
                <a:latin typeface="Courier New" pitchFamily="34" charset="0"/>
                <a:ea typeface="Courier New" pitchFamily="34" charset="-122"/>
                <a:cs typeface="Courier New" pitchFamily="34" charset="-120"/>
              </a:rPr>
              <a:t>-- Conversion ratio by season</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SELECT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season</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100.0</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rice_produced_tonnes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NULLIF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paddy_processed_tonnes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0)</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conversion_pct</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fact_mill_transactions</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GROUP</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BY</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season</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18" name="SQL result card"/>
          <p:cNvSpPr/>
          <p:nvPr/>
        </p:nvSpPr>
        <p:spPr>
          <a:xfrm>
            <a:off x="5577840" y="5349240"/>
            <a:ext cx="6062472" cy="822960"/>
          </a:xfrm>
          <a:prstGeom prst="roundRect">
            <a:avLst>
              <a:gd name="adj" fmla="val 8889"/>
            </a:avLst>
          </a:prstGeom>
          <a:solidFill>
            <a:schemeClr val="accent2">
              <a:alpha val="30000"/>
            </a:schemeClr>
          </a:solidFill>
          <a:ln w="3175">
            <a:solidFill>
              <a:schemeClr val="accent2"/>
            </a:solidFill>
            <a:prstDash val="solid"/>
          </a:ln>
        </p:spPr>
      </p:sp>
      <p:sp>
        <p:nvSpPr>
          <p:cNvPr id="19" name="SQL result text"/>
          <p:cNvSpPr txBox="1"/>
          <p:nvPr/>
        </p:nvSpPr>
        <p:spPr>
          <a:xfrm>
            <a:off x="5760720" y="5349240"/>
            <a:ext cx="5696712" cy="822960"/>
          </a:xfrm>
          <a:prstGeom prst="rect">
            <a:avLst/>
          </a:prstGeom>
          <a:noFill/>
          <a:ln/>
        </p:spPr>
        <p:txBody>
          <a:bodyPr wrap="square" lIns="0" tIns="0" rIns="0" bIns="0" rtlCol="0" anchor="ctr"/>
          <a:lstStyle/>
          <a:p>
            <a:pPr indent="0" marL="0">
              <a:buNone/>
            </a:pPr>
            <a:r>
              <a:rPr lang="en-US" sz="1400" b="1" dirty="0">
                <a:solidFill>
                  <a:schemeClr val="tx1"/>
                </a:solidFill>
              </a:rPr>
              <a:t>Query outputs are saved and reconciled to Python totals before use.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Step 3: Databricks and Delta Lake</a:t>
            </a:r>
            <a:endParaRPr lang="en-US" sz="3400" dirty="0"/>
          </a:p>
        </p:txBody>
      </p:sp>
      <p:sp>
        <p:nvSpPr>
          <p:cNvPr id="3" name="Bronze layer card"/>
          <p:cNvSpPr/>
          <p:nvPr/>
        </p:nvSpPr>
        <p:spPr>
          <a:xfrm>
            <a:off x="548640" y="1371600"/>
            <a:ext cx="4206240" cy="1417320"/>
          </a:xfrm>
          <a:prstGeom prst="roundRect">
            <a:avLst>
              <a:gd name="adj" fmla="val 5161"/>
            </a:avLst>
          </a:prstGeom>
          <a:solidFill>
            <a:srgbClr val="CD7F32"/>
          </a:solidFill>
          <a:ln w="3175">
            <a:solidFill>
              <a:srgbClr val="CD7F32"/>
            </a:solidFill>
            <a:prstDash val="solid"/>
          </a:ln>
        </p:spPr>
      </p:sp>
      <p:sp>
        <p:nvSpPr>
          <p:cNvPr id="4" name="Bronze layer text"/>
          <p:cNvSpPr txBox="1"/>
          <p:nvPr/>
        </p:nvSpPr>
        <p:spPr>
          <a:xfrm>
            <a:off x="777240" y="1508760"/>
            <a:ext cx="3749040" cy="1188720"/>
          </a:xfrm>
          <a:prstGeom prst="rect">
            <a:avLst/>
          </a:prstGeom>
          <a:noFill/>
          <a:ln/>
        </p:spPr>
        <p:txBody>
          <a:bodyPr wrap="square" lIns="0" tIns="0" rIns="0" bIns="0" rtlCol="0" anchor="t"/>
          <a:lstStyle/>
          <a:p>
            <a:pPr indent="0" marL="0">
              <a:buNone/>
            </a:pPr>
            <a:r>
              <a:rPr lang="en-US" sz="2000" b="1" dirty="0">
                <a:solidFill>
                  <a:schemeClr val="tx1"/>
                </a:solidFill>
              </a:rPr>
              <a:t>Bronze</a:t>
            </a:r>
            <a:endParaRPr lang="en-US" sz="1400" dirty="0"/>
          </a:p>
          <a:p>
            <a:pPr indent="0" marL="0">
              <a:buNone/>
            </a:pPr>
            <a:r>
              <a:rPr lang="en-US" sz="1400" dirty="0">
                <a:solidFill>
                  <a:schemeClr val="tx1"/>
                </a:solidFill>
              </a:rPr>
              <a:t>Raw ingested records; keeps source fields and an ingestion timestamp.</a:t>
            </a:r>
            <a:endParaRPr lang="en-US" sz="1400" dirty="0"/>
          </a:p>
        </p:txBody>
      </p:sp>
      <p:sp>
        <p:nvSpPr>
          <p:cNvPr id="5" name="Silver layer card"/>
          <p:cNvSpPr/>
          <p:nvPr/>
        </p:nvSpPr>
        <p:spPr>
          <a:xfrm>
            <a:off x="548640" y="2926080"/>
            <a:ext cx="4206240" cy="1417320"/>
          </a:xfrm>
          <a:prstGeom prst="roundRect">
            <a:avLst>
              <a:gd name="adj" fmla="val 5161"/>
            </a:avLst>
          </a:prstGeom>
          <a:solidFill>
            <a:srgbClr val="C9D1CC"/>
          </a:solidFill>
          <a:ln w="3175">
            <a:solidFill>
              <a:srgbClr val="C9D1CC"/>
            </a:solidFill>
            <a:prstDash val="solid"/>
          </a:ln>
        </p:spPr>
      </p:sp>
      <p:sp>
        <p:nvSpPr>
          <p:cNvPr id="6" name="Silver layer text"/>
          <p:cNvSpPr txBox="1"/>
          <p:nvPr/>
        </p:nvSpPr>
        <p:spPr>
          <a:xfrm>
            <a:off x="777240" y="3063240"/>
            <a:ext cx="3749040" cy="1188720"/>
          </a:xfrm>
          <a:prstGeom prst="rect">
            <a:avLst/>
          </a:prstGeom>
          <a:noFill/>
          <a:ln/>
        </p:spPr>
        <p:txBody>
          <a:bodyPr wrap="square" lIns="0" tIns="0" rIns="0" bIns="0" rtlCol="0" anchor="t"/>
          <a:lstStyle/>
          <a:p>
            <a:pPr indent="0" marL="0">
              <a:buNone/>
            </a:pPr>
            <a:r>
              <a:rPr lang="en-US" sz="2000" b="1" dirty="0">
                <a:solidFill>
                  <a:schemeClr val="tx1"/>
                </a:solidFill>
              </a:rPr>
              <a:t>Silver</a:t>
            </a:r>
            <a:endParaRPr lang="en-US" sz="1400" dirty="0"/>
          </a:p>
          <a:p>
            <a:pPr indent="0" marL="0">
              <a:buNone/>
            </a:pPr>
            <a:r>
              <a:rPr lang="en-US" sz="1400" dirty="0">
                <a:solidFill>
                  <a:schemeClr val="tx1"/>
                </a:solidFill>
              </a:rPr>
              <a:t>Typed, standardized records with date parsing and quality flags.</a:t>
            </a:r>
            <a:endParaRPr lang="en-US" sz="1400" dirty="0"/>
          </a:p>
        </p:txBody>
      </p:sp>
      <p:sp>
        <p:nvSpPr>
          <p:cNvPr id="7" name="Gold layer card"/>
          <p:cNvSpPr/>
          <p:nvPr/>
        </p:nvSpPr>
        <p:spPr>
          <a:xfrm>
            <a:off x="548640" y="4480560"/>
            <a:ext cx="4206240" cy="1417320"/>
          </a:xfrm>
          <a:prstGeom prst="roundRect">
            <a:avLst>
              <a:gd name="adj" fmla="val 5161"/>
            </a:avLst>
          </a:prstGeom>
          <a:solidFill>
            <a:schemeClr val="accent2"/>
          </a:solidFill>
          <a:ln w="3175">
            <a:solidFill>
              <a:schemeClr val="accent2"/>
            </a:solidFill>
            <a:prstDash val="solid"/>
          </a:ln>
        </p:spPr>
      </p:sp>
      <p:sp>
        <p:nvSpPr>
          <p:cNvPr id="8" name="Gold layer text"/>
          <p:cNvSpPr txBox="1"/>
          <p:nvPr/>
        </p:nvSpPr>
        <p:spPr>
          <a:xfrm>
            <a:off x="777240" y="4617720"/>
            <a:ext cx="3749040" cy="1188720"/>
          </a:xfrm>
          <a:prstGeom prst="rect">
            <a:avLst/>
          </a:prstGeom>
          <a:noFill/>
          <a:ln/>
        </p:spPr>
        <p:txBody>
          <a:bodyPr wrap="square" lIns="0" tIns="0" rIns="0" bIns="0" rtlCol="0" anchor="t"/>
          <a:lstStyle/>
          <a:p>
            <a:pPr indent="0" marL="0">
              <a:buNone/>
            </a:pPr>
            <a:r>
              <a:rPr lang="en-US" sz="2000" b="1" dirty="0">
                <a:solidFill>
                  <a:schemeClr val="tx1"/>
                </a:solidFill>
              </a:rPr>
              <a:t>Gold</a:t>
            </a:r>
            <a:endParaRPr lang="en-US" sz="1400" dirty="0"/>
          </a:p>
          <a:p>
            <a:pPr indent="0" marL="0">
              <a:buNone/>
            </a:pPr>
            <a:r>
              <a:rPr lang="en-US" sz="1400" dirty="0">
                <a:solidFill>
                  <a:schemeClr val="tx1"/>
                </a:solidFill>
              </a:rPr>
              <a:t>Business aggregates by district, month, season, mill type and rice type.</a:t>
            </a:r>
            <a:endParaRPr lang="en-US" sz="1400" dirty="0"/>
          </a:p>
        </p:txBody>
      </p:sp>
      <p:sp>
        <p:nvSpPr>
          <p:cNvPr id="9" name="PySpark code panel"/>
          <p:cNvSpPr/>
          <p:nvPr/>
        </p:nvSpPr>
        <p:spPr>
          <a:xfrm>
            <a:off x="5029200" y="1371600"/>
            <a:ext cx="6611112" cy="4069080"/>
          </a:xfrm>
          <a:prstGeom prst="roundRect">
            <a:avLst>
              <a:gd name="adj" fmla="val 1798"/>
            </a:avLst>
          </a:prstGeom>
          <a:solidFill>
            <a:schemeClr val="tx1"/>
          </a:solidFill>
          <a:ln w="3175">
            <a:solidFill>
              <a:schemeClr val="tx1"/>
            </a:solidFill>
            <a:prstDash val="solid"/>
          </a:ln>
        </p:spPr>
      </p:sp>
      <p:sp>
        <p:nvSpPr>
          <p:cNvPr id="10" name="PySpark code label"/>
          <p:cNvSpPr txBox="1"/>
          <p:nvPr/>
        </p:nvSpPr>
        <p:spPr>
          <a:xfrm>
            <a:off x="5257800" y="1536192"/>
            <a:ext cx="6153912" cy="274320"/>
          </a:xfrm>
          <a:prstGeom prst="rect">
            <a:avLst/>
          </a:prstGeom>
          <a:noFill/>
          <a:ln/>
        </p:spPr>
        <p:txBody>
          <a:bodyPr wrap="square" lIns="0" tIns="0" rIns="0" bIns="0" rtlCol="0" anchor="t"/>
          <a:lstStyle/>
          <a:p>
            <a:pPr indent="0" marL="0">
              <a:buNone/>
            </a:pPr>
            <a:r>
              <a:rPr lang="en-US" sz="1200" b="1" dirty="0">
                <a:solidFill>
                  <a:schemeClr val="accent2"/>
                </a:solidFill>
              </a:rPr>
              <a:t>PySpark: Bronze to Silver Delta table</a:t>
            </a:r>
            <a:endParaRPr lang="en-US" sz="1200" dirty="0"/>
          </a:p>
        </p:txBody>
      </p:sp>
      <p:sp>
        <p:nvSpPr>
          <p:cNvPr id="11" name="PySpark code code"/>
          <p:cNvSpPr txBox="1"/>
          <p:nvPr/>
        </p:nvSpPr>
        <p:spPr>
          <a:xfrm>
            <a:off x="5257800" y="1920240"/>
            <a:ext cx="6153912" cy="338328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pyspark</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sql</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import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functions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F</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rgbClr val="9FB5A8"/>
                </a:solidFill>
                <a:latin typeface="Courier New" pitchFamily="34" charset="0"/>
                <a:ea typeface="Courier New" pitchFamily="34" charset="-122"/>
                <a:cs typeface="Courier New" pitchFamily="34" charset="-120"/>
              </a:rPr>
              <a:t># Bronze: read the raw CSV</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raw</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spark</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read</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option</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"header"</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True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option</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"inferSchema"</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True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csv</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"/Volumes/&lt;catalog&gt;/&lt;schema&gt;/&lt;volume&gt;/rice.csv"</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rgbClr val="9FB5A8"/>
                </a:solidFill>
                <a:latin typeface="Courier New" pitchFamily="34" charset="0"/>
                <a:ea typeface="Courier New" pitchFamily="34" charset="-122"/>
                <a:cs typeface="Courier New" pitchFamily="34" charset="-120"/>
              </a:rPr>
              <a:t># Silver: standardize and add quality flags</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silver</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raw</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withColumn</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"transaction_date"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to_date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"transaction_date"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withColumn</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"ingestion_timestamp"</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current_timestamp</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withColumn</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"quality_missing_moisture"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F</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col</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"moisture_percentage"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isNull</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rgbClr val="9FB5A8"/>
                </a:solidFill>
                <a:latin typeface="Courier New" pitchFamily="34" charset="0"/>
                <a:ea typeface="Courier New" pitchFamily="34" charset="-122"/>
                <a:cs typeface="Courier New" pitchFamily="34" charset="-120"/>
              </a:rPr>
              <a:t># Write the Delta table</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silver</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write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format</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"delta"</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mode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"overwrite"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saveAsTable</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"rice_analytics.silver_transactions"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12" name="Template note card"/>
          <p:cNvSpPr/>
          <p:nvPr/>
        </p:nvSpPr>
        <p:spPr>
          <a:xfrm>
            <a:off x="5029200" y="5577840"/>
            <a:ext cx="6611112" cy="594360"/>
          </a:xfrm>
          <a:prstGeom prst="roundRect">
            <a:avLst>
              <a:gd name="adj" fmla="val 12308"/>
            </a:avLst>
          </a:prstGeom>
          <a:solidFill>
            <a:schemeClr val="accent2">
              <a:alpha val="30000"/>
            </a:schemeClr>
          </a:solidFill>
          <a:ln w="3175">
            <a:solidFill>
              <a:schemeClr val="accent2"/>
            </a:solidFill>
            <a:prstDash val="solid"/>
          </a:ln>
        </p:spPr>
      </p:sp>
      <p:sp>
        <p:nvSpPr>
          <p:cNvPr id="13" name="Template note text"/>
          <p:cNvSpPr txBox="1"/>
          <p:nvPr/>
        </p:nvSpPr>
        <p:spPr>
          <a:xfrm>
            <a:off x="5212080" y="5577840"/>
            <a:ext cx="6245352" cy="594360"/>
          </a:xfrm>
          <a:prstGeom prst="rect">
            <a:avLst/>
          </a:prstGeom>
          <a:noFill/>
          <a:ln/>
        </p:spPr>
        <p:txBody>
          <a:bodyPr wrap="square" lIns="0" tIns="0" rIns="0" bIns="0" rtlCol="0" anchor="ctr"/>
          <a:lstStyle/>
          <a:p>
            <a:pPr indent="0" marL="0">
              <a:buNone/>
            </a:pPr>
            <a:r>
              <a:rPr lang="en-US" sz="1400" b="1" dirty="0">
                <a:solidFill>
                  <a:schemeClr val="tx1"/>
                </a:solidFill>
              </a:rPr>
              <a:t>Template only: replace the placeholder path before running.</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Data Quality and Validation</a:t>
            </a:r>
            <a:endParaRPr lang="en-US" sz="3400" dirty="0"/>
          </a:p>
        </p:txBody>
      </p:sp>
      <p:graphicFrame>
        <p:nvGraphicFramePr>
          <p:cNvPr id="11" name="Quality checks table"/>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2834640"/>
                <a:gridCol w="2560320"/>
              </a:tblGrid>
              <a:tr h="457200">
                <a:tc>
                  <a:txBody>
                    <a:bodyPr/>
                    <a:lstStyle/>
                    <a:p>
                      <a:pPr indent="0" marL="0">
                        <a:buNone/>
                      </a:pPr>
                      <a:r>
                        <a:rPr lang="en-US" sz="1400" b="1" dirty="0">
                          <a:solidFill>
                            <a:srgbClr val="FFFFFF"/>
                          </a:solidFill>
                          <a:latin typeface="+mn-lt" pitchFamily="34" charset="0"/>
                          <a:ea typeface="+mn-lt" pitchFamily="34" charset="-122"/>
                          <a:cs typeface="+mn-lt" pitchFamily="34" charset="-120"/>
                        </a:rPr>
                        <a:t>Check</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1F4D3A"/>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Result</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1F4D3A"/>
                    </a:solidFill>
                  </a:tcPr>
                </a:tc>
              </a:tr>
              <a:tr h="457200">
                <a:tc>
                  <a:txBody>
                    <a:bodyPr/>
                    <a:lstStyle/>
                    <a:p>
                      <a:pPr indent="0" marL="0">
                        <a:buNone/>
                      </a:pPr>
                      <a:r>
                        <a:rPr lang="en-US" sz="1400" dirty="0">
                          <a:solidFill>
                            <a:srgbClr val="1B2B24"/>
                          </a:solidFill>
                          <a:latin typeface="+mn-lt" pitchFamily="34" charset="0"/>
                          <a:ea typeface="+mn-lt" pitchFamily="34" charset="-122"/>
                          <a:cs typeface="+mn-lt" pitchFamily="34" charset="-120"/>
                        </a:rPr>
                        <a:t>Row count</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400" b="1" dirty="0">
                          <a:solidFill>
                            <a:srgbClr val="1B2B24"/>
                          </a:solidFill>
                          <a:latin typeface="+mn-lt" pitchFamily="34" charset="0"/>
                          <a:ea typeface="+mn-lt" pitchFamily="34" charset="-122"/>
                          <a:cs typeface="+mn-lt" pitchFamily="34" charset="-120"/>
                        </a:rPr>
                        <a:t>100,000</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57200">
                <a:tc>
                  <a:txBody>
                    <a:bodyPr/>
                    <a:lstStyle/>
                    <a:p>
                      <a:pPr indent="0" marL="0">
                        <a:buNone/>
                      </a:pPr>
                      <a:r>
                        <a:rPr lang="en-US" sz="1400" dirty="0">
                          <a:solidFill>
                            <a:srgbClr val="1B2B24"/>
                          </a:solidFill>
                          <a:latin typeface="+mn-lt" pitchFamily="34" charset="0"/>
                          <a:ea typeface="+mn-lt" pitchFamily="34" charset="-122"/>
                          <a:cs typeface="+mn-lt" pitchFamily="34" charset="-120"/>
                        </a:rPr>
                        <a:t>Missing cells</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400" b="1" dirty="0">
                          <a:solidFill>
                            <a:srgbClr val="1B2B24"/>
                          </a:solidFill>
                          <a:latin typeface="+mn-lt" pitchFamily="34" charset="0"/>
                          <a:ea typeface="+mn-lt" pitchFamily="34" charset="-122"/>
                          <a:cs typeface="+mn-lt" pitchFamily="34" charset="-120"/>
                        </a:rPr>
                        <a:t>1,499</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57200">
                <a:tc>
                  <a:txBody>
                    <a:bodyPr/>
                    <a:lstStyle/>
                    <a:p>
                      <a:pPr indent="0" marL="0">
                        <a:buNone/>
                      </a:pPr>
                      <a:r>
                        <a:rPr lang="en-US" sz="1400" dirty="0">
                          <a:solidFill>
                            <a:srgbClr val="1B2B24"/>
                          </a:solidFill>
                          <a:latin typeface="+mn-lt" pitchFamily="34" charset="0"/>
                          <a:ea typeface="+mn-lt" pitchFamily="34" charset="-122"/>
                          <a:cs typeface="+mn-lt" pitchFamily="34" charset="-120"/>
                        </a:rPr>
                        <a:t>Exact duplicate rows</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400" b="1" dirty="0">
                          <a:solidFill>
                            <a:srgbClr val="1B2B24"/>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57200">
                <a:tc>
                  <a:txBody>
                    <a:bodyPr/>
                    <a:lstStyle/>
                    <a:p>
                      <a:pPr indent="0" marL="0">
                        <a:buNone/>
                      </a:pPr>
                      <a:r>
                        <a:rPr lang="en-US" sz="1400" dirty="0">
                          <a:solidFill>
                            <a:srgbClr val="1B2B24"/>
                          </a:solidFill>
                          <a:latin typeface="+mn-lt" pitchFamily="34" charset="0"/>
                          <a:ea typeface="+mn-lt" pitchFamily="34" charset="-122"/>
                          <a:cs typeface="+mn-lt" pitchFamily="34" charset="-120"/>
                        </a:rPr>
                        <a:t>Unique transaction IDs</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400" b="1" dirty="0">
                          <a:solidFill>
                            <a:srgbClr val="1B2B24"/>
                          </a:solidFill>
                          <a:latin typeface="+mn-lt" pitchFamily="34" charset="0"/>
                          <a:ea typeface="+mn-lt" pitchFamily="34" charset="-122"/>
                          <a:cs typeface="+mn-lt" pitchFamily="34" charset="-120"/>
                        </a:rPr>
                        <a:t>100,000</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57200">
                <a:tc>
                  <a:txBody>
                    <a:bodyPr/>
                    <a:lstStyle/>
                    <a:p>
                      <a:pPr indent="0" marL="0">
                        <a:buNone/>
                      </a:pPr>
                      <a:r>
                        <a:rPr lang="en-US" sz="1400" dirty="0">
                          <a:solidFill>
                            <a:srgbClr val="1B2B24"/>
                          </a:solidFill>
                          <a:latin typeface="+mn-lt" pitchFamily="34" charset="0"/>
                          <a:ea typeface="+mn-lt" pitchFamily="34" charset="-122"/>
                          <a:cs typeface="+mn-lt" pitchFamily="34" charset="-120"/>
                        </a:rPr>
                        <a:t>Date coverage</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400" b="1" dirty="0">
                          <a:solidFill>
                            <a:srgbClr val="1B2B24"/>
                          </a:solidFill>
                          <a:latin typeface="+mn-lt" pitchFamily="34" charset="0"/>
                          <a:ea typeface="+mn-lt" pitchFamily="34" charset="-122"/>
                          <a:cs typeface="+mn-lt" pitchFamily="34" charset="-120"/>
                        </a:rPr>
                        <a:t>1 Jul 2022 – 30 Jun 2026</a:t>
                      </a:r>
                      <a:endParaRPr lang="en-US" sz="1400" dirty="0">
                        <a:latin typeface="+mn-lt" charset="0"/>
                        <a:ea typeface="+mn-lt" charset="0"/>
                        <a:cs typeface="+mn-lt" charset="0"/>
                      </a:endParaRPr>
                    </a:p>
                  </a:txBody>
                  <a:tcPr marL="91440" marR="91440" marT="45720" marB="4572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bl>
          </a:graphicData>
        </a:graphic>
      </p:graphicFrame>
      <p:sp>
        <p:nvSpPr>
          <p:cNvPr id="4" name="Handling policy card"/>
          <p:cNvSpPr/>
          <p:nvPr/>
        </p:nvSpPr>
        <p:spPr>
          <a:xfrm>
            <a:off x="548640" y="4343400"/>
            <a:ext cx="5394960" cy="1828800"/>
          </a:xfrm>
          <a:prstGeom prst="roundRect">
            <a:avLst>
              <a:gd name="adj" fmla="val 4000"/>
            </a:avLst>
          </a:prstGeom>
          <a:solidFill>
            <a:schemeClr val="bg2"/>
          </a:solidFill>
          <a:ln w="3175">
            <a:solidFill>
              <a:schemeClr val="bg2"/>
            </a:solidFill>
            <a:prstDash val="solid"/>
          </a:ln>
        </p:spPr>
      </p:sp>
      <p:sp>
        <p:nvSpPr>
          <p:cNvPr id="5" name="Handling policy text"/>
          <p:cNvSpPr txBox="1"/>
          <p:nvPr/>
        </p:nvSpPr>
        <p:spPr>
          <a:xfrm>
            <a:off x="777240" y="4480560"/>
            <a:ext cx="4937760" cy="1600200"/>
          </a:xfrm>
          <a:prstGeom prst="rect">
            <a:avLst/>
          </a:prstGeom>
          <a:noFill/>
          <a:ln/>
        </p:spPr>
        <p:txBody>
          <a:bodyPr wrap="square" lIns="0" tIns="0" rIns="0" bIns="0" rtlCol="0" anchor="t"/>
          <a:lstStyle/>
          <a:p>
            <a:pPr indent="0" marL="0">
              <a:buNone/>
            </a:pPr>
            <a:r>
              <a:rPr lang="en-US" sz="1800" b="1" dirty="0">
                <a:solidFill>
                  <a:schemeClr val="accent1"/>
                </a:solidFill>
              </a:rPr>
              <a:t>Handling policy</a:t>
            </a:r>
            <a:endParaRPr lang="en-US" sz="1400" dirty="0"/>
          </a:p>
          <a:p>
            <a:pPr indent="0" marL="0">
              <a:buNone/>
            </a:pPr>
            <a:r>
              <a:rPr lang="en-US" sz="1600" dirty="0">
                <a:solidFill>
                  <a:schemeClr val="tx1"/>
                </a:solidFill>
              </a:rPr>
              <a:t>Flag missing values instead of imputing them. Use complete-case denominators for date and cost metrics. Quarantine negative quantities in Silver.</a:t>
            </a:r>
            <a:endParaRPr lang="en-US" sz="1400" dirty="0"/>
          </a:p>
        </p:txBody>
      </p:sp>
      <p:sp>
        <p:nvSpPr>
          <p:cNvPr id="6" name="Missing chart card"/>
          <p:cNvSpPr/>
          <p:nvPr/>
        </p:nvSpPr>
        <p:spPr>
          <a:xfrm>
            <a:off x="6217920" y="1371600"/>
            <a:ext cx="5422392" cy="3840480"/>
          </a:xfrm>
          <a:prstGeom prst="roundRect">
            <a:avLst>
              <a:gd name="adj" fmla="val 1905"/>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graphicFrame>
        <p:nvGraphicFramePr>
          <p:cNvPr id="7" name="Chart 0" descr=""/>
          <p:cNvGraphicFramePr/>
          <p:nvPr/>
        </p:nvGraphicFramePr>
        <p:xfrm>
          <a:off x="6355080" y="1463040"/>
          <a:ext cx="5148072" cy="3657600"/>
        </p:xfrm>
        <a:graphic xmlns:a="http://schemas.openxmlformats.org/drawingml/2006/main">
          <a:graphicData uri="http://schemas.openxmlformats.org/drawingml/2006/chart">
            <c:chart xmlns:c="http://schemas.openxmlformats.org/drawingml/2006/chart" r:id="rId1"/>
          </a:graphicData>
        </a:graphic>
      </p:graphicFrame>
      <p:sp>
        <p:nvSpPr>
          <p:cNvPr id="8" name="Missing total card"/>
          <p:cNvSpPr/>
          <p:nvPr/>
        </p:nvSpPr>
        <p:spPr>
          <a:xfrm>
            <a:off x="6217920" y="5349240"/>
            <a:ext cx="5422392" cy="822960"/>
          </a:xfrm>
          <a:prstGeom prst="roundRect">
            <a:avLst>
              <a:gd name="adj" fmla="val 8889"/>
            </a:avLst>
          </a:prstGeom>
          <a:solidFill>
            <a:schemeClr val="accent2">
              <a:alpha val="30000"/>
            </a:schemeClr>
          </a:solidFill>
          <a:ln w="3175">
            <a:solidFill>
              <a:schemeClr val="accent2"/>
            </a:solidFill>
            <a:prstDash val="solid"/>
          </a:ln>
        </p:spPr>
      </p:sp>
      <p:sp>
        <p:nvSpPr>
          <p:cNvPr id="9" name="Missing total text"/>
          <p:cNvSpPr txBox="1"/>
          <p:nvPr/>
        </p:nvSpPr>
        <p:spPr>
          <a:xfrm>
            <a:off x="6400800" y="5349240"/>
            <a:ext cx="5056632" cy="822960"/>
          </a:xfrm>
          <a:prstGeom prst="rect">
            <a:avLst/>
          </a:prstGeom>
          <a:noFill/>
          <a:ln/>
        </p:spPr>
        <p:txBody>
          <a:bodyPr wrap="square" lIns="0" tIns="0" rIns="0" bIns="0" rtlCol="0" anchor="ctr"/>
          <a:lstStyle/>
          <a:p>
            <a:pPr indent="0" marL="0">
              <a:buNone/>
            </a:pPr>
            <a:r>
              <a:rPr lang="en-US" sz="1400" b="1" dirty="0">
                <a:solidFill>
                  <a:schemeClr val="tx1"/>
                </a:solidFill>
              </a:rPr>
              <a:t>600 + 399 + 300 + 200 = 1,499 missing cells in four columns.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Power BI Dashboard: Executive Overview</a:t>
            </a:r>
            <a:endParaRPr lang="en-US" sz="3400" dirty="0"/>
          </a:p>
        </p:txBody>
      </p:sp>
      <p:sp>
        <p:nvSpPr>
          <p:cNvPr id="3" name="Dashboard canvas"/>
          <p:cNvSpPr/>
          <p:nvPr/>
        </p:nvSpPr>
        <p:spPr>
          <a:xfrm>
            <a:off x="548640" y="1325880"/>
            <a:ext cx="11091672" cy="4892040"/>
          </a:xfrm>
          <a:prstGeom prst="roundRect">
            <a:avLst>
              <a:gd name="adj" fmla="val 1495"/>
            </a:avLst>
          </a:prstGeom>
          <a:solidFill>
            <a:schemeClr val="bg2"/>
          </a:solidFill>
          <a:ln w="12700">
            <a:solidFill>
              <a:schemeClr val="accent6"/>
            </a:solidFill>
            <a:prstDash val="solid"/>
          </a:ln>
        </p:spPr>
      </p:sp>
      <p:sp>
        <p:nvSpPr>
          <p:cNvPr id="4" name="Slicer 1"/>
          <p:cNvSpPr/>
          <p:nvPr/>
        </p:nvSpPr>
        <p:spPr>
          <a:xfrm>
            <a:off x="731520" y="1463040"/>
            <a:ext cx="2560320" cy="384048"/>
          </a:xfrm>
          <a:prstGeom prst="roundRect">
            <a:avLst>
              <a:gd name="adj" fmla="val 19048"/>
            </a:avLst>
          </a:prstGeom>
          <a:solidFill>
            <a:schemeClr val="bg1"/>
          </a:solidFill>
          <a:ln w="12700">
            <a:solidFill>
              <a:schemeClr val="accent6"/>
            </a:solidFill>
            <a:prstDash val="solid"/>
          </a:ln>
        </p:spPr>
      </p:sp>
      <p:sp>
        <p:nvSpPr>
          <p:cNvPr id="5" name="Slicer text 1"/>
          <p:cNvSpPr txBox="1"/>
          <p:nvPr/>
        </p:nvSpPr>
        <p:spPr>
          <a:xfrm>
            <a:off x="868680" y="1463040"/>
            <a:ext cx="2286000" cy="384048"/>
          </a:xfrm>
          <a:prstGeom prst="rect">
            <a:avLst/>
          </a:prstGeom>
          <a:noFill/>
          <a:ln/>
        </p:spPr>
        <p:txBody>
          <a:bodyPr wrap="square" lIns="0" tIns="0" rIns="0" bIns="0" rtlCol="0" anchor="ctr"/>
          <a:lstStyle/>
          <a:p>
            <a:pPr indent="0" marL="0">
              <a:buNone/>
            </a:pPr>
            <a:r>
              <a:rPr lang="en-US" sz="1200" dirty="0">
                <a:solidFill>
                  <a:schemeClr val="accent5"/>
                </a:solidFill>
              </a:rPr>
              <a:t>Date: Jul 2022 – Jun 2026   ▾</a:t>
            </a:r>
            <a:endParaRPr lang="en-US" sz="1200" dirty="0"/>
          </a:p>
        </p:txBody>
      </p:sp>
      <p:sp>
        <p:nvSpPr>
          <p:cNvPr id="6" name="Slicer 2"/>
          <p:cNvSpPr/>
          <p:nvPr/>
        </p:nvSpPr>
        <p:spPr>
          <a:xfrm>
            <a:off x="3429000" y="1463040"/>
            <a:ext cx="2560320" cy="384048"/>
          </a:xfrm>
          <a:prstGeom prst="roundRect">
            <a:avLst>
              <a:gd name="adj" fmla="val 19048"/>
            </a:avLst>
          </a:prstGeom>
          <a:solidFill>
            <a:schemeClr val="bg1"/>
          </a:solidFill>
          <a:ln w="12700">
            <a:solidFill>
              <a:schemeClr val="accent6"/>
            </a:solidFill>
            <a:prstDash val="solid"/>
          </a:ln>
        </p:spPr>
      </p:sp>
      <p:sp>
        <p:nvSpPr>
          <p:cNvPr id="7" name="Slicer text 2"/>
          <p:cNvSpPr txBox="1"/>
          <p:nvPr/>
        </p:nvSpPr>
        <p:spPr>
          <a:xfrm>
            <a:off x="3566160" y="1463040"/>
            <a:ext cx="2286000" cy="384048"/>
          </a:xfrm>
          <a:prstGeom prst="rect">
            <a:avLst/>
          </a:prstGeom>
          <a:noFill/>
          <a:ln/>
        </p:spPr>
        <p:txBody>
          <a:bodyPr wrap="square" lIns="0" tIns="0" rIns="0" bIns="0" rtlCol="0" anchor="ctr"/>
          <a:lstStyle/>
          <a:p>
            <a:pPr indent="0" marL="0">
              <a:buNone/>
            </a:pPr>
            <a:r>
              <a:rPr lang="en-US" sz="1200" dirty="0">
                <a:solidFill>
                  <a:schemeClr val="accent5"/>
                </a:solidFill>
              </a:rPr>
              <a:t>District: All   ▾</a:t>
            </a:r>
            <a:endParaRPr lang="en-US" sz="1200" dirty="0"/>
          </a:p>
        </p:txBody>
      </p:sp>
      <p:sp>
        <p:nvSpPr>
          <p:cNvPr id="8" name="Slicer 3"/>
          <p:cNvSpPr/>
          <p:nvPr/>
        </p:nvSpPr>
        <p:spPr>
          <a:xfrm>
            <a:off x="6126480" y="1463040"/>
            <a:ext cx="2560320" cy="384048"/>
          </a:xfrm>
          <a:prstGeom prst="roundRect">
            <a:avLst>
              <a:gd name="adj" fmla="val 19048"/>
            </a:avLst>
          </a:prstGeom>
          <a:solidFill>
            <a:schemeClr val="bg1"/>
          </a:solidFill>
          <a:ln w="12700">
            <a:solidFill>
              <a:schemeClr val="accent6"/>
            </a:solidFill>
            <a:prstDash val="solid"/>
          </a:ln>
        </p:spPr>
      </p:sp>
      <p:sp>
        <p:nvSpPr>
          <p:cNvPr id="9" name="Slicer text 3"/>
          <p:cNvSpPr txBox="1"/>
          <p:nvPr/>
        </p:nvSpPr>
        <p:spPr>
          <a:xfrm>
            <a:off x="6263640" y="1463040"/>
            <a:ext cx="2286000" cy="384048"/>
          </a:xfrm>
          <a:prstGeom prst="rect">
            <a:avLst/>
          </a:prstGeom>
          <a:noFill/>
          <a:ln/>
        </p:spPr>
        <p:txBody>
          <a:bodyPr wrap="square" lIns="0" tIns="0" rIns="0" bIns="0" rtlCol="0" anchor="ctr"/>
          <a:lstStyle/>
          <a:p>
            <a:pPr indent="0" marL="0">
              <a:buNone/>
            </a:pPr>
            <a:r>
              <a:rPr lang="en-US" sz="1200" dirty="0">
                <a:solidFill>
                  <a:schemeClr val="accent5"/>
                </a:solidFill>
              </a:rPr>
              <a:t>Season: All   ▾</a:t>
            </a:r>
            <a:endParaRPr lang="en-US" sz="1200" dirty="0"/>
          </a:p>
        </p:txBody>
      </p:sp>
      <p:sp>
        <p:nvSpPr>
          <p:cNvPr id="10" name="Slicer 4"/>
          <p:cNvSpPr/>
          <p:nvPr/>
        </p:nvSpPr>
        <p:spPr>
          <a:xfrm>
            <a:off x="8823960" y="1463040"/>
            <a:ext cx="2560320" cy="384048"/>
          </a:xfrm>
          <a:prstGeom prst="roundRect">
            <a:avLst>
              <a:gd name="adj" fmla="val 19048"/>
            </a:avLst>
          </a:prstGeom>
          <a:solidFill>
            <a:schemeClr val="bg1"/>
          </a:solidFill>
          <a:ln w="12700">
            <a:solidFill>
              <a:schemeClr val="accent6"/>
            </a:solidFill>
            <a:prstDash val="solid"/>
          </a:ln>
        </p:spPr>
      </p:sp>
      <p:sp>
        <p:nvSpPr>
          <p:cNvPr id="11" name="Slicer text 4"/>
          <p:cNvSpPr txBox="1"/>
          <p:nvPr/>
        </p:nvSpPr>
        <p:spPr>
          <a:xfrm>
            <a:off x="8961120" y="1463040"/>
            <a:ext cx="2286000" cy="384048"/>
          </a:xfrm>
          <a:prstGeom prst="rect">
            <a:avLst/>
          </a:prstGeom>
          <a:noFill/>
          <a:ln/>
        </p:spPr>
        <p:txBody>
          <a:bodyPr wrap="square" lIns="0" tIns="0" rIns="0" bIns="0" rtlCol="0" anchor="ctr"/>
          <a:lstStyle/>
          <a:p>
            <a:pPr indent="0" marL="0">
              <a:buNone/>
            </a:pPr>
            <a:r>
              <a:rPr lang="en-US" sz="1200" dirty="0">
                <a:solidFill>
                  <a:schemeClr val="accent5"/>
                </a:solidFill>
              </a:rPr>
              <a:t>Mill type: All   ▾</a:t>
            </a:r>
            <a:endParaRPr lang="en-US" sz="1200" dirty="0"/>
          </a:p>
        </p:txBody>
      </p:sp>
      <p:sp>
        <p:nvSpPr>
          <p:cNvPr id="12" name="KPI card 1"/>
          <p:cNvSpPr/>
          <p:nvPr/>
        </p:nvSpPr>
        <p:spPr>
          <a:xfrm>
            <a:off x="731520" y="1965960"/>
            <a:ext cx="2011680" cy="868680"/>
          </a:xfrm>
          <a:prstGeom prst="roundRect">
            <a:avLst>
              <a:gd name="adj" fmla="val 8421"/>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sp>
        <p:nvSpPr>
          <p:cNvPr id="13" name="KPI label 1"/>
          <p:cNvSpPr txBox="1"/>
          <p:nvPr/>
        </p:nvSpPr>
        <p:spPr>
          <a:xfrm>
            <a:off x="868680" y="2029968"/>
            <a:ext cx="1737360" cy="274320"/>
          </a:xfrm>
          <a:prstGeom prst="rect">
            <a:avLst/>
          </a:prstGeom>
          <a:noFill/>
          <a:ln/>
        </p:spPr>
        <p:txBody>
          <a:bodyPr wrap="square" lIns="0" tIns="0" rIns="0" bIns="0" rtlCol="0" anchor="t"/>
          <a:lstStyle/>
          <a:p>
            <a:pPr indent="0" marL="0">
              <a:buNone/>
            </a:pPr>
            <a:r>
              <a:rPr lang="en-US" sz="1200" dirty="0">
                <a:solidFill>
                  <a:schemeClr val="accent5"/>
                </a:solidFill>
              </a:rPr>
              <a:t>Paddy received</a:t>
            </a:r>
            <a:endParaRPr lang="en-US" sz="1200" dirty="0"/>
          </a:p>
        </p:txBody>
      </p:sp>
      <p:sp>
        <p:nvSpPr>
          <p:cNvPr id="14" name="KPI value 1"/>
          <p:cNvSpPr txBox="1"/>
          <p:nvPr/>
        </p:nvSpPr>
        <p:spPr>
          <a:xfrm>
            <a:off x="868680" y="2286000"/>
            <a:ext cx="1737360" cy="475488"/>
          </a:xfrm>
          <a:prstGeom prst="rect">
            <a:avLst/>
          </a:prstGeom>
          <a:noFill/>
          <a:ln/>
        </p:spPr>
        <p:txBody>
          <a:bodyPr wrap="square" lIns="0" tIns="0" rIns="0" bIns="0" rtlCol="0" anchor="t"/>
          <a:lstStyle/>
          <a:p>
            <a:pPr indent="0" marL="0">
              <a:buNone/>
            </a:pPr>
            <a:r>
              <a:rPr lang="en-US" sz="2600" b="1" dirty="0">
                <a:solidFill>
                  <a:schemeClr val="tx2"/>
                </a:solidFill>
              </a:rPr>
              <a:t>4.13M t</a:t>
            </a:r>
            <a:endParaRPr lang="en-US" sz="2600" dirty="0"/>
          </a:p>
        </p:txBody>
      </p:sp>
      <p:sp>
        <p:nvSpPr>
          <p:cNvPr id="15" name="KPI card 2"/>
          <p:cNvSpPr/>
          <p:nvPr/>
        </p:nvSpPr>
        <p:spPr>
          <a:xfrm>
            <a:off x="2880360" y="1965960"/>
            <a:ext cx="2011680" cy="868680"/>
          </a:xfrm>
          <a:prstGeom prst="roundRect">
            <a:avLst>
              <a:gd name="adj" fmla="val 8421"/>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sp>
        <p:nvSpPr>
          <p:cNvPr id="16" name="KPI label 2"/>
          <p:cNvSpPr txBox="1"/>
          <p:nvPr/>
        </p:nvSpPr>
        <p:spPr>
          <a:xfrm>
            <a:off x="3017520" y="2029968"/>
            <a:ext cx="1737360" cy="274320"/>
          </a:xfrm>
          <a:prstGeom prst="rect">
            <a:avLst/>
          </a:prstGeom>
          <a:noFill/>
          <a:ln/>
        </p:spPr>
        <p:txBody>
          <a:bodyPr wrap="square" lIns="0" tIns="0" rIns="0" bIns="0" rtlCol="0" anchor="t"/>
          <a:lstStyle/>
          <a:p>
            <a:pPr indent="0" marL="0">
              <a:buNone/>
            </a:pPr>
            <a:r>
              <a:rPr lang="en-US" sz="1200" dirty="0">
                <a:solidFill>
                  <a:schemeClr val="accent5"/>
                </a:solidFill>
              </a:rPr>
              <a:t>Rice produced</a:t>
            </a:r>
            <a:endParaRPr lang="en-US" sz="1200" dirty="0"/>
          </a:p>
        </p:txBody>
      </p:sp>
      <p:sp>
        <p:nvSpPr>
          <p:cNvPr id="17" name="KPI value 2"/>
          <p:cNvSpPr txBox="1"/>
          <p:nvPr/>
        </p:nvSpPr>
        <p:spPr>
          <a:xfrm>
            <a:off x="3017520" y="2286000"/>
            <a:ext cx="1737360" cy="475488"/>
          </a:xfrm>
          <a:prstGeom prst="rect">
            <a:avLst/>
          </a:prstGeom>
          <a:noFill/>
          <a:ln/>
        </p:spPr>
        <p:txBody>
          <a:bodyPr wrap="square" lIns="0" tIns="0" rIns="0" bIns="0" rtlCol="0" anchor="t"/>
          <a:lstStyle/>
          <a:p>
            <a:pPr indent="0" marL="0">
              <a:buNone/>
            </a:pPr>
            <a:r>
              <a:rPr lang="en-US" sz="2600" b="1" dirty="0">
                <a:solidFill>
                  <a:schemeClr val="tx2"/>
                </a:solidFill>
              </a:rPr>
              <a:t>2.24M t</a:t>
            </a:r>
            <a:endParaRPr lang="en-US" sz="2600" dirty="0"/>
          </a:p>
        </p:txBody>
      </p:sp>
      <p:sp>
        <p:nvSpPr>
          <p:cNvPr id="18" name="KPI card 3"/>
          <p:cNvSpPr/>
          <p:nvPr/>
        </p:nvSpPr>
        <p:spPr>
          <a:xfrm>
            <a:off x="5029200" y="1965960"/>
            <a:ext cx="2011680" cy="868680"/>
          </a:xfrm>
          <a:prstGeom prst="roundRect">
            <a:avLst>
              <a:gd name="adj" fmla="val 8421"/>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sp>
        <p:nvSpPr>
          <p:cNvPr id="19" name="KPI label 3"/>
          <p:cNvSpPr txBox="1"/>
          <p:nvPr/>
        </p:nvSpPr>
        <p:spPr>
          <a:xfrm>
            <a:off x="5166360" y="2029968"/>
            <a:ext cx="1737360" cy="274320"/>
          </a:xfrm>
          <a:prstGeom prst="rect">
            <a:avLst/>
          </a:prstGeom>
          <a:noFill/>
          <a:ln/>
        </p:spPr>
        <p:txBody>
          <a:bodyPr wrap="square" lIns="0" tIns="0" rIns="0" bIns="0" rtlCol="0" anchor="t"/>
          <a:lstStyle/>
          <a:p>
            <a:pPr indent="0" marL="0">
              <a:buNone/>
            </a:pPr>
            <a:r>
              <a:rPr lang="en-US" sz="1200" dirty="0">
                <a:solidFill>
                  <a:schemeClr val="accent5"/>
                </a:solidFill>
              </a:rPr>
              <a:t>Rice delivered</a:t>
            </a:r>
            <a:endParaRPr lang="en-US" sz="1200" dirty="0"/>
          </a:p>
        </p:txBody>
      </p:sp>
      <p:sp>
        <p:nvSpPr>
          <p:cNvPr id="20" name="KPI value 3"/>
          <p:cNvSpPr txBox="1"/>
          <p:nvPr/>
        </p:nvSpPr>
        <p:spPr>
          <a:xfrm>
            <a:off x="5166360" y="2286000"/>
            <a:ext cx="1737360" cy="475488"/>
          </a:xfrm>
          <a:prstGeom prst="rect">
            <a:avLst/>
          </a:prstGeom>
          <a:noFill/>
          <a:ln/>
        </p:spPr>
        <p:txBody>
          <a:bodyPr wrap="square" lIns="0" tIns="0" rIns="0" bIns="0" rtlCol="0" anchor="t"/>
          <a:lstStyle/>
          <a:p>
            <a:pPr indent="0" marL="0">
              <a:buNone/>
            </a:pPr>
            <a:r>
              <a:rPr lang="en-US" sz="2600" b="1" dirty="0">
                <a:solidFill>
                  <a:schemeClr val="tx2"/>
                </a:solidFill>
              </a:rPr>
              <a:t>1.93M t</a:t>
            </a:r>
            <a:endParaRPr lang="en-US" sz="2600" dirty="0"/>
          </a:p>
        </p:txBody>
      </p:sp>
      <p:sp>
        <p:nvSpPr>
          <p:cNvPr id="21" name="KPI card 4"/>
          <p:cNvSpPr/>
          <p:nvPr/>
        </p:nvSpPr>
        <p:spPr>
          <a:xfrm>
            <a:off x="7178040" y="1965960"/>
            <a:ext cx="2011680" cy="868680"/>
          </a:xfrm>
          <a:prstGeom prst="roundRect">
            <a:avLst>
              <a:gd name="adj" fmla="val 8421"/>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sp>
        <p:nvSpPr>
          <p:cNvPr id="22" name="KPI label 4"/>
          <p:cNvSpPr txBox="1"/>
          <p:nvPr/>
        </p:nvSpPr>
        <p:spPr>
          <a:xfrm>
            <a:off x="7315200" y="2029968"/>
            <a:ext cx="1737360" cy="274320"/>
          </a:xfrm>
          <a:prstGeom prst="rect">
            <a:avLst/>
          </a:prstGeom>
          <a:noFill/>
          <a:ln/>
        </p:spPr>
        <p:txBody>
          <a:bodyPr wrap="square" lIns="0" tIns="0" rIns="0" bIns="0" rtlCol="0" anchor="t"/>
          <a:lstStyle/>
          <a:p>
            <a:pPr indent="0" marL="0">
              <a:buNone/>
            </a:pPr>
            <a:r>
              <a:rPr lang="en-US" sz="1200" dirty="0">
                <a:solidFill>
                  <a:schemeClr val="accent5"/>
                </a:solidFill>
              </a:rPr>
              <a:t>Conversion ratio</a:t>
            </a:r>
            <a:endParaRPr lang="en-US" sz="1200" dirty="0"/>
          </a:p>
        </p:txBody>
      </p:sp>
      <p:sp>
        <p:nvSpPr>
          <p:cNvPr id="23" name="KPI value 4"/>
          <p:cNvSpPr txBox="1"/>
          <p:nvPr/>
        </p:nvSpPr>
        <p:spPr>
          <a:xfrm>
            <a:off x="7315200" y="2286000"/>
            <a:ext cx="1737360" cy="475488"/>
          </a:xfrm>
          <a:prstGeom prst="rect">
            <a:avLst/>
          </a:prstGeom>
          <a:noFill/>
          <a:ln/>
        </p:spPr>
        <p:txBody>
          <a:bodyPr wrap="square" lIns="0" tIns="0" rIns="0" bIns="0" rtlCol="0" anchor="t"/>
          <a:lstStyle/>
          <a:p>
            <a:pPr indent="0" marL="0">
              <a:buNone/>
            </a:pPr>
            <a:r>
              <a:rPr lang="en-US" sz="2600" b="1" dirty="0">
                <a:solidFill>
                  <a:schemeClr val="tx2"/>
                </a:solidFill>
              </a:rPr>
              <a:t>66.78%</a:t>
            </a:r>
            <a:endParaRPr lang="en-US" sz="2600" dirty="0"/>
          </a:p>
        </p:txBody>
      </p:sp>
      <p:sp>
        <p:nvSpPr>
          <p:cNvPr id="24" name="KPI card 5"/>
          <p:cNvSpPr/>
          <p:nvPr/>
        </p:nvSpPr>
        <p:spPr>
          <a:xfrm>
            <a:off x="9326880" y="1965960"/>
            <a:ext cx="2011680" cy="868680"/>
          </a:xfrm>
          <a:prstGeom prst="roundRect">
            <a:avLst>
              <a:gd name="adj" fmla="val 8421"/>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sp>
        <p:nvSpPr>
          <p:cNvPr id="25" name="KPI label 5"/>
          <p:cNvSpPr txBox="1"/>
          <p:nvPr/>
        </p:nvSpPr>
        <p:spPr>
          <a:xfrm>
            <a:off x="9464040" y="2029968"/>
            <a:ext cx="1737360" cy="274320"/>
          </a:xfrm>
          <a:prstGeom prst="rect">
            <a:avLst/>
          </a:prstGeom>
          <a:noFill/>
          <a:ln/>
        </p:spPr>
        <p:txBody>
          <a:bodyPr wrap="square" lIns="0" tIns="0" rIns="0" bIns="0" rtlCol="0" anchor="t"/>
          <a:lstStyle/>
          <a:p>
            <a:pPr indent="0" marL="0">
              <a:buNone/>
            </a:pPr>
            <a:r>
              <a:rPr lang="en-US" sz="1200" dirty="0">
                <a:solidFill>
                  <a:schemeClr val="accent5"/>
                </a:solidFill>
              </a:rPr>
              <a:t>Late delivery share</a:t>
            </a:r>
            <a:endParaRPr lang="en-US" sz="1200" dirty="0"/>
          </a:p>
        </p:txBody>
      </p:sp>
      <p:sp>
        <p:nvSpPr>
          <p:cNvPr id="26" name="KPI value 5"/>
          <p:cNvSpPr txBox="1"/>
          <p:nvPr/>
        </p:nvSpPr>
        <p:spPr>
          <a:xfrm>
            <a:off x="9464040" y="2286000"/>
            <a:ext cx="1737360" cy="475488"/>
          </a:xfrm>
          <a:prstGeom prst="rect">
            <a:avLst/>
          </a:prstGeom>
          <a:noFill/>
          <a:ln/>
        </p:spPr>
        <p:txBody>
          <a:bodyPr wrap="square" lIns="0" tIns="0" rIns="0" bIns="0" rtlCol="0" anchor="t"/>
          <a:lstStyle/>
          <a:p>
            <a:pPr indent="0" marL="0">
              <a:buNone/>
            </a:pPr>
            <a:r>
              <a:rPr lang="en-US" sz="2600" b="1" dirty="0">
                <a:solidFill>
                  <a:schemeClr val="accent4"/>
                </a:solidFill>
              </a:rPr>
              <a:t>72.9%</a:t>
            </a:r>
            <a:endParaRPr lang="en-US" sz="2600" dirty="0"/>
          </a:p>
        </p:txBody>
      </p:sp>
      <p:sp>
        <p:nvSpPr>
          <p:cNvPr id="27" name="Dashboard visual card 1"/>
          <p:cNvSpPr/>
          <p:nvPr/>
        </p:nvSpPr>
        <p:spPr>
          <a:xfrm>
            <a:off x="731520" y="2971800"/>
            <a:ext cx="3483864" cy="2743200"/>
          </a:xfrm>
          <a:prstGeom prst="roundRect">
            <a:avLst>
              <a:gd name="adj" fmla="val 2667"/>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sp>
        <p:nvSpPr>
          <p:cNvPr id="28" name="Dashboard visual card 2"/>
          <p:cNvSpPr/>
          <p:nvPr/>
        </p:nvSpPr>
        <p:spPr>
          <a:xfrm>
            <a:off x="4352544" y="2971800"/>
            <a:ext cx="3483864" cy="2743200"/>
          </a:xfrm>
          <a:prstGeom prst="roundRect">
            <a:avLst>
              <a:gd name="adj" fmla="val 2667"/>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sp>
        <p:nvSpPr>
          <p:cNvPr id="29" name="Dashboard visual card 3"/>
          <p:cNvSpPr/>
          <p:nvPr/>
        </p:nvSpPr>
        <p:spPr>
          <a:xfrm>
            <a:off x="7973568" y="2971800"/>
            <a:ext cx="3483864" cy="2743200"/>
          </a:xfrm>
          <a:prstGeom prst="roundRect">
            <a:avLst>
              <a:gd name="adj" fmla="val 2667"/>
            </a:avLst>
          </a:prstGeom>
          <a:solidFill>
            <a:schemeClr val="bg1"/>
          </a:solidFill>
          <a:ln w="3175">
            <a:solidFill>
              <a:schemeClr val="bg1"/>
            </a:solidFill>
            <a:prstDash val="solid"/>
          </a:ln>
          <a:effectLst>
            <a:outerShdw sx="100000" sy="100000" kx="0" ky="0" algn="bl" rotWithShape="0" blurRad="76200" dist="25400" dir="5400000">
              <a:srgbClr val="000000">
                <a:alpha val="12000"/>
              </a:srgbClr>
            </a:outerShdw>
          </a:effectLst>
        </p:spPr>
      </p:sp>
      <p:graphicFrame>
        <p:nvGraphicFramePr>
          <p:cNvPr id="30" name="Chart 0" descr=""/>
          <p:cNvGraphicFramePr/>
          <p:nvPr/>
        </p:nvGraphicFramePr>
        <p:xfrm>
          <a:off x="777240" y="3017520"/>
          <a:ext cx="3392424"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31" name="Chart 1" descr=""/>
          <p:cNvGraphicFramePr/>
          <p:nvPr/>
        </p:nvGraphicFramePr>
        <p:xfrm>
          <a:off x="4398264" y="3017520"/>
          <a:ext cx="3392424" cy="2651760"/>
        </p:xfrm>
        <a:graphic xmlns:a="http://schemas.openxmlformats.org/drawingml/2006/main">
          <a:graphicData uri="http://schemas.openxmlformats.org/drawingml/2006/chart">
            <c:chart xmlns:c="http://schemas.openxmlformats.org/drawingml/2006/chart" r:id="rId2"/>
          </a:graphicData>
        </a:graphic>
      </p:graphicFrame>
      <p:graphicFrame>
        <p:nvGraphicFramePr>
          <p:cNvPr id="32" name="Chart 2" descr=""/>
          <p:cNvGraphicFramePr/>
          <p:nvPr/>
        </p:nvGraphicFramePr>
        <p:xfrm>
          <a:off x="8019288" y="3017520"/>
          <a:ext cx="3392424" cy="2651760"/>
        </p:xfrm>
        <a:graphic xmlns:a="http://schemas.openxmlformats.org/drawingml/2006/main">
          <a:graphicData uri="http://schemas.openxmlformats.org/drawingml/2006/chart">
            <c:chart xmlns:c="http://schemas.openxmlformats.org/drawingml/2006/chart" r:id="rId3"/>
          </a:graphicData>
        </a:graphic>
      </p:graphicFrame>
      <p:sp>
        <p:nvSpPr>
          <p:cNvPr id="33" name="Dashboard caption"/>
          <p:cNvSpPr txBox="1"/>
          <p:nvPr/>
        </p:nvSpPr>
        <p:spPr>
          <a:xfrm>
            <a:off x="731520" y="5833872"/>
            <a:ext cx="10698480" cy="274320"/>
          </a:xfrm>
          <a:prstGeom prst="rect">
            <a:avLst/>
          </a:prstGeom>
          <a:noFill/>
          <a:ln/>
        </p:spPr>
        <p:txBody>
          <a:bodyPr wrap="square" lIns="0" tIns="0" rIns="0" bIns="0" rtlCol="0" anchor="t"/>
          <a:lstStyle/>
          <a:p>
            <a:pPr indent="0" marL="0">
              <a:buNone/>
            </a:pPr>
            <a:r>
              <a:rPr lang="en-US" sz="1100" i="1" dirty="0">
                <a:solidFill>
                  <a:schemeClr val="accent5"/>
                </a:solidFill>
              </a:rPr>
              <a:t>Figures from the supplied synthetic dataset (100,000 records). Visuals follow the Power BI report page design.</a:t>
            </a:r>
            <a:endParaRPr lang="en-US" sz="11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Power BI Pages and DAX Measures</a:t>
            </a:r>
            <a:endParaRPr lang="en-US" sz="3400" dirty="0"/>
          </a:p>
        </p:txBody>
      </p:sp>
      <p:sp>
        <p:nvSpPr>
          <p:cNvPr id="3" name="Page card 1"/>
          <p:cNvSpPr/>
          <p:nvPr/>
        </p:nvSpPr>
        <p:spPr>
          <a:xfrm>
            <a:off x="548640" y="1371600"/>
            <a:ext cx="5486400" cy="758952"/>
          </a:xfrm>
          <a:prstGeom prst="roundRect">
            <a:avLst>
              <a:gd name="adj" fmla="val 9639"/>
            </a:avLst>
          </a:prstGeom>
          <a:solidFill>
            <a:schemeClr val="bg2"/>
          </a:solidFill>
          <a:ln w="3175">
            <a:solidFill>
              <a:schemeClr val="bg2"/>
            </a:solidFill>
            <a:prstDash val="solid"/>
          </a:ln>
        </p:spPr>
      </p:sp>
      <p:sp>
        <p:nvSpPr>
          <p:cNvPr id="4" name="Page 1 badge"/>
          <p:cNvSpPr/>
          <p:nvPr/>
        </p:nvSpPr>
        <p:spPr>
          <a:xfrm>
            <a:off x="713232" y="1499616"/>
            <a:ext cx="502920" cy="502920"/>
          </a:xfrm>
          <a:prstGeom prst="ellipse">
            <a:avLst/>
          </a:prstGeom>
          <a:solidFill>
            <a:schemeClr val="accent1"/>
          </a:solidFill>
          <a:ln w="12700">
            <a:solidFill>
              <a:schemeClr val="accent1"/>
            </a:solidFill>
            <a:prstDash val="solid"/>
          </a:ln>
        </p:spPr>
      </p:sp>
      <p:sp>
        <p:nvSpPr>
          <p:cNvPr id="5" name="Page 1 number"/>
          <p:cNvSpPr txBox="1"/>
          <p:nvPr/>
        </p:nvSpPr>
        <p:spPr>
          <a:xfrm>
            <a:off x="713232" y="1499616"/>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Page text 1"/>
          <p:cNvSpPr txBox="1"/>
          <p:nvPr/>
        </p:nvSpPr>
        <p:spPr>
          <a:xfrm>
            <a:off x="1417320" y="1371600"/>
            <a:ext cx="4526280" cy="758952"/>
          </a:xfrm>
          <a:prstGeom prst="rect">
            <a:avLst/>
          </a:prstGeom>
          <a:noFill/>
          <a:ln/>
        </p:spPr>
        <p:txBody>
          <a:bodyPr wrap="square" lIns="0" tIns="0" rIns="0" bIns="0" rtlCol="0" anchor="ctr"/>
          <a:lstStyle/>
          <a:p>
            <a:pPr indent="0" marL="0">
              <a:buNone/>
            </a:pPr>
            <a:r>
              <a:rPr lang="en-US" sz="1400" b="1" dirty="0">
                <a:solidFill>
                  <a:schemeClr val="tx2"/>
                </a:solidFill>
              </a:rPr>
              <a:t>Executive overview</a:t>
            </a:r>
            <a:endParaRPr lang="en-US" sz="1400" dirty="0"/>
          </a:p>
          <a:p>
            <a:pPr indent="0" marL="0">
              <a:buNone/>
            </a:pPr>
            <a:r>
              <a:rPr lang="en-US" sz="1300" dirty="0">
                <a:solidFill>
                  <a:schemeClr val="tx1"/>
                </a:solidFill>
              </a:rPr>
              <a:t>KPI cards, monthly trend, production vs delivery</a:t>
            </a:r>
            <a:endParaRPr lang="en-US" sz="1400" dirty="0"/>
          </a:p>
        </p:txBody>
      </p:sp>
      <p:sp>
        <p:nvSpPr>
          <p:cNvPr id="7" name="Page card 2"/>
          <p:cNvSpPr/>
          <p:nvPr/>
        </p:nvSpPr>
        <p:spPr>
          <a:xfrm>
            <a:off x="548640" y="2221992"/>
            <a:ext cx="5486400" cy="758952"/>
          </a:xfrm>
          <a:prstGeom prst="roundRect">
            <a:avLst>
              <a:gd name="adj" fmla="val 9639"/>
            </a:avLst>
          </a:prstGeom>
          <a:solidFill>
            <a:schemeClr val="bg2"/>
          </a:solidFill>
          <a:ln w="3175">
            <a:solidFill>
              <a:schemeClr val="bg2"/>
            </a:solidFill>
            <a:prstDash val="solid"/>
          </a:ln>
        </p:spPr>
      </p:sp>
      <p:sp>
        <p:nvSpPr>
          <p:cNvPr id="8" name="Page 2 badge"/>
          <p:cNvSpPr/>
          <p:nvPr/>
        </p:nvSpPr>
        <p:spPr>
          <a:xfrm>
            <a:off x="713232" y="2350008"/>
            <a:ext cx="502920" cy="502920"/>
          </a:xfrm>
          <a:prstGeom prst="ellipse">
            <a:avLst/>
          </a:prstGeom>
          <a:solidFill>
            <a:schemeClr val="accent1"/>
          </a:solidFill>
          <a:ln w="12700">
            <a:solidFill>
              <a:schemeClr val="accent1"/>
            </a:solidFill>
            <a:prstDash val="solid"/>
          </a:ln>
        </p:spPr>
      </p:sp>
      <p:sp>
        <p:nvSpPr>
          <p:cNvPr id="9" name="Page 2 number"/>
          <p:cNvSpPr txBox="1"/>
          <p:nvPr/>
        </p:nvSpPr>
        <p:spPr>
          <a:xfrm>
            <a:off x="713232" y="2350008"/>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0" name="Page text 2"/>
          <p:cNvSpPr txBox="1"/>
          <p:nvPr/>
        </p:nvSpPr>
        <p:spPr>
          <a:xfrm>
            <a:off x="1417320" y="2221992"/>
            <a:ext cx="4526280" cy="758952"/>
          </a:xfrm>
          <a:prstGeom prst="rect">
            <a:avLst/>
          </a:prstGeom>
          <a:noFill/>
          <a:ln/>
        </p:spPr>
        <p:txBody>
          <a:bodyPr wrap="square" lIns="0" tIns="0" rIns="0" bIns="0" rtlCol="0" anchor="ctr"/>
          <a:lstStyle/>
          <a:p>
            <a:pPr indent="0" marL="0">
              <a:buNone/>
            </a:pPr>
            <a:r>
              <a:rPr lang="en-US" sz="1400" b="1" dirty="0">
                <a:solidFill>
                  <a:schemeClr val="tx2"/>
                </a:solidFill>
              </a:rPr>
              <a:t>Regional performance</a:t>
            </a:r>
            <a:endParaRPr lang="en-US" sz="1400" dirty="0"/>
          </a:p>
          <a:p>
            <a:pPr indent="0" marL="0">
              <a:buNone/>
            </a:pPr>
            <a:r>
              <a:rPr lang="en-US" sz="1300" dirty="0">
                <a:solidFill>
                  <a:schemeClr val="tx1"/>
                </a:solidFill>
              </a:rPr>
              <a:t>Top districts bar chart, district matrix</a:t>
            </a:r>
            <a:endParaRPr lang="en-US" sz="1400" dirty="0"/>
          </a:p>
        </p:txBody>
      </p:sp>
      <p:sp>
        <p:nvSpPr>
          <p:cNvPr id="11" name="Page card 3"/>
          <p:cNvSpPr/>
          <p:nvPr/>
        </p:nvSpPr>
        <p:spPr>
          <a:xfrm>
            <a:off x="548640" y="3072384"/>
            <a:ext cx="5486400" cy="758952"/>
          </a:xfrm>
          <a:prstGeom prst="roundRect">
            <a:avLst>
              <a:gd name="adj" fmla="val 9639"/>
            </a:avLst>
          </a:prstGeom>
          <a:solidFill>
            <a:schemeClr val="bg2"/>
          </a:solidFill>
          <a:ln w="3175">
            <a:solidFill>
              <a:schemeClr val="bg2"/>
            </a:solidFill>
            <a:prstDash val="solid"/>
          </a:ln>
        </p:spPr>
      </p:sp>
      <p:sp>
        <p:nvSpPr>
          <p:cNvPr id="12" name="Page 3 badge"/>
          <p:cNvSpPr/>
          <p:nvPr/>
        </p:nvSpPr>
        <p:spPr>
          <a:xfrm>
            <a:off x="713232" y="3200400"/>
            <a:ext cx="502920" cy="502920"/>
          </a:xfrm>
          <a:prstGeom prst="ellipse">
            <a:avLst/>
          </a:prstGeom>
          <a:solidFill>
            <a:schemeClr val="accent1"/>
          </a:solidFill>
          <a:ln w="12700">
            <a:solidFill>
              <a:schemeClr val="accent1"/>
            </a:solidFill>
            <a:prstDash val="solid"/>
          </a:ln>
        </p:spPr>
      </p:sp>
      <p:sp>
        <p:nvSpPr>
          <p:cNvPr id="13" name="Page 3 number"/>
          <p:cNvSpPr txBox="1"/>
          <p:nvPr/>
        </p:nvSpPr>
        <p:spPr>
          <a:xfrm>
            <a:off x="713232" y="32004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4" name="Page text 3"/>
          <p:cNvSpPr txBox="1"/>
          <p:nvPr/>
        </p:nvSpPr>
        <p:spPr>
          <a:xfrm>
            <a:off x="1417320" y="3072384"/>
            <a:ext cx="4526280" cy="758952"/>
          </a:xfrm>
          <a:prstGeom prst="rect">
            <a:avLst/>
          </a:prstGeom>
          <a:noFill/>
          <a:ln/>
        </p:spPr>
        <p:txBody>
          <a:bodyPr wrap="square" lIns="0" tIns="0" rIns="0" bIns="0" rtlCol="0" anchor="ctr"/>
          <a:lstStyle/>
          <a:p>
            <a:pPr indent="0" marL="0">
              <a:buNone/>
            </a:pPr>
            <a:r>
              <a:rPr lang="en-US" sz="1400" b="1" dirty="0">
                <a:solidFill>
                  <a:schemeClr val="tx2"/>
                </a:solidFill>
              </a:rPr>
              <a:t>Production and yield</a:t>
            </a:r>
            <a:endParaRPr lang="en-US" sz="1400" dirty="0"/>
          </a:p>
          <a:p>
            <a:pPr indent="0" marL="0">
              <a:buNone/>
            </a:pPr>
            <a:r>
              <a:rPr lang="en-US" sz="1300" dirty="0">
                <a:solidFill>
                  <a:schemeClr val="tx1"/>
                </a:solidFill>
              </a:rPr>
              <a:t>Paddy processed vs rice produced, rice type chart</a:t>
            </a:r>
            <a:endParaRPr lang="en-US" sz="1400" dirty="0"/>
          </a:p>
        </p:txBody>
      </p:sp>
      <p:sp>
        <p:nvSpPr>
          <p:cNvPr id="15" name="Page card 4"/>
          <p:cNvSpPr/>
          <p:nvPr/>
        </p:nvSpPr>
        <p:spPr>
          <a:xfrm>
            <a:off x="548640" y="3922776"/>
            <a:ext cx="5486400" cy="758952"/>
          </a:xfrm>
          <a:prstGeom prst="roundRect">
            <a:avLst>
              <a:gd name="adj" fmla="val 9639"/>
            </a:avLst>
          </a:prstGeom>
          <a:solidFill>
            <a:schemeClr val="bg2"/>
          </a:solidFill>
          <a:ln w="3175">
            <a:solidFill>
              <a:schemeClr val="bg2"/>
            </a:solidFill>
            <a:prstDash val="solid"/>
          </a:ln>
        </p:spPr>
      </p:sp>
      <p:sp>
        <p:nvSpPr>
          <p:cNvPr id="16" name="Page 4 badge"/>
          <p:cNvSpPr/>
          <p:nvPr/>
        </p:nvSpPr>
        <p:spPr>
          <a:xfrm>
            <a:off x="713232" y="4050792"/>
            <a:ext cx="502920" cy="502920"/>
          </a:xfrm>
          <a:prstGeom prst="ellipse">
            <a:avLst/>
          </a:prstGeom>
          <a:solidFill>
            <a:schemeClr val="accent1"/>
          </a:solidFill>
          <a:ln w="12700">
            <a:solidFill>
              <a:schemeClr val="accent1"/>
            </a:solidFill>
            <a:prstDash val="solid"/>
          </a:ln>
        </p:spPr>
      </p:sp>
      <p:sp>
        <p:nvSpPr>
          <p:cNvPr id="17" name="Page 4 number"/>
          <p:cNvSpPr txBox="1"/>
          <p:nvPr/>
        </p:nvSpPr>
        <p:spPr>
          <a:xfrm>
            <a:off x="713232" y="4050792"/>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8" name="Page text 4"/>
          <p:cNvSpPr txBox="1"/>
          <p:nvPr/>
        </p:nvSpPr>
        <p:spPr>
          <a:xfrm>
            <a:off x="1417320" y="3922776"/>
            <a:ext cx="4526280" cy="758952"/>
          </a:xfrm>
          <a:prstGeom prst="rect">
            <a:avLst/>
          </a:prstGeom>
          <a:noFill/>
          <a:ln/>
        </p:spPr>
        <p:txBody>
          <a:bodyPr wrap="square" lIns="0" tIns="0" rIns="0" bIns="0" rtlCol="0" anchor="ctr"/>
          <a:lstStyle/>
          <a:p>
            <a:pPr indent="0" marL="0">
              <a:buNone/>
            </a:pPr>
            <a:r>
              <a:rPr lang="en-US" sz="1400" b="1" dirty="0">
                <a:solidFill>
                  <a:schemeClr val="tx2"/>
                </a:solidFill>
              </a:rPr>
              <a:t>Delivery monitoring</a:t>
            </a:r>
            <a:endParaRPr lang="en-US" sz="1400" dirty="0"/>
          </a:p>
          <a:p>
            <a:pPr indent="0" marL="0">
              <a:buNone/>
            </a:pPr>
            <a:r>
              <a:rPr lang="en-US" sz="1300" dirty="0">
                <a:solidFill>
                  <a:schemeClr val="tx1"/>
                </a:solidFill>
              </a:rPr>
              <a:t>Delay histogram, late records table</a:t>
            </a:r>
            <a:endParaRPr lang="en-US" sz="1400" dirty="0"/>
          </a:p>
        </p:txBody>
      </p:sp>
      <p:sp>
        <p:nvSpPr>
          <p:cNvPr id="19" name="Page card 5"/>
          <p:cNvSpPr/>
          <p:nvPr/>
        </p:nvSpPr>
        <p:spPr>
          <a:xfrm>
            <a:off x="548640" y="4773168"/>
            <a:ext cx="5486400" cy="758952"/>
          </a:xfrm>
          <a:prstGeom prst="roundRect">
            <a:avLst>
              <a:gd name="adj" fmla="val 9639"/>
            </a:avLst>
          </a:prstGeom>
          <a:solidFill>
            <a:schemeClr val="bg2"/>
          </a:solidFill>
          <a:ln w="3175">
            <a:solidFill>
              <a:schemeClr val="bg2"/>
            </a:solidFill>
            <a:prstDash val="solid"/>
          </a:ln>
        </p:spPr>
      </p:sp>
      <p:sp>
        <p:nvSpPr>
          <p:cNvPr id="20" name="Page 5 badge"/>
          <p:cNvSpPr/>
          <p:nvPr/>
        </p:nvSpPr>
        <p:spPr>
          <a:xfrm>
            <a:off x="713232" y="4901184"/>
            <a:ext cx="502920" cy="502920"/>
          </a:xfrm>
          <a:prstGeom prst="ellipse">
            <a:avLst/>
          </a:prstGeom>
          <a:solidFill>
            <a:schemeClr val="accent1"/>
          </a:solidFill>
          <a:ln w="12700">
            <a:solidFill>
              <a:schemeClr val="accent1"/>
            </a:solidFill>
            <a:prstDash val="solid"/>
          </a:ln>
        </p:spPr>
      </p:sp>
      <p:sp>
        <p:nvSpPr>
          <p:cNvPr id="21" name="Page 5 number"/>
          <p:cNvSpPr txBox="1"/>
          <p:nvPr/>
        </p:nvSpPr>
        <p:spPr>
          <a:xfrm>
            <a:off x="713232" y="4901184"/>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2" name="Page text 5"/>
          <p:cNvSpPr txBox="1"/>
          <p:nvPr/>
        </p:nvSpPr>
        <p:spPr>
          <a:xfrm>
            <a:off x="1417320" y="4773168"/>
            <a:ext cx="4526280" cy="758952"/>
          </a:xfrm>
          <a:prstGeom prst="rect">
            <a:avLst/>
          </a:prstGeom>
          <a:noFill/>
          <a:ln/>
        </p:spPr>
        <p:txBody>
          <a:bodyPr wrap="square" lIns="0" tIns="0" rIns="0" bIns="0" rtlCol="0" anchor="ctr"/>
          <a:lstStyle/>
          <a:p>
            <a:pPr indent="0" marL="0">
              <a:buNone/>
            </a:pPr>
            <a:r>
              <a:rPr lang="en-US" sz="1400" b="1" dirty="0">
                <a:solidFill>
                  <a:schemeClr val="tx2"/>
                </a:solidFill>
              </a:rPr>
              <a:t>Cost analysis</a:t>
            </a:r>
            <a:endParaRPr lang="en-US" sz="1400" dirty="0"/>
          </a:p>
          <a:p>
            <a:pPr indent="0" marL="0">
              <a:buNone/>
            </a:pPr>
            <a:r>
              <a:rPr lang="en-US" sz="1300" dirty="0">
                <a:solidFill>
                  <a:schemeClr val="tx1"/>
                </a:solidFill>
              </a:rPr>
              <a:t>Cost component bars, cost per processed tonne</a:t>
            </a:r>
            <a:endParaRPr lang="en-US" sz="1400" dirty="0"/>
          </a:p>
        </p:txBody>
      </p:sp>
      <p:sp>
        <p:nvSpPr>
          <p:cNvPr id="23" name="Slicer note"/>
          <p:cNvSpPr txBox="1"/>
          <p:nvPr/>
        </p:nvSpPr>
        <p:spPr>
          <a:xfrm>
            <a:off x="548640" y="5760720"/>
            <a:ext cx="5486400" cy="457200"/>
          </a:xfrm>
          <a:prstGeom prst="rect">
            <a:avLst/>
          </a:prstGeom>
          <a:noFill/>
          <a:ln/>
        </p:spPr>
        <p:txBody>
          <a:bodyPr wrap="square" lIns="0" tIns="0" rIns="0" bIns="0" rtlCol="0" anchor="t"/>
          <a:lstStyle/>
          <a:p>
            <a:pPr indent="0" marL="0">
              <a:buNone/>
            </a:pPr>
            <a:r>
              <a:rPr lang="en-US" sz="1200" i="1" dirty="0">
                <a:solidFill>
                  <a:schemeClr val="accent5"/>
                </a:solidFill>
              </a:rPr>
              <a:t>Slicers: date, district, mandal, mill type, season and rice type.</a:t>
            </a:r>
            <a:endParaRPr lang="en-US" sz="1200" dirty="0"/>
          </a:p>
        </p:txBody>
      </p:sp>
      <p:sp>
        <p:nvSpPr>
          <p:cNvPr id="24" name="DAX code panel"/>
          <p:cNvSpPr/>
          <p:nvPr/>
        </p:nvSpPr>
        <p:spPr>
          <a:xfrm>
            <a:off x="6309360" y="1371600"/>
            <a:ext cx="5330952" cy="3291840"/>
          </a:xfrm>
          <a:prstGeom prst="roundRect">
            <a:avLst>
              <a:gd name="adj" fmla="val 2222"/>
            </a:avLst>
          </a:prstGeom>
          <a:solidFill>
            <a:schemeClr val="tx1"/>
          </a:solidFill>
          <a:ln w="3175">
            <a:solidFill>
              <a:schemeClr val="tx1"/>
            </a:solidFill>
            <a:prstDash val="solid"/>
          </a:ln>
        </p:spPr>
      </p:sp>
      <p:sp>
        <p:nvSpPr>
          <p:cNvPr id="25" name="DAX code label"/>
          <p:cNvSpPr txBox="1"/>
          <p:nvPr/>
        </p:nvSpPr>
        <p:spPr>
          <a:xfrm>
            <a:off x="6537960" y="1536192"/>
            <a:ext cx="4873752" cy="274320"/>
          </a:xfrm>
          <a:prstGeom prst="rect">
            <a:avLst/>
          </a:prstGeom>
          <a:noFill/>
          <a:ln/>
        </p:spPr>
        <p:txBody>
          <a:bodyPr wrap="square" lIns="0" tIns="0" rIns="0" bIns="0" rtlCol="0" anchor="t"/>
          <a:lstStyle/>
          <a:p>
            <a:pPr indent="0" marL="0">
              <a:buNone/>
            </a:pPr>
            <a:r>
              <a:rPr lang="en-US" sz="1200" b="1" dirty="0">
                <a:solidFill>
                  <a:schemeClr val="accent2"/>
                </a:solidFill>
              </a:rPr>
              <a:t>DAX: core dashboard measures</a:t>
            </a:r>
            <a:endParaRPr lang="en-US" sz="1200" dirty="0"/>
          </a:p>
        </p:txBody>
      </p:sp>
      <p:sp>
        <p:nvSpPr>
          <p:cNvPr id="26" name="DAX code code"/>
          <p:cNvSpPr txBox="1"/>
          <p:nvPr/>
        </p:nvSpPr>
        <p:spPr>
          <a:xfrm>
            <a:off x="6537960" y="1920240"/>
            <a:ext cx="4873752" cy="260604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Total</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Rice</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Produced</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FactMillTransactions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rice_produced_tonnes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Total</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Rice</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Delivered</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FactMillTransactions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rice_delivered_tonnes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Conversion</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Ratio</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accent2"/>
                </a:solidFill>
                <a:latin typeface="Courier New" pitchFamily="34" charset="0"/>
                <a:ea typeface="Courier New" pitchFamily="34" charset="-122"/>
                <a:cs typeface="Courier New" pitchFamily="34" charset="-120"/>
              </a:rPr>
              <a:t>DIVIDE</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FactMillTransactions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rice_produced_tonnes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SUM</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FactMillTransactions</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paddy_processed_tonnes</a:t>
            </a:r>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a:t>
            </a:r>
            <a:pPr indent="0" marL="0">
              <a:buNone/>
            </a:pPr>
            <a:r>
              <a:rPr lang="en-US" sz="1200" dirty="0">
                <a:solidFill>
                  <a:schemeClr val="bg2"/>
                </a:solidFill>
                <a:latin typeface="Courier New" pitchFamily="34" charset="0"/>
                <a:ea typeface="Courier New" pitchFamily="34" charset="-122"/>
                <a:cs typeface="Courier New" pitchFamily="34" charset="-120"/>
              </a:rPr>
              <a:t> </a:t>
            </a:r>
            <a:pPr indent="0" marL="0">
              <a:buNone/>
            </a:pPr>
            <a:r>
              <a:rPr lang="en-US" sz="1200" dirty="0">
                <a:solidFill>
                  <a:schemeClr val="bg2"/>
                </a:solidFill>
                <a:latin typeface="Courier New" pitchFamily="34" charset="0"/>
                <a:ea typeface="Courier New" pitchFamily="34" charset="-122"/>
                <a:cs typeface="Courier New" pitchFamily="34" charset="-120"/>
              </a:rPr>
              <a:t>100</a:t>
            </a:r>
            <a:endParaRPr lang="en-US" sz="1400" dirty="0"/>
          </a:p>
        </p:txBody>
      </p:sp>
      <p:sp>
        <p:nvSpPr>
          <p:cNvPr id="27" name="Model notes card"/>
          <p:cNvSpPr/>
          <p:nvPr/>
        </p:nvSpPr>
        <p:spPr>
          <a:xfrm>
            <a:off x="6309360" y="4846320"/>
            <a:ext cx="5330952" cy="1325880"/>
          </a:xfrm>
          <a:prstGeom prst="roundRect">
            <a:avLst>
              <a:gd name="adj" fmla="val 5517"/>
            </a:avLst>
          </a:prstGeom>
          <a:solidFill>
            <a:schemeClr val="accent2">
              <a:alpha val="30000"/>
            </a:schemeClr>
          </a:solidFill>
          <a:ln w="3175">
            <a:solidFill>
              <a:schemeClr val="accent2"/>
            </a:solidFill>
            <a:prstDash val="solid"/>
          </a:ln>
        </p:spPr>
      </p:sp>
      <p:sp>
        <p:nvSpPr>
          <p:cNvPr id="28" name="Model notes text"/>
          <p:cNvSpPr txBox="1"/>
          <p:nvPr/>
        </p:nvSpPr>
        <p:spPr>
          <a:xfrm>
            <a:off x="6492240" y="4956048"/>
            <a:ext cx="4965192" cy="1143000"/>
          </a:xfrm>
          <a:prstGeom prst="rect">
            <a:avLst/>
          </a:prstGeom>
          <a:noFill/>
          <a:ln/>
        </p:spPr>
        <p:txBody>
          <a:bodyPr wrap="square" lIns="0" tIns="0" rIns="0" bIns="0" rtlCol="0" anchor="t"/>
          <a:lstStyle/>
          <a:p>
            <a:pPr indent="0" marL="0">
              <a:buNone/>
            </a:pPr>
            <a:r>
              <a:rPr lang="en-US" sz="1800" b="1" dirty="0">
                <a:solidFill>
                  <a:schemeClr val="tx1"/>
                </a:solidFill>
              </a:rPr>
              <a:t>Model notes</a:t>
            </a:r>
            <a:endParaRPr lang="en-US" sz="1400" dirty="0"/>
          </a:p>
          <a:p>
            <a:pPr indent="0" marL="0">
              <a:buNone/>
            </a:pPr>
            <a:r>
              <a:rPr lang="en-US" sz="1600" dirty="0">
                <a:solidFill>
                  <a:schemeClr val="tx1"/>
                </a:solidFill>
              </a:rPr>
              <a:t>A date table filters the fact table. DIVIDE avoids divide-by-zero errors. Tonnes and INR use consistent formats.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Key Findings</a:t>
            </a:r>
            <a:endParaRPr lang="en-US" sz="3400" dirty="0"/>
          </a:p>
        </p:txBody>
      </p:sp>
      <p:sp>
        <p:nvSpPr>
          <p:cNvPr id="3" name="Finding card 1"/>
          <p:cNvSpPr/>
          <p:nvPr/>
        </p:nvSpPr>
        <p:spPr>
          <a:xfrm>
            <a:off x="548640" y="1371600"/>
            <a:ext cx="2651760" cy="1600200"/>
          </a:xfrm>
          <a:prstGeom prst="roundRect">
            <a:avLst>
              <a:gd name="adj" fmla="val 4571"/>
            </a:avLst>
          </a:prstGeom>
          <a:solidFill>
            <a:schemeClr val="tx2"/>
          </a:solidFill>
          <a:ln w="3175">
            <a:solidFill>
              <a:schemeClr val="tx2"/>
            </a:solidFill>
            <a:prstDash val="solid"/>
          </a:ln>
        </p:spPr>
      </p:sp>
      <p:sp>
        <p:nvSpPr>
          <p:cNvPr id="4" name="Finding value 1"/>
          <p:cNvSpPr txBox="1"/>
          <p:nvPr/>
        </p:nvSpPr>
        <p:spPr>
          <a:xfrm>
            <a:off x="731520" y="1481328"/>
            <a:ext cx="2286000" cy="640080"/>
          </a:xfrm>
          <a:prstGeom prst="rect">
            <a:avLst/>
          </a:prstGeom>
          <a:noFill/>
          <a:ln/>
        </p:spPr>
        <p:txBody>
          <a:bodyPr wrap="square" lIns="0" tIns="0" rIns="0" bIns="0" rtlCol="0" anchor="t"/>
          <a:lstStyle/>
          <a:p>
            <a:pPr indent="0" marL="0">
              <a:buNone/>
            </a:pPr>
            <a:r>
              <a:rPr lang="en-US" sz="3400" b="1" dirty="0">
                <a:solidFill>
                  <a:schemeClr val="accent2"/>
                </a:solidFill>
              </a:rPr>
              <a:t>66.78%</a:t>
            </a:r>
            <a:endParaRPr lang="en-US" sz="3400" dirty="0"/>
          </a:p>
        </p:txBody>
      </p:sp>
      <p:sp>
        <p:nvSpPr>
          <p:cNvPr id="5" name="Finding label 1"/>
          <p:cNvSpPr txBox="1"/>
          <p:nvPr/>
        </p:nvSpPr>
        <p:spPr>
          <a:xfrm>
            <a:off x="731520" y="2148840"/>
            <a:ext cx="2286000" cy="731520"/>
          </a:xfrm>
          <a:prstGeom prst="rect">
            <a:avLst/>
          </a:prstGeom>
          <a:noFill/>
          <a:ln/>
        </p:spPr>
        <p:txBody>
          <a:bodyPr wrap="square" lIns="0" tIns="0" rIns="0" bIns="0" rtlCol="0" anchor="t"/>
          <a:lstStyle/>
          <a:p>
            <a:pPr indent="0" marL="0">
              <a:buNone/>
            </a:pPr>
            <a:r>
              <a:rPr lang="en-US" sz="1400" dirty="0">
                <a:solidFill>
                  <a:schemeClr val="bg1"/>
                </a:solidFill>
              </a:rPr>
              <a:t>Conversion ratio: rice produced ÷ paddy processed</a:t>
            </a:r>
            <a:endParaRPr lang="en-US" sz="1400" dirty="0"/>
          </a:p>
        </p:txBody>
      </p:sp>
      <p:sp>
        <p:nvSpPr>
          <p:cNvPr id="6" name="Finding card 2"/>
          <p:cNvSpPr/>
          <p:nvPr/>
        </p:nvSpPr>
        <p:spPr>
          <a:xfrm>
            <a:off x="3362249" y="1371600"/>
            <a:ext cx="2651760" cy="1600200"/>
          </a:xfrm>
          <a:prstGeom prst="roundRect">
            <a:avLst>
              <a:gd name="adj" fmla="val 4571"/>
            </a:avLst>
          </a:prstGeom>
          <a:solidFill>
            <a:schemeClr val="tx2"/>
          </a:solidFill>
          <a:ln w="3175">
            <a:solidFill>
              <a:schemeClr val="tx2"/>
            </a:solidFill>
            <a:prstDash val="solid"/>
          </a:ln>
        </p:spPr>
      </p:sp>
      <p:sp>
        <p:nvSpPr>
          <p:cNvPr id="7" name="Finding value 2"/>
          <p:cNvSpPr txBox="1"/>
          <p:nvPr/>
        </p:nvSpPr>
        <p:spPr>
          <a:xfrm>
            <a:off x="3545129" y="1481328"/>
            <a:ext cx="2286000" cy="640080"/>
          </a:xfrm>
          <a:prstGeom prst="rect">
            <a:avLst/>
          </a:prstGeom>
          <a:noFill/>
          <a:ln/>
        </p:spPr>
        <p:txBody>
          <a:bodyPr wrap="square" lIns="0" tIns="0" rIns="0" bIns="0" rtlCol="0" anchor="t"/>
          <a:lstStyle/>
          <a:p>
            <a:pPr indent="0" marL="0">
              <a:buNone/>
            </a:pPr>
            <a:r>
              <a:rPr lang="en-US" sz="3400" b="1" dirty="0">
                <a:solidFill>
                  <a:schemeClr val="accent2"/>
                </a:solidFill>
              </a:rPr>
              <a:t>86.00%</a:t>
            </a:r>
            <a:endParaRPr lang="en-US" sz="3400" dirty="0"/>
          </a:p>
        </p:txBody>
      </p:sp>
      <p:sp>
        <p:nvSpPr>
          <p:cNvPr id="8" name="Finding label 2"/>
          <p:cNvSpPr txBox="1"/>
          <p:nvPr/>
        </p:nvSpPr>
        <p:spPr>
          <a:xfrm>
            <a:off x="3545129" y="2148840"/>
            <a:ext cx="2286000" cy="731520"/>
          </a:xfrm>
          <a:prstGeom prst="rect">
            <a:avLst/>
          </a:prstGeom>
          <a:noFill/>
          <a:ln/>
        </p:spPr>
        <p:txBody>
          <a:bodyPr wrap="square" lIns="0" tIns="0" rIns="0" bIns="0" rtlCol="0" anchor="t"/>
          <a:lstStyle/>
          <a:p>
            <a:pPr indent="0" marL="0">
              <a:buNone/>
            </a:pPr>
            <a:r>
              <a:rPr lang="en-US" sz="1400" dirty="0">
                <a:solidFill>
                  <a:schemeClr val="bg1"/>
                </a:solidFill>
              </a:rPr>
              <a:t>Rice delivered vs rice produced (aggregate totals)</a:t>
            </a:r>
            <a:endParaRPr lang="en-US" sz="1400" dirty="0"/>
          </a:p>
        </p:txBody>
      </p:sp>
      <p:sp>
        <p:nvSpPr>
          <p:cNvPr id="9" name="Finding card 3"/>
          <p:cNvSpPr/>
          <p:nvPr/>
        </p:nvSpPr>
        <p:spPr>
          <a:xfrm>
            <a:off x="6175858" y="1371600"/>
            <a:ext cx="2651760" cy="1600200"/>
          </a:xfrm>
          <a:prstGeom prst="roundRect">
            <a:avLst>
              <a:gd name="adj" fmla="val 4571"/>
            </a:avLst>
          </a:prstGeom>
          <a:solidFill>
            <a:schemeClr val="accent4"/>
          </a:solidFill>
          <a:ln w="3175">
            <a:solidFill>
              <a:schemeClr val="accent4"/>
            </a:solidFill>
            <a:prstDash val="solid"/>
          </a:ln>
        </p:spPr>
      </p:sp>
      <p:sp>
        <p:nvSpPr>
          <p:cNvPr id="10" name="Finding value 3"/>
          <p:cNvSpPr txBox="1"/>
          <p:nvPr/>
        </p:nvSpPr>
        <p:spPr>
          <a:xfrm>
            <a:off x="6358738" y="1481328"/>
            <a:ext cx="2286000" cy="640080"/>
          </a:xfrm>
          <a:prstGeom prst="rect">
            <a:avLst/>
          </a:prstGeom>
          <a:noFill/>
          <a:ln/>
        </p:spPr>
        <p:txBody>
          <a:bodyPr wrap="square" lIns="0" tIns="0" rIns="0" bIns="0" rtlCol="0" anchor="t"/>
          <a:lstStyle/>
          <a:p>
            <a:pPr indent="0" marL="0">
              <a:buNone/>
            </a:pPr>
            <a:r>
              <a:rPr lang="en-US" sz="3400" b="1" dirty="0">
                <a:solidFill>
                  <a:schemeClr val="bg1"/>
                </a:solidFill>
              </a:rPr>
              <a:t>72.9%</a:t>
            </a:r>
            <a:endParaRPr lang="en-US" sz="3400" dirty="0"/>
          </a:p>
        </p:txBody>
      </p:sp>
      <p:sp>
        <p:nvSpPr>
          <p:cNvPr id="11" name="Finding label 3"/>
          <p:cNvSpPr txBox="1"/>
          <p:nvPr/>
        </p:nvSpPr>
        <p:spPr>
          <a:xfrm>
            <a:off x="6358738" y="2148840"/>
            <a:ext cx="2286000" cy="731520"/>
          </a:xfrm>
          <a:prstGeom prst="rect">
            <a:avLst/>
          </a:prstGeom>
          <a:noFill/>
          <a:ln/>
        </p:spPr>
        <p:txBody>
          <a:bodyPr wrap="square" lIns="0" tIns="0" rIns="0" bIns="0" rtlCol="0" anchor="t"/>
          <a:lstStyle/>
          <a:p>
            <a:pPr indent="0" marL="0">
              <a:buNone/>
            </a:pPr>
            <a:r>
              <a:rPr lang="en-US" sz="1400" dirty="0">
                <a:solidFill>
                  <a:schemeClr val="bg1"/>
                </a:solidFill>
              </a:rPr>
              <a:t>Deliveries after due date: 72,683 of 99,700</a:t>
            </a:r>
            <a:endParaRPr lang="en-US" sz="1400" dirty="0"/>
          </a:p>
        </p:txBody>
      </p:sp>
      <p:sp>
        <p:nvSpPr>
          <p:cNvPr id="12" name="Finding card 4"/>
          <p:cNvSpPr/>
          <p:nvPr/>
        </p:nvSpPr>
        <p:spPr>
          <a:xfrm>
            <a:off x="8989466" y="1371600"/>
            <a:ext cx="2651760" cy="1600200"/>
          </a:xfrm>
          <a:prstGeom prst="roundRect">
            <a:avLst>
              <a:gd name="adj" fmla="val 4571"/>
            </a:avLst>
          </a:prstGeom>
          <a:solidFill>
            <a:schemeClr val="tx2"/>
          </a:solidFill>
          <a:ln w="3175">
            <a:solidFill>
              <a:schemeClr val="tx2"/>
            </a:solidFill>
            <a:prstDash val="solid"/>
          </a:ln>
        </p:spPr>
      </p:sp>
      <p:sp>
        <p:nvSpPr>
          <p:cNvPr id="13" name="Finding value 4"/>
          <p:cNvSpPr txBox="1"/>
          <p:nvPr/>
        </p:nvSpPr>
        <p:spPr>
          <a:xfrm>
            <a:off x="9172346" y="1481328"/>
            <a:ext cx="2286000" cy="640080"/>
          </a:xfrm>
          <a:prstGeom prst="rect">
            <a:avLst/>
          </a:prstGeom>
          <a:noFill/>
          <a:ln/>
        </p:spPr>
        <p:txBody>
          <a:bodyPr wrap="square" lIns="0" tIns="0" rIns="0" bIns="0" rtlCol="0" anchor="t"/>
          <a:lstStyle/>
          <a:p>
            <a:pPr indent="0" marL="0">
              <a:buNone/>
            </a:pPr>
            <a:r>
              <a:rPr lang="en-US" sz="3400" b="1" dirty="0">
                <a:solidFill>
                  <a:schemeClr val="accent2"/>
                </a:solidFill>
              </a:rPr>
              <a:t>53.3%</a:t>
            </a:r>
            <a:endParaRPr lang="en-US" sz="3400" dirty="0"/>
          </a:p>
        </p:txBody>
      </p:sp>
      <p:sp>
        <p:nvSpPr>
          <p:cNvPr id="14" name="Finding label 4"/>
          <p:cNvSpPr txBox="1"/>
          <p:nvPr/>
        </p:nvSpPr>
        <p:spPr>
          <a:xfrm>
            <a:off x="9172346" y="2148840"/>
            <a:ext cx="2286000" cy="731520"/>
          </a:xfrm>
          <a:prstGeom prst="rect">
            <a:avLst/>
          </a:prstGeom>
          <a:noFill/>
          <a:ln/>
        </p:spPr>
        <p:txBody>
          <a:bodyPr wrap="square" lIns="0" tIns="0" rIns="0" bIns="0" rtlCol="0" anchor="t"/>
          <a:lstStyle/>
          <a:p>
            <a:pPr indent="0" marL="0">
              <a:buNone/>
            </a:pPr>
            <a:r>
              <a:rPr lang="en-US" sz="1400" dirty="0">
                <a:solidFill>
                  <a:schemeClr val="bg1"/>
                </a:solidFill>
              </a:rPr>
              <a:t>Milling share of recorded cost (₹174.6 crore)</a:t>
            </a:r>
            <a:endParaRPr lang="en-US" sz="1400" dirty="0"/>
          </a:p>
        </p:txBody>
      </p:sp>
      <p:sp>
        <p:nvSpPr>
          <p:cNvPr id="15" name="Mill type chart card"/>
          <p:cNvSpPr/>
          <p:nvPr/>
        </p:nvSpPr>
        <p:spPr>
          <a:xfrm>
            <a:off x="548640" y="3154680"/>
            <a:ext cx="5440680" cy="3017520"/>
          </a:xfrm>
          <a:prstGeom prst="roundRect">
            <a:avLst>
              <a:gd name="adj" fmla="val 2424"/>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graphicFrame>
        <p:nvGraphicFramePr>
          <p:cNvPr id="16" name="Chart 0" descr=""/>
          <p:cNvGraphicFramePr/>
          <p:nvPr/>
        </p:nvGraphicFramePr>
        <p:xfrm>
          <a:off x="685800" y="3246120"/>
          <a:ext cx="5166360" cy="2834640"/>
        </p:xfrm>
        <a:graphic xmlns:a="http://schemas.openxmlformats.org/drawingml/2006/main">
          <a:graphicData uri="http://schemas.openxmlformats.org/drawingml/2006/chart">
            <c:chart xmlns:c="http://schemas.openxmlformats.org/drawingml/2006/chart" r:id="rId1"/>
          </a:graphicData>
        </a:graphic>
      </p:graphicFrame>
      <p:sp>
        <p:nvSpPr>
          <p:cNvPr id="17" name="Season chart card"/>
          <p:cNvSpPr/>
          <p:nvPr/>
        </p:nvSpPr>
        <p:spPr>
          <a:xfrm>
            <a:off x="6199632" y="3154680"/>
            <a:ext cx="5440680" cy="3017520"/>
          </a:xfrm>
          <a:prstGeom prst="roundRect">
            <a:avLst>
              <a:gd name="adj" fmla="val 2424"/>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graphicFrame>
        <p:nvGraphicFramePr>
          <p:cNvPr id="18" name="Chart 1" descr=""/>
          <p:cNvGraphicFramePr/>
          <p:nvPr/>
        </p:nvGraphicFramePr>
        <p:xfrm>
          <a:off x="6336792" y="3246120"/>
          <a:ext cx="5166360" cy="28346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tx2"/>
                </a:solidFill>
              </a:rPr>
              <a:t>Recommendations and 30-Day Plan</a:t>
            </a:r>
            <a:endParaRPr lang="en-US" sz="3400" dirty="0"/>
          </a:p>
        </p:txBody>
      </p:sp>
      <p:sp>
        <p:nvSpPr>
          <p:cNvPr id="3" name="Recommendation card 1"/>
          <p:cNvSpPr/>
          <p:nvPr/>
        </p:nvSpPr>
        <p:spPr>
          <a:xfrm>
            <a:off x="548640" y="1371600"/>
            <a:ext cx="6949440" cy="758952"/>
          </a:xfrm>
          <a:prstGeom prst="roundRect">
            <a:avLst>
              <a:gd name="adj" fmla="val 9639"/>
            </a:avLst>
          </a:prstGeom>
          <a:solidFill>
            <a:schemeClr val="bg2"/>
          </a:solidFill>
          <a:ln w="3175">
            <a:solidFill>
              <a:schemeClr val="bg2"/>
            </a:solidFill>
            <a:prstDash val="solid"/>
          </a:ln>
        </p:spPr>
      </p:sp>
      <p:sp>
        <p:nvSpPr>
          <p:cNvPr id="4" name="Recommendation 1 badge"/>
          <p:cNvSpPr/>
          <p:nvPr/>
        </p:nvSpPr>
        <p:spPr>
          <a:xfrm>
            <a:off x="713232" y="1499616"/>
            <a:ext cx="502920" cy="502920"/>
          </a:xfrm>
          <a:prstGeom prst="ellipse">
            <a:avLst/>
          </a:prstGeom>
          <a:solidFill>
            <a:schemeClr val="accent1"/>
          </a:solidFill>
          <a:ln w="12700">
            <a:solidFill>
              <a:schemeClr val="accent1"/>
            </a:solidFill>
            <a:prstDash val="solid"/>
          </a:ln>
        </p:spPr>
      </p:sp>
      <p:sp>
        <p:nvSpPr>
          <p:cNvPr id="5" name="Recommendation 1 number"/>
          <p:cNvSpPr txBox="1"/>
          <p:nvPr/>
        </p:nvSpPr>
        <p:spPr>
          <a:xfrm>
            <a:off x="713232" y="1499616"/>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Recommendation text 1"/>
          <p:cNvSpPr txBox="1"/>
          <p:nvPr/>
        </p:nvSpPr>
        <p:spPr>
          <a:xfrm>
            <a:off x="1417320" y="1371600"/>
            <a:ext cx="5943600" cy="758952"/>
          </a:xfrm>
          <a:prstGeom prst="rect">
            <a:avLst/>
          </a:prstGeom>
          <a:noFill/>
          <a:ln/>
        </p:spPr>
        <p:txBody>
          <a:bodyPr wrap="square" lIns="0" tIns="0" rIns="0" bIns="0" rtlCol="0" anchor="ctr"/>
          <a:lstStyle/>
          <a:p>
            <a:pPr indent="0" marL="0">
              <a:buNone/>
            </a:pPr>
            <a:r>
              <a:rPr lang="en-US" sz="1400" b="1" dirty="0">
                <a:solidFill>
                  <a:schemeClr val="tx2"/>
                </a:solidFill>
              </a:rPr>
              <a:t>Resolve missing fields and confirm date logic</a:t>
            </a:r>
            <a:endParaRPr lang="en-US" sz="1400" dirty="0"/>
          </a:p>
          <a:p>
            <a:pPr indent="0" marL="0">
              <a:buNone/>
            </a:pPr>
            <a:r>
              <a:rPr lang="en-US" sz="1300" dirty="0">
                <a:solidFill>
                  <a:schemeClr val="tx1"/>
                </a:solidFill>
              </a:rPr>
              <a:t>Measure: missingness rate; validated late share</a:t>
            </a:r>
            <a:endParaRPr lang="en-US" sz="1400" dirty="0"/>
          </a:p>
        </p:txBody>
      </p:sp>
      <p:sp>
        <p:nvSpPr>
          <p:cNvPr id="7" name="Recommendation card 2"/>
          <p:cNvSpPr/>
          <p:nvPr/>
        </p:nvSpPr>
        <p:spPr>
          <a:xfrm>
            <a:off x="548640" y="2221992"/>
            <a:ext cx="6949440" cy="758952"/>
          </a:xfrm>
          <a:prstGeom prst="roundRect">
            <a:avLst>
              <a:gd name="adj" fmla="val 9639"/>
            </a:avLst>
          </a:prstGeom>
          <a:solidFill>
            <a:schemeClr val="bg2"/>
          </a:solidFill>
          <a:ln w="3175">
            <a:solidFill>
              <a:schemeClr val="bg2"/>
            </a:solidFill>
            <a:prstDash val="solid"/>
          </a:ln>
        </p:spPr>
      </p:sp>
      <p:sp>
        <p:nvSpPr>
          <p:cNvPr id="8" name="Recommendation 2 badge"/>
          <p:cNvSpPr/>
          <p:nvPr/>
        </p:nvSpPr>
        <p:spPr>
          <a:xfrm>
            <a:off x="713232" y="2350008"/>
            <a:ext cx="502920" cy="502920"/>
          </a:xfrm>
          <a:prstGeom prst="ellipse">
            <a:avLst/>
          </a:prstGeom>
          <a:solidFill>
            <a:schemeClr val="accent1"/>
          </a:solidFill>
          <a:ln w="12700">
            <a:solidFill>
              <a:schemeClr val="accent1"/>
            </a:solidFill>
            <a:prstDash val="solid"/>
          </a:ln>
        </p:spPr>
      </p:sp>
      <p:sp>
        <p:nvSpPr>
          <p:cNvPr id="9" name="Recommendation 2 number"/>
          <p:cNvSpPr txBox="1"/>
          <p:nvPr/>
        </p:nvSpPr>
        <p:spPr>
          <a:xfrm>
            <a:off x="713232" y="2350008"/>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0" name="Recommendation text 2"/>
          <p:cNvSpPr txBox="1"/>
          <p:nvPr/>
        </p:nvSpPr>
        <p:spPr>
          <a:xfrm>
            <a:off x="1417320" y="2221992"/>
            <a:ext cx="5943600" cy="758952"/>
          </a:xfrm>
          <a:prstGeom prst="rect">
            <a:avLst/>
          </a:prstGeom>
          <a:noFill/>
          <a:ln/>
        </p:spPr>
        <p:txBody>
          <a:bodyPr wrap="square" lIns="0" tIns="0" rIns="0" bIns="0" rtlCol="0" anchor="ctr"/>
          <a:lstStyle/>
          <a:p>
            <a:pPr indent="0" marL="0">
              <a:buNone/>
            </a:pPr>
            <a:r>
              <a:rPr lang="en-US" sz="1400" b="1" dirty="0">
                <a:solidFill>
                  <a:schemeClr val="tx2"/>
                </a:solidFill>
              </a:rPr>
              <a:t>Create a daily delivery exception list</a:t>
            </a:r>
            <a:endParaRPr lang="en-US" sz="1400" dirty="0"/>
          </a:p>
          <a:p>
            <a:pPr indent="0" marL="0">
              <a:buNone/>
            </a:pPr>
            <a:r>
              <a:rPr lang="en-US" sz="1300" dirty="0">
                <a:solidFill>
                  <a:schemeClr val="tx1"/>
                </a:solidFill>
              </a:rPr>
              <a:t>Measure: late orders reviewed; average delay</a:t>
            </a:r>
            <a:endParaRPr lang="en-US" sz="1400" dirty="0"/>
          </a:p>
        </p:txBody>
      </p:sp>
      <p:sp>
        <p:nvSpPr>
          <p:cNvPr id="11" name="Recommendation card 3"/>
          <p:cNvSpPr/>
          <p:nvPr/>
        </p:nvSpPr>
        <p:spPr>
          <a:xfrm>
            <a:off x="548640" y="3072384"/>
            <a:ext cx="6949440" cy="758952"/>
          </a:xfrm>
          <a:prstGeom prst="roundRect">
            <a:avLst>
              <a:gd name="adj" fmla="val 9639"/>
            </a:avLst>
          </a:prstGeom>
          <a:solidFill>
            <a:schemeClr val="bg2"/>
          </a:solidFill>
          <a:ln w="3175">
            <a:solidFill>
              <a:schemeClr val="bg2"/>
            </a:solidFill>
            <a:prstDash val="solid"/>
          </a:ln>
        </p:spPr>
      </p:sp>
      <p:sp>
        <p:nvSpPr>
          <p:cNvPr id="12" name="Recommendation 3 badge"/>
          <p:cNvSpPr/>
          <p:nvPr/>
        </p:nvSpPr>
        <p:spPr>
          <a:xfrm>
            <a:off x="713232" y="3200400"/>
            <a:ext cx="502920" cy="502920"/>
          </a:xfrm>
          <a:prstGeom prst="ellipse">
            <a:avLst/>
          </a:prstGeom>
          <a:solidFill>
            <a:schemeClr val="accent1"/>
          </a:solidFill>
          <a:ln w="12700">
            <a:solidFill>
              <a:schemeClr val="accent1"/>
            </a:solidFill>
            <a:prstDash val="solid"/>
          </a:ln>
        </p:spPr>
      </p:sp>
      <p:sp>
        <p:nvSpPr>
          <p:cNvPr id="13" name="Recommendation 3 number"/>
          <p:cNvSpPr txBox="1"/>
          <p:nvPr/>
        </p:nvSpPr>
        <p:spPr>
          <a:xfrm>
            <a:off x="713232" y="32004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4" name="Recommendation text 3"/>
          <p:cNvSpPr txBox="1"/>
          <p:nvPr/>
        </p:nvSpPr>
        <p:spPr>
          <a:xfrm>
            <a:off x="1417320" y="3072384"/>
            <a:ext cx="5943600" cy="758952"/>
          </a:xfrm>
          <a:prstGeom prst="rect">
            <a:avLst/>
          </a:prstGeom>
          <a:noFill/>
          <a:ln/>
        </p:spPr>
        <p:txBody>
          <a:bodyPr wrap="square" lIns="0" tIns="0" rIns="0" bIns="0" rtlCol="0" anchor="ctr"/>
          <a:lstStyle/>
          <a:p>
            <a:pPr indent="0" marL="0">
              <a:buNone/>
            </a:pPr>
            <a:r>
              <a:rPr lang="en-US" sz="1400" b="1" dirty="0">
                <a:solidFill>
                  <a:schemeClr val="tx2"/>
                </a:solidFill>
              </a:rPr>
              <a:t>Monitor conversion ratio by mill and rice type</a:t>
            </a:r>
            <a:endParaRPr lang="en-US" sz="1400" dirty="0"/>
          </a:p>
          <a:p>
            <a:pPr indent="0" marL="0">
              <a:buNone/>
            </a:pPr>
            <a:r>
              <a:rPr lang="en-US" sz="1300" dirty="0">
                <a:solidFill>
                  <a:schemeClr val="tx1"/>
                </a:solidFill>
              </a:rPr>
              <a:t>Measure: weighted yield; outlier count</a:t>
            </a:r>
            <a:endParaRPr lang="en-US" sz="1400" dirty="0"/>
          </a:p>
        </p:txBody>
      </p:sp>
      <p:sp>
        <p:nvSpPr>
          <p:cNvPr id="15" name="Recommendation card 4"/>
          <p:cNvSpPr/>
          <p:nvPr/>
        </p:nvSpPr>
        <p:spPr>
          <a:xfrm>
            <a:off x="548640" y="3922776"/>
            <a:ext cx="6949440" cy="758952"/>
          </a:xfrm>
          <a:prstGeom prst="roundRect">
            <a:avLst>
              <a:gd name="adj" fmla="val 9639"/>
            </a:avLst>
          </a:prstGeom>
          <a:solidFill>
            <a:schemeClr val="bg2"/>
          </a:solidFill>
          <a:ln w="3175">
            <a:solidFill>
              <a:schemeClr val="bg2"/>
            </a:solidFill>
            <a:prstDash val="solid"/>
          </a:ln>
        </p:spPr>
      </p:sp>
      <p:sp>
        <p:nvSpPr>
          <p:cNvPr id="16" name="Recommendation 4 badge"/>
          <p:cNvSpPr/>
          <p:nvPr/>
        </p:nvSpPr>
        <p:spPr>
          <a:xfrm>
            <a:off x="713232" y="4050792"/>
            <a:ext cx="502920" cy="502920"/>
          </a:xfrm>
          <a:prstGeom prst="ellipse">
            <a:avLst/>
          </a:prstGeom>
          <a:solidFill>
            <a:schemeClr val="accent1"/>
          </a:solidFill>
          <a:ln w="12700">
            <a:solidFill>
              <a:schemeClr val="accent1"/>
            </a:solidFill>
            <a:prstDash val="solid"/>
          </a:ln>
        </p:spPr>
      </p:sp>
      <p:sp>
        <p:nvSpPr>
          <p:cNvPr id="17" name="Recommendation 4 number"/>
          <p:cNvSpPr txBox="1"/>
          <p:nvPr/>
        </p:nvSpPr>
        <p:spPr>
          <a:xfrm>
            <a:off x="713232" y="4050792"/>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8" name="Recommendation text 4"/>
          <p:cNvSpPr txBox="1"/>
          <p:nvPr/>
        </p:nvSpPr>
        <p:spPr>
          <a:xfrm>
            <a:off x="1417320" y="3922776"/>
            <a:ext cx="5943600" cy="758952"/>
          </a:xfrm>
          <a:prstGeom prst="rect">
            <a:avLst/>
          </a:prstGeom>
          <a:noFill/>
          <a:ln/>
        </p:spPr>
        <p:txBody>
          <a:bodyPr wrap="square" lIns="0" tIns="0" rIns="0" bIns="0" rtlCol="0" anchor="ctr"/>
          <a:lstStyle/>
          <a:p>
            <a:pPr indent="0" marL="0">
              <a:buNone/>
            </a:pPr>
            <a:r>
              <a:rPr lang="en-US" sz="1400" b="1" dirty="0">
                <a:solidFill>
                  <a:schemeClr val="tx2"/>
                </a:solidFill>
              </a:rPr>
              <a:t>Track cost per tonne processed</a:t>
            </a:r>
            <a:endParaRPr lang="en-US" sz="1400" dirty="0"/>
          </a:p>
          <a:p>
            <a:pPr indent="0" marL="0">
              <a:buNone/>
            </a:pPr>
            <a:r>
              <a:rPr lang="en-US" sz="1300" dirty="0">
                <a:solidFill>
                  <a:schemeClr val="tx1"/>
                </a:solidFill>
              </a:rPr>
              <a:t>Measure: INR per processed tonne</a:t>
            </a:r>
            <a:endParaRPr lang="en-US" sz="1400" dirty="0"/>
          </a:p>
        </p:txBody>
      </p:sp>
      <p:sp>
        <p:nvSpPr>
          <p:cNvPr id="19" name="Recommendation card 5"/>
          <p:cNvSpPr/>
          <p:nvPr/>
        </p:nvSpPr>
        <p:spPr>
          <a:xfrm>
            <a:off x="548640" y="4773168"/>
            <a:ext cx="6949440" cy="758952"/>
          </a:xfrm>
          <a:prstGeom prst="roundRect">
            <a:avLst>
              <a:gd name="adj" fmla="val 9639"/>
            </a:avLst>
          </a:prstGeom>
          <a:solidFill>
            <a:schemeClr val="bg2"/>
          </a:solidFill>
          <a:ln w="3175">
            <a:solidFill>
              <a:schemeClr val="bg2"/>
            </a:solidFill>
            <a:prstDash val="solid"/>
          </a:ln>
        </p:spPr>
      </p:sp>
      <p:sp>
        <p:nvSpPr>
          <p:cNvPr id="20" name="Recommendation 5 badge"/>
          <p:cNvSpPr/>
          <p:nvPr/>
        </p:nvSpPr>
        <p:spPr>
          <a:xfrm>
            <a:off x="713232" y="4901184"/>
            <a:ext cx="502920" cy="502920"/>
          </a:xfrm>
          <a:prstGeom prst="ellipse">
            <a:avLst/>
          </a:prstGeom>
          <a:solidFill>
            <a:schemeClr val="accent1"/>
          </a:solidFill>
          <a:ln w="12700">
            <a:solidFill>
              <a:schemeClr val="accent1"/>
            </a:solidFill>
            <a:prstDash val="solid"/>
          </a:ln>
        </p:spPr>
      </p:sp>
      <p:sp>
        <p:nvSpPr>
          <p:cNvPr id="21" name="Recommendation 5 number"/>
          <p:cNvSpPr txBox="1"/>
          <p:nvPr/>
        </p:nvSpPr>
        <p:spPr>
          <a:xfrm>
            <a:off x="713232" y="4901184"/>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2" name="Recommendation text 5"/>
          <p:cNvSpPr txBox="1"/>
          <p:nvPr/>
        </p:nvSpPr>
        <p:spPr>
          <a:xfrm>
            <a:off x="1417320" y="4773168"/>
            <a:ext cx="5943600" cy="758952"/>
          </a:xfrm>
          <a:prstGeom prst="rect">
            <a:avLst/>
          </a:prstGeom>
          <a:noFill/>
          <a:ln/>
        </p:spPr>
        <p:txBody>
          <a:bodyPr wrap="square" lIns="0" tIns="0" rIns="0" bIns="0" rtlCol="0" anchor="ctr"/>
          <a:lstStyle/>
          <a:p>
            <a:pPr indent="0" marL="0">
              <a:buNone/>
            </a:pPr>
            <a:r>
              <a:rPr lang="en-US" sz="1400" b="1" dirty="0">
                <a:solidFill>
                  <a:schemeClr val="tx2"/>
                </a:solidFill>
              </a:rPr>
              <a:t>Reconcile SQL, Python and Power BI</a:t>
            </a:r>
            <a:endParaRPr lang="en-US" sz="1400" dirty="0"/>
          </a:p>
          <a:p>
            <a:pPr indent="0" marL="0">
              <a:buNone/>
            </a:pPr>
            <a:r>
              <a:rPr lang="en-US" sz="1300" dirty="0">
                <a:solidFill>
                  <a:schemeClr val="tx1"/>
                </a:solidFill>
              </a:rPr>
              <a:t>Measure: difference between systems = 0</a:t>
            </a:r>
            <a:endParaRPr lang="en-US" sz="1400" dirty="0"/>
          </a:p>
        </p:txBody>
      </p:sp>
      <p:sp>
        <p:nvSpPr>
          <p:cNvPr id="23" name="Recommendation note"/>
          <p:cNvSpPr txBox="1"/>
          <p:nvPr/>
        </p:nvSpPr>
        <p:spPr>
          <a:xfrm>
            <a:off x="548640" y="5760720"/>
            <a:ext cx="6949440" cy="457200"/>
          </a:xfrm>
          <a:prstGeom prst="rect">
            <a:avLst/>
          </a:prstGeom>
          <a:noFill/>
          <a:ln/>
        </p:spPr>
        <p:txBody>
          <a:bodyPr wrap="square" lIns="0" tIns="0" rIns="0" bIns="0" rtlCol="0" anchor="t"/>
          <a:lstStyle/>
          <a:p>
            <a:pPr indent="0" marL="0">
              <a:buNone/>
            </a:pPr>
            <a:r>
              <a:rPr lang="en-US" sz="1200" i="1" dirty="0">
                <a:solidFill>
                  <a:schemeClr val="accent5"/>
                </a:solidFill>
              </a:rPr>
              <a:t>Also: compare mill types on normalized measures and pilot forecasting only after validation.</a:t>
            </a:r>
            <a:endParaRPr lang="en-US" sz="1200" dirty="0"/>
          </a:p>
        </p:txBody>
      </p:sp>
      <p:sp>
        <p:nvSpPr>
          <p:cNvPr id="24" name="Plan panel"/>
          <p:cNvSpPr/>
          <p:nvPr/>
        </p:nvSpPr>
        <p:spPr>
          <a:xfrm>
            <a:off x="7772400" y="1371600"/>
            <a:ext cx="3867912" cy="4800600"/>
          </a:xfrm>
          <a:prstGeom prst="roundRect">
            <a:avLst>
              <a:gd name="adj" fmla="val 1891"/>
            </a:avLst>
          </a:prstGeom>
          <a:solidFill>
            <a:schemeClr val="tx2"/>
          </a:solidFill>
          <a:ln w="3175">
            <a:solidFill>
              <a:schemeClr val="tx2"/>
            </a:solidFill>
            <a:prstDash val="solid"/>
          </a:ln>
        </p:spPr>
      </p:sp>
      <p:sp>
        <p:nvSpPr>
          <p:cNvPr id="25" name="Plan heading"/>
          <p:cNvSpPr txBox="1"/>
          <p:nvPr/>
        </p:nvSpPr>
        <p:spPr>
          <a:xfrm>
            <a:off x="8046720" y="1554480"/>
            <a:ext cx="3291840" cy="365760"/>
          </a:xfrm>
          <a:prstGeom prst="rect">
            <a:avLst/>
          </a:prstGeom>
          <a:noFill/>
          <a:ln/>
        </p:spPr>
        <p:txBody>
          <a:bodyPr wrap="square" lIns="0" tIns="0" rIns="0" bIns="0" rtlCol="0" anchor="t"/>
          <a:lstStyle/>
          <a:p>
            <a:pPr indent="0" marL="0">
              <a:buNone/>
            </a:pPr>
            <a:r>
              <a:rPr lang="en-US" sz="2000" b="1" dirty="0">
                <a:solidFill>
                  <a:schemeClr val="accent2"/>
                </a:solidFill>
              </a:rPr>
              <a:t>30-day plan</a:t>
            </a:r>
            <a:endParaRPr lang="en-US" sz="2000" dirty="0"/>
          </a:p>
        </p:txBody>
      </p:sp>
      <p:sp>
        <p:nvSpPr>
          <p:cNvPr id="26" name="Plan timeline line"/>
          <p:cNvSpPr/>
          <p:nvPr/>
        </p:nvSpPr>
        <p:spPr>
          <a:xfrm>
            <a:off x="8293608" y="2331720"/>
            <a:ext cx="0" cy="2926080"/>
          </a:xfrm>
          <a:prstGeom prst="line">
            <a:avLst/>
          </a:prstGeom>
          <a:noFill/>
          <a:ln w="25400">
            <a:solidFill>
              <a:schemeClr val="accent6"/>
            </a:solidFill>
            <a:prstDash val="solid"/>
          </a:ln>
        </p:spPr>
      </p:sp>
      <p:sp>
        <p:nvSpPr>
          <p:cNvPr id="27" name="Plan node 1"/>
          <p:cNvSpPr/>
          <p:nvPr/>
        </p:nvSpPr>
        <p:spPr>
          <a:xfrm>
            <a:off x="8156448" y="2221992"/>
            <a:ext cx="274320" cy="274320"/>
          </a:xfrm>
          <a:prstGeom prst="ellipse">
            <a:avLst/>
          </a:prstGeom>
          <a:solidFill>
            <a:schemeClr val="accent2"/>
          </a:solidFill>
          <a:ln w="12700">
            <a:solidFill>
              <a:schemeClr val="accent2"/>
            </a:solidFill>
            <a:prstDash val="solid"/>
          </a:ln>
        </p:spPr>
      </p:sp>
      <p:sp>
        <p:nvSpPr>
          <p:cNvPr id="28" name="Plan text 1"/>
          <p:cNvSpPr txBox="1"/>
          <p:nvPr/>
        </p:nvSpPr>
        <p:spPr>
          <a:xfrm>
            <a:off x="8641080" y="2148840"/>
            <a:ext cx="2834640" cy="914400"/>
          </a:xfrm>
          <a:prstGeom prst="rect">
            <a:avLst/>
          </a:prstGeom>
          <a:noFill/>
          <a:ln/>
        </p:spPr>
        <p:txBody>
          <a:bodyPr wrap="square" lIns="0" tIns="0" rIns="0" bIns="0" rtlCol="0" anchor="t"/>
          <a:lstStyle/>
          <a:p>
            <a:pPr indent="0" marL="0">
              <a:buNone/>
            </a:pPr>
            <a:r>
              <a:rPr lang="en-US" sz="1400" b="1" dirty="0">
                <a:solidFill>
                  <a:schemeClr val="accent2"/>
                </a:solidFill>
              </a:rPr>
              <a:t>Week 1</a:t>
            </a:r>
            <a:endParaRPr lang="en-US" sz="1400" dirty="0"/>
          </a:p>
          <a:p>
            <a:pPr indent="0" marL="0">
              <a:buNone/>
            </a:pPr>
            <a:r>
              <a:rPr lang="en-US" sz="1400" dirty="0">
                <a:solidFill>
                  <a:schemeClr val="bg1"/>
                </a:solidFill>
              </a:rPr>
              <a:t>Confirm field definitions, missingness policy and data grain</a:t>
            </a:r>
            <a:endParaRPr lang="en-US" sz="1400" dirty="0"/>
          </a:p>
        </p:txBody>
      </p:sp>
      <p:sp>
        <p:nvSpPr>
          <p:cNvPr id="29" name="Plan node 2"/>
          <p:cNvSpPr/>
          <p:nvPr/>
        </p:nvSpPr>
        <p:spPr>
          <a:xfrm>
            <a:off x="8156448" y="3227832"/>
            <a:ext cx="274320" cy="274320"/>
          </a:xfrm>
          <a:prstGeom prst="ellipse">
            <a:avLst/>
          </a:prstGeom>
          <a:solidFill>
            <a:schemeClr val="accent2"/>
          </a:solidFill>
          <a:ln w="12700">
            <a:solidFill>
              <a:schemeClr val="accent2"/>
            </a:solidFill>
            <a:prstDash val="solid"/>
          </a:ln>
        </p:spPr>
      </p:sp>
      <p:sp>
        <p:nvSpPr>
          <p:cNvPr id="30" name="Plan text 2"/>
          <p:cNvSpPr txBox="1"/>
          <p:nvPr/>
        </p:nvSpPr>
        <p:spPr>
          <a:xfrm>
            <a:off x="8641080" y="3154680"/>
            <a:ext cx="2834640" cy="914400"/>
          </a:xfrm>
          <a:prstGeom prst="rect">
            <a:avLst/>
          </a:prstGeom>
          <a:noFill/>
          <a:ln/>
        </p:spPr>
        <p:txBody>
          <a:bodyPr wrap="square" lIns="0" tIns="0" rIns="0" bIns="0" rtlCol="0" anchor="t"/>
          <a:lstStyle/>
          <a:p>
            <a:pPr indent="0" marL="0">
              <a:buNone/>
            </a:pPr>
            <a:r>
              <a:rPr lang="en-US" sz="1400" b="1" dirty="0">
                <a:solidFill>
                  <a:schemeClr val="accent2"/>
                </a:solidFill>
              </a:rPr>
              <a:t>Week 2</a:t>
            </a:r>
            <a:endParaRPr lang="en-US" sz="1400" dirty="0"/>
          </a:p>
          <a:p>
            <a:pPr indent="0" marL="0">
              <a:buNone/>
            </a:pPr>
            <a:r>
              <a:rPr lang="en-US" sz="1400" dirty="0">
                <a:solidFill>
                  <a:schemeClr val="bg1"/>
                </a:solidFill>
              </a:rPr>
              <a:t>Build PostgreSQL schema and SQL KPIs; reconcile with Python</a:t>
            </a:r>
            <a:endParaRPr lang="en-US" sz="1400" dirty="0"/>
          </a:p>
        </p:txBody>
      </p:sp>
      <p:sp>
        <p:nvSpPr>
          <p:cNvPr id="31" name="Plan node 3"/>
          <p:cNvSpPr/>
          <p:nvPr/>
        </p:nvSpPr>
        <p:spPr>
          <a:xfrm>
            <a:off x="8156448" y="4233672"/>
            <a:ext cx="274320" cy="274320"/>
          </a:xfrm>
          <a:prstGeom prst="ellipse">
            <a:avLst/>
          </a:prstGeom>
          <a:solidFill>
            <a:schemeClr val="accent2"/>
          </a:solidFill>
          <a:ln w="12700">
            <a:solidFill>
              <a:schemeClr val="accent2"/>
            </a:solidFill>
            <a:prstDash val="solid"/>
          </a:ln>
        </p:spPr>
      </p:sp>
      <p:sp>
        <p:nvSpPr>
          <p:cNvPr id="32" name="Plan text 3"/>
          <p:cNvSpPr txBox="1"/>
          <p:nvPr/>
        </p:nvSpPr>
        <p:spPr>
          <a:xfrm>
            <a:off x="8641080" y="4160520"/>
            <a:ext cx="2834640" cy="914400"/>
          </a:xfrm>
          <a:prstGeom prst="rect">
            <a:avLst/>
          </a:prstGeom>
          <a:noFill/>
          <a:ln/>
        </p:spPr>
        <p:txBody>
          <a:bodyPr wrap="square" lIns="0" tIns="0" rIns="0" bIns="0" rtlCol="0" anchor="t"/>
          <a:lstStyle/>
          <a:p>
            <a:pPr indent="0" marL="0">
              <a:buNone/>
            </a:pPr>
            <a:r>
              <a:rPr lang="en-US" sz="1400" b="1" dirty="0">
                <a:solidFill>
                  <a:schemeClr val="accent2"/>
                </a:solidFill>
              </a:rPr>
              <a:t>Week 3</a:t>
            </a:r>
            <a:endParaRPr lang="en-US" sz="1400" dirty="0"/>
          </a:p>
          <a:p>
            <a:pPr indent="0" marL="0">
              <a:buNone/>
            </a:pPr>
            <a:r>
              <a:rPr lang="en-US" sz="1400" dirty="0">
                <a:solidFill>
                  <a:schemeClr val="bg1"/>
                </a:solidFill>
              </a:rPr>
              <a:t>Implement Delta layers and Power BI prototype</a:t>
            </a:r>
            <a:endParaRPr lang="en-US" sz="1400" dirty="0"/>
          </a:p>
        </p:txBody>
      </p:sp>
      <p:sp>
        <p:nvSpPr>
          <p:cNvPr id="33" name="Plan node 4"/>
          <p:cNvSpPr/>
          <p:nvPr/>
        </p:nvSpPr>
        <p:spPr>
          <a:xfrm>
            <a:off x="8156448" y="5239512"/>
            <a:ext cx="274320" cy="274320"/>
          </a:xfrm>
          <a:prstGeom prst="ellipse">
            <a:avLst/>
          </a:prstGeom>
          <a:solidFill>
            <a:schemeClr val="accent2"/>
          </a:solidFill>
          <a:ln w="12700">
            <a:solidFill>
              <a:schemeClr val="accent2"/>
            </a:solidFill>
            <a:prstDash val="solid"/>
          </a:ln>
        </p:spPr>
      </p:sp>
      <p:sp>
        <p:nvSpPr>
          <p:cNvPr id="34" name="Plan text 4"/>
          <p:cNvSpPr txBox="1"/>
          <p:nvPr/>
        </p:nvSpPr>
        <p:spPr>
          <a:xfrm>
            <a:off x="8641080" y="5166360"/>
            <a:ext cx="2834640" cy="914400"/>
          </a:xfrm>
          <a:prstGeom prst="rect">
            <a:avLst/>
          </a:prstGeom>
          <a:noFill/>
          <a:ln/>
        </p:spPr>
        <p:txBody>
          <a:bodyPr wrap="square" lIns="0" tIns="0" rIns="0" bIns="0" rtlCol="0" anchor="t"/>
          <a:lstStyle/>
          <a:p>
            <a:pPr indent="0" marL="0">
              <a:buNone/>
            </a:pPr>
            <a:r>
              <a:rPr lang="en-US" sz="1400" b="1" dirty="0">
                <a:solidFill>
                  <a:schemeClr val="accent2"/>
                </a:solidFill>
              </a:rPr>
              <a:t>Week 4</a:t>
            </a:r>
            <a:endParaRPr lang="en-US" sz="1400" dirty="0"/>
          </a:p>
          <a:p>
            <a:pPr indent="0" marL="0">
              <a:buNone/>
            </a:pPr>
            <a:r>
              <a:rPr lang="en-US" sz="1400" dirty="0">
                <a:solidFill>
                  <a:schemeClr val="bg1"/>
                </a:solidFill>
              </a:rPr>
              <a:t>Review with a domain stakeholder; document gaps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400" b="1" dirty="0">
                <a:solidFill>
                  <a:schemeClr val="bg1"/>
                </a:solidFill>
              </a:rPr>
              <a:t>Conclusion and Future Work</a:t>
            </a:r>
            <a:endParaRPr lang="en-US" sz="3400" dirty="0"/>
          </a:p>
        </p:txBody>
      </p:sp>
      <p:sp>
        <p:nvSpPr>
          <p:cNvPr id="3" name="Achievements card"/>
          <p:cNvSpPr/>
          <p:nvPr/>
        </p:nvSpPr>
        <p:spPr>
          <a:xfrm>
            <a:off x="548640" y="1371600"/>
            <a:ext cx="5486400" cy="3566160"/>
          </a:xfrm>
          <a:prstGeom prst="roundRect">
            <a:avLst>
              <a:gd name="adj" fmla="val 2051"/>
            </a:avLst>
          </a:prstGeom>
          <a:solidFill>
            <a:schemeClr val="accent1"/>
          </a:solidFill>
          <a:ln w="3175">
            <a:solidFill>
              <a:schemeClr val="accent1"/>
            </a:solidFill>
            <a:prstDash val="solid"/>
          </a:ln>
        </p:spPr>
      </p:sp>
      <p:sp>
        <p:nvSpPr>
          <p:cNvPr id="4" name="Achievements heading"/>
          <p:cNvSpPr txBox="1"/>
          <p:nvPr/>
        </p:nvSpPr>
        <p:spPr>
          <a:xfrm>
            <a:off x="822960" y="1554480"/>
            <a:ext cx="4937760" cy="365760"/>
          </a:xfrm>
          <a:prstGeom prst="rect">
            <a:avLst/>
          </a:prstGeom>
          <a:noFill/>
          <a:ln/>
        </p:spPr>
        <p:txBody>
          <a:bodyPr wrap="square" lIns="0" tIns="0" rIns="0" bIns="0" rtlCol="0" anchor="t"/>
          <a:lstStyle/>
          <a:p>
            <a:pPr indent="0" marL="0">
              <a:buNone/>
            </a:pPr>
            <a:r>
              <a:rPr lang="en-US" sz="2000" b="1" dirty="0">
                <a:solidFill>
                  <a:schemeClr val="accent2"/>
                </a:solidFill>
              </a:rPr>
              <a:t>What we achieved</a:t>
            </a:r>
            <a:endParaRPr lang="en-US" sz="2000" dirty="0"/>
          </a:p>
        </p:txBody>
      </p:sp>
      <p:sp>
        <p:nvSpPr>
          <p:cNvPr id="5" name="Achievements list"/>
          <p:cNvSpPr txBox="1"/>
          <p:nvPr/>
        </p:nvSpPr>
        <p:spPr>
          <a:xfrm>
            <a:off x="822960" y="2057400"/>
            <a:ext cx="4937760" cy="2743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Analysed 100,000 synthetic transactions across 33 districts and 500 mills.</a:t>
            </a:r>
            <a:endParaRPr lang="en-US" sz="1700" dirty="0"/>
          </a:p>
          <a:p>
            <a:pPr marL="342900" indent="-342900">
              <a:spcAft>
                <a:spcPts val="1000"/>
              </a:spcAft>
              <a:buSzPct val="100000"/>
              <a:buChar char="•"/>
            </a:pPr>
            <a:r>
              <a:rPr lang="en-US" sz="1700" dirty="0">
                <a:solidFill>
                  <a:schemeClr val="bg1"/>
                </a:solidFill>
              </a:rPr>
              <a:t>Designed a workflow from Python to PostgreSQL, Delta Lake and Power BI with one reconciled KPI dictionary.</a:t>
            </a:r>
            <a:endParaRPr lang="en-US" sz="1700" dirty="0"/>
          </a:p>
          <a:p>
            <a:pPr marL="342900" indent="-342900">
              <a:buSzPct val="100000"/>
              <a:buChar char="•"/>
            </a:pPr>
            <a:r>
              <a:rPr lang="en-US" sz="1700" dirty="0">
                <a:solidFill>
                  <a:schemeClr val="bg1"/>
                </a:solidFill>
              </a:rPr>
              <a:t>Showed that reliable analytics needs clear provenance, definitions, data grain and visible quality checks.</a:t>
            </a:r>
            <a:endParaRPr lang="en-US" sz="1700" dirty="0"/>
          </a:p>
        </p:txBody>
      </p:sp>
      <p:sp>
        <p:nvSpPr>
          <p:cNvPr id="6" name="Future work card"/>
          <p:cNvSpPr/>
          <p:nvPr/>
        </p:nvSpPr>
        <p:spPr>
          <a:xfrm>
            <a:off x="6153912" y="1371600"/>
            <a:ext cx="5486400" cy="3566160"/>
          </a:xfrm>
          <a:prstGeom prst="roundRect">
            <a:avLst>
              <a:gd name="adj" fmla="val 2051"/>
            </a:avLst>
          </a:prstGeom>
          <a:solidFill>
            <a:schemeClr val="accent1"/>
          </a:solidFill>
          <a:ln w="3175">
            <a:solidFill>
              <a:schemeClr val="accent1"/>
            </a:solidFill>
            <a:prstDash val="solid"/>
          </a:ln>
        </p:spPr>
      </p:sp>
      <p:sp>
        <p:nvSpPr>
          <p:cNvPr id="7" name="Future heading"/>
          <p:cNvSpPr txBox="1"/>
          <p:nvPr/>
        </p:nvSpPr>
        <p:spPr>
          <a:xfrm>
            <a:off x="6428232" y="1554480"/>
            <a:ext cx="4937760" cy="365760"/>
          </a:xfrm>
          <a:prstGeom prst="rect">
            <a:avLst/>
          </a:prstGeom>
          <a:noFill/>
          <a:ln/>
        </p:spPr>
        <p:txBody>
          <a:bodyPr wrap="square" lIns="0" tIns="0" rIns="0" bIns="0" rtlCol="0" anchor="t"/>
          <a:lstStyle/>
          <a:p>
            <a:pPr indent="0" marL="0">
              <a:buNone/>
            </a:pPr>
            <a:r>
              <a:rPr lang="en-US" sz="2000" b="1" dirty="0">
                <a:solidFill>
                  <a:schemeClr val="accent2"/>
                </a:solidFill>
              </a:rPr>
              <a:t>Limitations and future work</a:t>
            </a:r>
            <a:endParaRPr lang="en-US" sz="2000" dirty="0"/>
          </a:p>
        </p:txBody>
      </p:sp>
      <p:sp>
        <p:nvSpPr>
          <p:cNvPr id="8" name="Future list"/>
          <p:cNvSpPr txBox="1"/>
          <p:nvPr/>
        </p:nvSpPr>
        <p:spPr>
          <a:xfrm>
            <a:off x="6428232" y="2057400"/>
            <a:ext cx="4937760" cy="2743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Data is synthetic, so findings do not describe real mills.</a:t>
            </a:r>
            <a:endParaRPr lang="en-US" sz="1700" dirty="0"/>
          </a:p>
          <a:p>
            <a:pPr marL="342900" indent="-342900">
              <a:spcAft>
                <a:spcPts val="1000"/>
              </a:spcAft>
              <a:buSzPct val="100000"/>
              <a:buChar char="•"/>
            </a:pPr>
            <a:r>
              <a:rPr lang="en-US" sz="1700" dirty="0">
                <a:solidFill>
                  <a:schemeClr val="bg1"/>
                </a:solidFill>
              </a:rPr>
              <a:t>Use approved real data; add paddy prices, rice sales value and energy tariffs.</a:t>
            </a:r>
            <a:endParaRPr lang="en-US" sz="1700" dirty="0"/>
          </a:p>
          <a:p>
            <a:pPr marL="342900" indent="-342900">
              <a:spcAft>
                <a:spcPts val="1000"/>
              </a:spcAft>
              <a:buSzPct val="100000"/>
              <a:buChar char="•"/>
            </a:pPr>
            <a:r>
              <a:rPr lang="en-US" sz="1700" dirty="0">
                <a:solidFill>
                  <a:schemeClr val="bg1"/>
                </a:solidFill>
              </a:rPr>
              <a:t>Run a time-based forecast against a naive baseline.</a:t>
            </a:r>
            <a:endParaRPr lang="en-US" sz="1700" dirty="0"/>
          </a:p>
          <a:p>
            <a:pPr marL="342900" indent="-342900">
              <a:buSzPct val="100000"/>
              <a:buChar char="•"/>
            </a:pPr>
            <a:r>
              <a:rPr lang="en-US" sz="1700" dirty="0">
                <a:solidFill>
                  <a:schemeClr val="bg1"/>
                </a:solidFill>
              </a:rPr>
              <a:t>Capture execution evidence for Databricks and Power BI; publish a clean GitHub repository.</a:t>
            </a:r>
            <a:endParaRPr lang="en-US" sz="1700" dirty="0"/>
          </a:p>
        </p:txBody>
      </p:sp>
      <p:sp>
        <p:nvSpPr>
          <p:cNvPr id="9" name="Thank you"/>
          <p:cNvSpPr txBox="1"/>
          <p:nvPr/>
        </p:nvSpPr>
        <p:spPr>
          <a:xfrm>
            <a:off x="548640" y="5166360"/>
            <a:ext cx="11091672" cy="731520"/>
          </a:xfrm>
          <a:prstGeom prst="rect">
            <a:avLst/>
          </a:prstGeom>
          <a:noFill/>
          <a:ln/>
        </p:spPr>
        <p:txBody>
          <a:bodyPr wrap="square" lIns="0" tIns="0" rIns="0" bIns="0" rtlCol="0" anchor="ctr"/>
          <a:lstStyle/>
          <a:p>
            <a:pPr algn="ctr" indent="0" marL="0">
              <a:buNone/>
            </a:pPr>
            <a:r>
              <a:rPr lang="en-US" sz="3400" b="1" dirty="0">
                <a:solidFill>
                  <a:schemeClr val="accent2"/>
                </a:solidFill>
              </a:rPr>
              <a:t>Thank you  |  Questions?</a:t>
            </a:r>
            <a:endParaRPr lang="en-US" sz="3400" dirty="0"/>
          </a:p>
        </p:txBody>
      </p:sp>
      <p:sp>
        <p:nvSpPr>
          <p:cNvPr id="10" name="Presenter footer"/>
          <p:cNvSpPr txBox="1"/>
          <p:nvPr/>
        </p:nvSpPr>
        <p:spPr>
          <a:xfrm>
            <a:off x="548640" y="5897880"/>
            <a:ext cx="11091672" cy="320040"/>
          </a:xfrm>
          <a:prstGeom prst="rect">
            <a:avLst/>
          </a:prstGeom>
          <a:noFill/>
          <a:ln/>
        </p:spPr>
        <p:txBody>
          <a:bodyPr wrap="square" lIns="0" tIns="0" rIns="0" bIns="0" rtlCol="0" anchor="t"/>
          <a:lstStyle/>
          <a:p>
            <a:pPr algn="ctr" indent="0" marL="0">
              <a:buNone/>
            </a:pPr>
            <a:r>
              <a:rPr lang="en-US" sz="1400" dirty="0">
                <a:solidFill>
                  <a:schemeClr val="bg2"/>
                </a:solidFill>
              </a:rPr>
              <a:t>Sathwika Mullapudi  |  PGDM – Finance and Data Analytics  |  Badruka School of Management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ice Mill Analytics">
  <a:themeElements>
    <a:clrScheme name="Rice Mill Analytics">
      <a:dk1>
        <a:srgbClr val="1B2B24"/>
      </a:dk1>
      <a:lt1>
        <a:srgbClr val="FFFFFF"/>
      </a:lt1>
      <a:dk2>
        <a:srgbClr val="1F4D3A"/>
      </a:dk2>
      <a:lt2>
        <a:srgbClr val="EAF1E8"/>
      </a:lt2>
      <a:accent1>
        <a:srgbClr val="2E7D5B"/>
      </a:accent1>
      <a:accent2>
        <a:srgbClr val="E9B949"/>
      </a:accent2>
      <a:accent3>
        <a:srgbClr val="3B8EA5"/>
      </a:accent3>
      <a:accent4>
        <a:srgbClr val="C8553D"/>
      </a:accent4>
      <a:accent5>
        <a:srgbClr val="5B6B61"/>
      </a:accent5>
      <a:accent6>
        <a:srgbClr val="8DB580"/>
      </a:accent6>
      <a:hlink>
        <a:srgbClr val="2E7D5B"/>
      </a:hlink>
      <a:folHlink>
        <a:srgbClr val="5B6B61"/>
      </a:folHlink>
    </a:clrScheme>
    <a:fontScheme name="Rice Mill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Telangana Rice Mill Transaction Analytics</dc:title>
  <dc:subject>Big Data Analytics Project</dc:subject>
  <dc:creator>Sathwika Mullapudi</dc:creator>
  <cp:lastModifiedBy>Sathwika Mullapudi</cp:lastModifiedBy>
  <cp:revision>1</cp:revision>
  <dcterms:created xsi:type="dcterms:W3CDTF">2026-10-29T07:59:07Z</dcterms:created>
  <dcterms:modified xsi:type="dcterms:W3CDTF">2026-10-29T07:59:07Z</dcterms:modified>
</cp:coreProperties>
</file>